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FJr9mcreecqTNmKGK7DPDQsAYvncBScR31-zYmk_oR1-JQfKAlWsw_9Go5T-V1Snpk0iqrOnSZUwdNn84Eio7OZiv6ZvcGxHwrdZBZyMRabL_z0uYYSwKHK90ff58VYI81Hdo=" TargetMode="External"/><Relationship Id="rId3" Type="http://schemas.openxmlformats.org/officeDocument/2006/relationships/hyperlink" Target="https://vertexaisearch.cloud.google.com/grounding-api-redirect/AUZIYQFictdiRRweFqWehrynAjLrs2aGPXRmp_c2K58255LfFsVHcmJnlCiNZffTsSoh26Q_f9WaSiY87QvSSdP779wYPKnT34MtbCJ0tmbTmfnt6sNER0Z_Vnsje7q22uWoNtThqfzP-JVH1Pk=" TargetMode="External"/><Relationship Id="rId4" Type="http://schemas.openxmlformats.org/officeDocument/2006/relationships/hyperlink" Target="https://vertexaisearch.cloud.google.com/grounding-api-redirect/AUZIYQGSm9PrBkyax_riX50jWsVF-IxgLcFgxt80e7fQuNbnMqaYzPolElovI4DVGlTpFSSUM6Wp8MGUNz702ismUhbnBGW45uO70eJSu9h5fxfT3SJVy3lu-dtW_7vTeEXRBhCfbRCMckEyqmMiRcyogrcS" TargetMode="External"/><Relationship Id="rId5" Type="http://schemas.openxmlformats.org/officeDocument/2006/relationships/hyperlink" Target="https://vertexaisearch.google.com/grounding-api-redirect/AUZIYQG75AWs49IMzybiUt5EEWTxVkOjN5TMy1PCBunzM_wa02URyrdxIkv0KWv5JcFh2sdDsQe8jUzX8JS5r7BeDycgmp92saT9TioeWtE_w7t_kc32GhxwjAaZXY5E5M3jD-oRU9nCLE6p7-Itjbnz2jEVyABDJLPZcDbvWliJRxmiCa3uuOrWRmGamfnb3JJHPSC3ULXc5Ha5MQ==" TargetMode="External"/><Relationship Id="rId6" Type="http://schemas.openxmlformats.org/officeDocument/2006/relationships/hyperlink" Target="https://vertexaisearch.cloud.google.com/grounding-api-redirect/AUZIYQExgfemLeZVLlCHpY-mxWP8UDLWnmLUASae8jVV6NoZgXA6IlfmwmN7EMze2cGPZEfPrDVbv-v1f2gLOEW3Qyz9A8m_OjwZwfQdTnKHiw_AdxlgwNLnhxK8xTvLqF3G-DF7HOiA7XbPO8Y=" TargetMode="External"/><Relationship Id="rId7" Type="http://schemas.openxmlformats.org/officeDocument/2006/relationships/hyperlink" Target="https://vertexaisearch.cloud.google.com/grounding-api-redirect/AUZIYQEhrf6BMtRPxFcBf1zHjze9aHY9pde9SsDZeek5YinEsmVijjNLr_G2C7Xq8zZNEQ-PfGDcIHrbkysN4kxrUGcV3__KMlqG5sIrwBiPJvu1UfHDPY4SBaspnDH85toXskDLOHnbd8nn1g==" TargetMode="External"/><Relationship Id="rId8" Type="http://schemas.openxmlformats.org/officeDocument/2006/relationships/hyperlink" Target="https://vertexaisearch.cloud.google.com/grounding-api-redirect/AUZIYQEPm_8HiI2e2yBTRd1VBDt0hvBE_07ZjyVLmWAXQ1tN-dF3ZWxgSZ6RVRaoQrK6wZQOHitiuDKpeHULAdzE9VXdAziFG-EOWa4QHdv6o4piJ51wtnn-QYUzKQE7CdximOU5FPR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いかりスーパー既存店舗の周辺環境において、2026年7月17日（調査日）以降に以下の競合動向が新たに確認・更新されました。</a:t>
            </a:r>
          </a:p>
          <a:p>
            <a:pPr>
              <a:spcAft>
                <a:spcPts val="1600"/>
              </a:spcAft>
              <a:defRPr sz="1800">
                <a:solidFill>
                  <a:srgbClr val="1E1E1E"/>
                </a:solidFill>
              </a:defRPr>
            </a:pPr>
            <a:r>
              <a:t>・   **阪急オアシス**は、大阪府豊中市の服部西店を2026年7月17日に低価格業態の「阪急オアシスデイリーマート服部西店」としてリニューアルオープンし、いかり豊中店に影響を与える可能性があります。</a:t>
            </a:r>
          </a:p>
          <a:p>
            <a:pPr>
              <a:spcAft>
                <a:spcPts val="1600"/>
              </a:spcAft>
              <a:defRPr sz="1800">
                <a:solidFill>
                  <a:srgbClr val="1E1E1E"/>
                </a:solidFill>
              </a:defRPr>
            </a:pPr>
            <a:r>
              <a:t>・   **オーケー**は、大阪府高槻市に「高槻赤大路店」を2026年8月下旬から9月にかけて新規出店予定であり、いかり高槻店に影響を与える可能性があります。</a:t>
            </a:r>
          </a:p>
          <a:p>
            <a:pPr>
              <a:spcAft>
                <a:spcPts val="1600"/>
              </a:spcAft>
              <a:defRPr sz="1800">
                <a:solidFill>
                  <a:srgbClr val="1E1E1E"/>
                </a:solidFill>
              </a:defRPr>
            </a:pPr>
            <a:r>
              <a:t>・   **ヤマダストアー**は、大阪市北区の大丸梅田店地下2階に「大阪梅田店」を2026年12月中に新規出店予定であり、いかりJR大阪店に影響を与える可能性があります。</a:t>
            </a:r>
          </a:p>
          <a:p>
            <a:pPr>
              <a:spcAft>
                <a:spcPts val="1600"/>
              </a:spcAft>
              <a:defRPr sz="1800">
                <a:solidFill>
                  <a:srgbClr val="1E1E1E"/>
                </a:solidFill>
              </a:defRPr>
            </a:pPr>
            <a:r>
              <a:t>・   **ヤマダストアー**は、兵庫県宝塚市に「宝塚店」を2027年春に新規出店予定であり、いかり宝塚店、いかり阪急逆瀬川店に影響を与える可能性があります。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950976">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950976">
                <a:tc>
                  <a:txBody>
                    <a:bodyPr/>
                    <a:lstStyle/>
                    <a:p>
                      <a:pPr>
                        <a:defRPr sz="950">
                          <a:solidFill>
                            <a:srgbClr val="1E1E1E"/>
                          </a:solidFill>
                        </a:defRPr>
                      </a:pPr>
                      <a:r>
                        <a:t>大阪府豊中市</a:t>
                      </a:r>
                    </a:p>
                  </a:txBody>
                  <a:tcPr>
                    <a:solidFill>
                      <a:srgbClr val="F5F5F5"/>
                    </a:solidFill>
                  </a:tcPr>
                </a:tc>
                <a:tc>
                  <a:txBody>
                    <a:bodyPr/>
                    <a:lstStyle/>
                    <a:p>
                      <a:pPr>
                        <a:defRPr sz="950">
                          <a:solidFill>
                            <a:srgbClr val="1E1E1E"/>
                          </a:solidFill>
                        </a:defRPr>
                      </a:pPr>
                      <a:r>
                        <a:t>阪急オアシスデイリーマート服部西店</a:t>
                      </a:r>
                    </a:p>
                  </a:txBody>
                  <a:tcPr>
                    <a:solidFill>
                      <a:srgbClr val="F5F5F5"/>
                    </a:solidFill>
                  </a:tcPr>
                </a:tc>
                <a:tc>
                  <a:txBody>
                    <a:bodyPr/>
                    <a:lstStyle/>
                    <a:p>
                      <a:pPr>
                        <a:defRPr sz="950">
                          <a:solidFill>
                            <a:srgbClr val="1E1E1E"/>
                          </a:solidFill>
                        </a:defRPr>
                      </a:pPr>
                      <a:r>
                        <a:t>2026年7月17日</a:t>
                      </a:r>
                    </a:p>
                  </a:txBody>
                  <a:tcPr>
                    <a:solidFill>
                      <a:srgbClr val="F5F5F5"/>
                    </a:solidFill>
                  </a:tcPr>
                </a:tc>
                <a:tc>
                  <a:txBody>
                    <a:bodyPr/>
                    <a:lstStyle/>
                    <a:p>
                      <a:pPr>
                        <a:defRPr sz="950">
                          <a:solidFill>
                            <a:srgbClr val="1E1E1E"/>
                          </a:solidFill>
                        </a:defRPr>
                      </a:pPr>
                      <a:r>
                        <a:t>リニューアルオープン (低価格業態へ転換)</a:t>
                      </a:r>
                    </a:p>
                  </a:txBody>
                  <a:tcPr>
                    <a:solidFill>
                      <a:srgbClr val="F5F5F5"/>
                    </a:solidFill>
                  </a:tcPr>
                </a:tc>
                <a:tc>
                  <a:txBody>
                    <a:bodyPr/>
                    <a:lstStyle/>
                    <a:p>
                      <a:pPr>
                        <a:defRPr sz="950">
                          <a:solidFill>
                            <a:srgbClr val="1E1E1E"/>
                          </a:solidFill>
                        </a:defRPr>
                      </a:pPr>
                      <a:r>
                        <a:t>いかり豊中店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大阪府豊中市服部豊町2-15-7に位置する阪急オアシス服部西店が、2026年7月17日に低価格業態の「阪急オアシスデイリーマート服部西店」としてリニューアルオープンしました。いかり豊中店（大阪府豊中市旭丘1番12号）から約1.5km圏内と近接しており、低価格業態への転換は、いかり豊中店の顧客層の一部、特に日常使いの価格を重視する層に影響を与える可能性があります。</a:t>
                      </a:r>
                    </a:p>
                  </a:txBody>
                  <a:tcPr>
                    <a:solidFill>
                      <a:srgbClr val="F5F5F5"/>
                    </a:solidFill>
                  </a:tcPr>
                </a:tc>
              </a:tr>
              <a:tr h="950976">
                <a:tc>
                  <a:txBody>
                    <a:bodyPr/>
                    <a:lstStyle/>
                    <a:p>
                      <a:pPr>
                        <a:defRPr sz="950">
                          <a:solidFill>
                            <a:srgbClr val="1E1E1E"/>
                          </a:solidFill>
                        </a:defRPr>
                      </a:pPr>
                      <a:r>
                        <a:t>大阪府高槻市</a:t>
                      </a:r>
                    </a:p>
                  </a:txBody>
                  <a:tcPr/>
                </a:tc>
                <a:tc>
                  <a:txBody>
                    <a:bodyPr/>
                    <a:lstStyle/>
                    <a:p>
                      <a:pPr>
                        <a:defRPr sz="950">
                          <a:solidFill>
                            <a:srgbClr val="1E1E1E"/>
                          </a:solidFill>
                        </a:defRPr>
                      </a:pPr>
                      <a:r>
                        <a:t>オーケー高槻赤大路店</a:t>
                      </a:r>
                    </a:p>
                  </a:txBody>
                  <a:tcPr/>
                </a:tc>
                <a:tc>
                  <a:txBody>
                    <a:bodyPr/>
                    <a:lstStyle/>
                    <a:p>
                      <a:pPr>
                        <a:defRPr sz="950">
                          <a:solidFill>
                            <a:srgbClr val="1E1E1E"/>
                          </a:solidFill>
                        </a:defRPr>
                      </a:pPr>
                      <a:r>
                        <a:t>2026年8月下旬～9月</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いかり高槻店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オーケーは、大阪府高槻市に「高槻赤大路店」を2026年8月下旬から9月にかけてオープンする予定です。 国道171号線沿いに位置するとされており、いかり高槻店（大阪府高槻市真上町6丁目13番11号）から2km圏内と推測されます。高品質・Everyday Low Priceを掲げるディスカウントスーパーの新規出店は、価格競争の激化を招く可能性があります。</a:t>
                      </a:r>
                    </a:p>
                  </a:txBody>
                  <a:tcPr/>
                </a:tc>
              </a:tr>
              <a:tr h="950976">
                <a:tc>
                  <a:txBody>
                    <a:bodyPr/>
                    <a:lstStyle/>
                    <a:p>
                      <a:pPr>
                        <a:defRPr sz="950">
                          <a:solidFill>
                            <a:srgbClr val="1E1E1E"/>
                          </a:solidFill>
                        </a:defRPr>
                      </a:pPr>
                      <a:r>
                        <a:t>大阪府大阪市北区</a:t>
                      </a:r>
                    </a:p>
                  </a:txBody>
                  <a:tcPr>
                    <a:solidFill>
                      <a:srgbClr val="F5F5F5"/>
                    </a:solidFill>
                  </a:tcPr>
                </a:tc>
                <a:tc>
                  <a:txBody>
                    <a:bodyPr/>
                    <a:lstStyle/>
                    <a:p>
                      <a:pPr>
                        <a:defRPr sz="950">
                          <a:solidFill>
                            <a:srgbClr val="1E1E1E"/>
                          </a:solidFill>
                        </a:defRPr>
                      </a:pPr>
                      <a:r>
                        <a:t>ヤマダストアー大阪梅田店</a:t>
                      </a:r>
                    </a:p>
                  </a:txBody>
                  <a:tcPr>
                    <a:solidFill>
                      <a:srgbClr val="F5F5F5"/>
                    </a:solidFill>
                  </a:tcPr>
                </a:tc>
                <a:tc>
                  <a:txBody>
                    <a:bodyPr/>
                    <a:lstStyle/>
                    <a:p>
                      <a:pPr>
                        <a:defRPr sz="950">
                          <a:solidFill>
                            <a:srgbClr val="1E1E1E"/>
                          </a:solidFill>
                        </a:defRPr>
                      </a:pPr>
                      <a:r>
                        <a:t>2026年12月中</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兵庫県播磨地域を中心に展開する「ヤマダストアー」が、大阪市の大丸梅田店地下2階に「大阪梅田店」として2026年12月中に新規出店を予定しています。 いかりJR大阪店（大阪府大阪市北区梅田3丁目1番1号）と同一施設内（大丸梅田店はJR大阪駅ビル隣接）での出店であり、デパ地下という共通の立地で直接的な競合となるため、影響は大きいと見られます。</a:t>
                      </a:r>
                    </a:p>
                  </a:txBody>
                  <a:tcPr>
                    <a:solidFill>
                      <a:srgbClr val="F5F5F5"/>
                    </a:solidFill>
                  </a:tcPr>
                </a:tc>
              </a:tr>
              <a:tr h="950976">
                <a:tc>
                  <a:txBody>
                    <a:bodyPr/>
                    <a:lstStyle/>
                    <a:p>
                      <a:pPr>
                        <a:defRPr sz="950">
                          <a:solidFill>
                            <a:srgbClr val="1E1E1E"/>
                          </a:solidFill>
                        </a:defRPr>
                      </a:pPr>
                      <a:r>
                        <a:t>兵庫県宝塚市</a:t>
                      </a:r>
                    </a:p>
                  </a:txBody>
                  <a:tcPr/>
                </a:tc>
                <a:tc>
                  <a:txBody>
                    <a:bodyPr/>
                    <a:lstStyle/>
                    <a:p>
                      <a:pPr>
                        <a:defRPr sz="950">
                          <a:solidFill>
                            <a:srgbClr val="1E1E1E"/>
                          </a:solidFill>
                        </a:defRPr>
                      </a:pPr>
                      <a:r>
                        <a:t>ヤマダストアー宝塚店</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ヤマダストアーは、兵庫県宝塚市に「宝塚店」を2027年春にオープンする予定です。 いかり宝塚店（兵庫県宝塚市南口1丁目17番18号）およびいかり阪急逆瀬川店（兵庫県宝塚市逆瀬川1丁目2番1号）と同一市内での出店であり、周辺地域の顧客獲得競争が激化する可能性があります。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今回リニューアルオープンした**阪急オアシスデイリーマート服部西店**は、いかり豊中店から南西に約1.5kmほどの距離に位置する大阪府豊中市服部豊町にあります。幹線道路に近く、地域住民のアクセスが良い立地です。低価格業態への転換は、広範囲からの集客を狙う可能性があります。</a:t>
            </a:r>
          </a:p>
          <a:p>
            <a:pPr>
              <a:spcAft>
                <a:spcPts val="1400"/>
              </a:spcAft>
              <a:defRPr sz="1400">
                <a:solidFill>
                  <a:srgbClr val="1E1E1E"/>
                </a:solidFill>
              </a:defRPr>
            </a:pPr>
            <a:r>
              <a:t>*   **オーケー高槻赤大路店**は、いかり高槻店から南西方向の高槻市赤大路町、国道171号線沿いに位置すると想定されます。既存のいかり高槻店は住宅街の中に立地しており、広範囲からの集客が予想されるオーケーの出店は、特に車を利用する顧客層にとって魅力的な選択肢となるでしょう。</a:t>
            </a:r>
          </a:p>
          <a:p>
            <a:pPr>
              <a:spcAft>
                <a:spcPts val="1400"/>
              </a:spcAft>
              <a:defRPr sz="1400">
                <a:solidFill>
                  <a:srgbClr val="1E1E1E"/>
                </a:solidFill>
              </a:defRPr>
            </a:pPr>
            <a:r>
              <a:t>*   **ヤマダストアー大阪梅田店**は、いかりJR大阪店と同じく梅田の中心部、JR大阪駅に直結する大丸梅田店への出店です。両店舗は非常に近い距離にあり、デパートの地下食品フロアという形態も類似しているため、顧客層が重複する可能性が高いです。</a:t>
            </a:r>
          </a:p>
          <a:p>
            <a:pPr>
              <a:spcAft>
                <a:spcPts val="1400"/>
              </a:spcAft>
              <a:defRPr sz="1400">
                <a:solidFill>
                  <a:srgbClr val="1E1E1E"/>
                </a:solidFill>
              </a:defRPr>
            </a:pPr>
            <a:r>
              <a:t>*   **ヤマダストアー宝塚店**は、いかり宝塚店およびいかり阪急逆瀬川店と同じ宝塚市内に計画されており、具体的な位置は不明ですが、既存のいかり店舗から2km圏内に位置する可能性が高いです。特にいかり宝塚店は駅前に立地しており、新たな高級スーパーの参入は直接的な競合となるでしょ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豊中店**：阪急オアシスデイリーマート服部西店が低価格業態に転換したことは、いかり豊中店にとって新たな競争圧力となります。デイリーマートは「毎日がもっとお買い得。」をコンセプトとしており、価格を重視する日常使いの顧客層が流出する可能性があります。いかりは、高品質な商品や独自のサービス、顧客体験の提供を一層強化し、差別化を図る必要があります。</a:t>
            </a:r>
          </a:p>
          <a:p>
            <a:pPr>
              <a:spcAft>
                <a:spcPts val="1200"/>
              </a:spcAft>
              <a:defRPr sz="1350">
                <a:solidFill>
                  <a:srgbClr val="1E1E1E"/>
                </a:solidFill>
              </a:defRPr>
            </a:pPr>
            <a:r>
              <a:t>*   **いかり高槻店**：オーケー高槻赤大路店の新規出店は、いかり高槻店に大きな影響を与える可能性があります。オーケーの「高品質・Everyday Low Price」戦略は、日常使いの顧客層にとって魅力が大きく、いかりが高槻店でターゲットとする客層の一部が流出する恐れがあります。いかりは、品揃えの独自性や、よりパーソナルな顧客サービスを一層強化する必要があります。</a:t>
            </a:r>
          </a:p>
          <a:p>
            <a:pPr>
              <a:spcAft>
                <a:spcPts val="1200"/>
              </a:spcAft>
              <a:defRPr sz="1350">
                <a:solidFill>
                  <a:srgbClr val="1E1E1E"/>
                </a:solidFill>
              </a:defRPr>
            </a:pPr>
            <a:r>
              <a:t>*   **いかりJR大阪店**：ヤマダストアー大阪梅田店の新規出店は、いかりJR大阪店にとって非常に強力な競合となります。ヤマダストアーは「自然食品・オーガニック製品」に強みを持つ高級スーパーであり、いかりが持つ「高品質・こだわり」のイメージと重なる部分が多いため、顧客の奪い合いが直接的に発生するでしょう。駅直結という立地の優位性を活かしつつ、品揃えのさらなる差別化や、独自のサービス展開が求められます。</a:t>
            </a:r>
          </a:p>
          <a:p>
            <a:pPr>
              <a:spcAft>
                <a:spcPts val="1200"/>
              </a:spcAft>
              <a:defRPr sz="1350">
                <a:solidFill>
                  <a:srgbClr val="1E1E1E"/>
                </a:solidFill>
              </a:defRPr>
            </a:pPr>
            <a:r>
              <a:t>*   **いかり宝塚店、いかり阪急逆瀬川店**：ヤマダストアー宝塚店の新規出店は、両店舗にとって新たな競合となり、特に高級食材やこだわりの品を求める顧客層において競合が激しくなると予想されます。いかりとしては、地域に根差した品揃えの強化や、顧客との関係構築をより一層深めることで、顧客ロイヤルティの維持に努め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【関西出店】毎日が特売のスーパー「オーケー」の特徴をご紹介｜オーケー株式会社</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関西に続々とオープン！ ディスカウント・スーパー「オーケー」 大阪府7店舗目、9月に「高槻赤大路店」を出店 ～2026年度は大阪府内に計7店舗を出店、今秋には平野区へも進出！</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【大阪に初出店】兵庫で人気のスーパー「ヤマダストアー」が梅田のデパ地下に登場 リビングWeb</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ディスカウント・スーパーマーケット「オーケー」 大阪府での展開を加速！5月に「大東新田西町店」「豊中穂積店」を連続出店 ～2026年度は大阪府内に計7店舗の出店を予定</a:t>
            </a:r>
          </a:p>
          <a:p>
            <a:pPr>
              <a:spcAft>
                <a:spcPts val="800"/>
              </a:spcAft>
            </a:pPr>
            <a:r>
              <a:rPr sz="1200">
                <a:solidFill>
                  <a:srgbClr val="1E1E1E"/>
                </a:solidFill>
              </a:rPr>
              <a:t>・ </a:t>
            </a:r>
            <a:r>
              <a:rPr sz="1200">
                <a:solidFill>
                  <a:srgbClr val="1E1E1E"/>
                </a:solidFill>
              </a:rPr>
              <a:t>  </a:t>
            </a:r>
            <a:r>
              <a:rPr sz="1200" u="sng">
                <a:solidFill>
                  <a:srgbClr val="0066CC"/>
                </a:solidFill>
                <a:hlinkClick r:id="rId7"/>
              </a:rPr>
              <a:t>阪急オアシス: HANKYU OASIS</a:t>
            </a:r>
          </a:p>
          <a:p>
            <a:pPr>
              <a:spcAft>
                <a:spcPts val="800"/>
              </a:spcAft>
            </a:pPr>
            <a:r>
              <a:rPr sz="1200">
                <a:solidFill>
                  <a:srgbClr val="1E1E1E"/>
                </a:solidFill>
              </a:rPr>
              <a:t>・ </a:t>
            </a:r>
            <a:r>
              <a:rPr sz="1200">
                <a:solidFill>
                  <a:srgbClr val="1E1E1E"/>
                </a:solidFill>
              </a:rPr>
              <a:t>  </a:t>
            </a:r>
            <a:r>
              <a:rPr sz="1200" u="sng">
                <a:solidFill>
                  <a:srgbClr val="0066CC"/>
                </a:solidFill>
                <a:hlinkClick r:id="rId8"/>
              </a:rPr>
              <a:t>関西フードマーケットnews｜阪急オアシスデイリーマート服部西店7/17改装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7_17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