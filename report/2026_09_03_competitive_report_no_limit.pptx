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vertexaisearch.cloud.google.com/grounding-api-redirect/AUZIYQGFi64HZ5ZIUTOetouhC4winkwiHo26gFnUWFnTtlrAsP7iObHcIwHsETct-Ayweudg1maRLNNlDO-QCtMMFrtu1-YuxgzCy8odKxJx6NrTWqwLIqTINr7R9YiIGwAyMNVZ_g2q9k8Fkm8" TargetMode="External"/><Relationship Id="rId3" Type="http://schemas.openxmlformats.org/officeDocument/2006/relationships/hyperlink" Target="https://vertexaisearch.cloud.google.com/grounding-api-redirect/AUZIYQH09ABPaTEnqWIzie1N17uk4SQQIgzj6v3CxCbw-HOqNYGNowxyXTxobwe5Uecjes67epXdKyvSvDA8LY7XaI0-ikeTPHJMnANnZRYQMyYuBSLMYgrZ_eaU_SxCO2RcSzvJZv5hfw"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5BAC"/>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2026年09月03日以降の関西エリアのスーパーマーケット市場において、以下の競合動向が新たに確認されました。</a:t>
            </a:r>
          </a:p>
          <a:p>
            <a:pPr>
              <a:spcAft>
                <a:spcPts val="1600"/>
              </a:spcAft>
              <a:defRPr sz="1800">
                <a:solidFill>
                  <a:srgbClr val="1E1E1E"/>
                </a:solidFill>
              </a:defRPr>
            </a:pPr>
            <a:r>
              <a:t>・   ディスカウントスーパーのオーケーが大阪市平野区に新規オープンを予定している「長吉店」の開業時期が、前回のレポートの10月下旬から11月中旬へと変更されました。</a:t>
            </a:r>
          </a:p>
          <a:p>
            <a:pPr>
              <a:spcAft>
                <a:spcPts val="1600"/>
              </a:spcAft>
              <a:defRPr sz="1800">
                <a:solidFill>
                  <a:srgbClr val="1E1E1E"/>
                </a:solidFill>
              </a:defRPr>
            </a:pPr>
            <a:r>
              <a:t>・   滋賀県彦根市に人気スーパー「ロピア」が初上陸することが判明しました。</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1645920"/>
                <a:gridCol w="914400"/>
                <a:gridCol w="914400"/>
                <a:gridCol w="1371600"/>
                <a:gridCol w="914400"/>
                <a:gridCol w="4142232"/>
              </a:tblGrid>
              <a:tr h="1584960">
                <a:tc>
                  <a:txBody>
                    <a:bodyPr/>
                    <a:lstStyle/>
                    <a:p>
                      <a:pPr algn="ctr">
                        <a:defRPr b="1" sz="1100">
                          <a:solidFill>
                            <a:srgbClr val="FFFFFF"/>
                          </a:solidFill>
                        </a:defRPr>
                      </a:pPr>
                      <a:r>
                        <a:t>エリア</a:t>
                      </a:r>
                    </a:p>
                  </a:txBody>
                  <a:tcPr>
                    <a:solidFill>
                      <a:srgbClr val="005BAC"/>
                    </a:solidFill>
                  </a:tcPr>
                </a:tc>
                <a:tc>
                  <a:txBody>
                    <a:bodyPr/>
                    <a:lstStyle/>
                    <a:p>
                      <a:pPr algn="ctr">
                        <a:defRPr b="1" sz="1100">
                          <a:solidFill>
                            <a:srgbClr val="FFFFFF"/>
                          </a:solidFill>
                        </a:defRPr>
                      </a:pPr>
                      <a:r>
                        <a:t>競合店舗名</a:t>
                      </a:r>
                    </a:p>
                  </a:txBody>
                  <a:tcPr>
                    <a:solidFill>
                      <a:srgbClr val="005BAC"/>
                    </a:solidFill>
                  </a:tcPr>
                </a:tc>
                <a:tc>
                  <a:txBody>
                    <a:bodyPr/>
                    <a:lstStyle/>
                    <a:p>
                      <a:pPr algn="ctr">
                        <a:defRPr b="1" sz="1100">
                          <a:solidFill>
                            <a:srgbClr val="FFFFFF"/>
                          </a:solidFill>
                        </a:defRPr>
                      </a:pPr>
                      <a:r>
                        <a:t>時期</a:t>
                      </a:r>
                    </a:p>
                  </a:txBody>
                  <a:tcPr>
                    <a:solidFill>
                      <a:srgbClr val="005BAC"/>
                    </a:solidFill>
                  </a:tcPr>
                </a:tc>
                <a:tc>
                  <a:txBody>
                    <a:bodyPr/>
                    <a:lstStyle/>
                    <a:p>
                      <a:pPr algn="ctr">
                        <a:defRPr b="1" sz="1100">
                          <a:solidFill>
                            <a:srgbClr val="FFFFFF"/>
                          </a:solidFill>
                        </a:defRPr>
                      </a:pPr>
                      <a:r>
                        <a:t>状態</a:t>
                      </a:r>
                    </a:p>
                  </a:txBody>
                  <a:tcPr>
                    <a:solidFill>
                      <a:srgbClr val="005BAC"/>
                    </a:solidFill>
                  </a:tcPr>
                </a:tc>
                <a:tc>
                  <a:txBody>
                    <a:bodyPr/>
                    <a:lstStyle/>
                    <a:p>
                      <a:pPr algn="ctr">
                        <a:defRPr b="1" sz="1100">
                          <a:solidFill>
                            <a:srgbClr val="FFFFFF"/>
                          </a:solidFill>
                        </a:defRPr>
                      </a:pPr>
                      <a:r>
                        <a:t>影響店舗</a:t>
                      </a:r>
                    </a:p>
                  </a:txBody>
                  <a:tcPr>
                    <a:solidFill>
                      <a:srgbClr val="005BAC"/>
                    </a:solidFill>
                  </a:tcPr>
                </a:tc>
                <a:tc>
                  <a:txBody>
                    <a:bodyPr/>
                    <a:lstStyle/>
                    <a:p>
                      <a:pPr algn="ctr">
                        <a:defRPr b="1" sz="1100">
                          <a:solidFill>
                            <a:srgbClr val="FFFFFF"/>
                          </a:solidFill>
                        </a:defRPr>
                      </a:pPr>
                      <a:r>
                        <a:t>影響レベル</a:t>
                      </a:r>
                    </a:p>
                  </a:txBody>
                  <a:tcPr>
                    <a:solidFill>
                      <a:srgbClr val="005BAC"/>
                    </a:solidFill>
                  </a:tcPr>
                </a:tc>
                <a:tc>
                  <a:txBody>
                    <a:bodyPr/>
                    <a:lstStyle/>
                    <a:p>
                      <a:pPr algn="ctr">
                        <a:defRPr b="1" sz="1100">
                          <a:solidFill>
                            <a:srgbClr val="FFFFFF"/>
                          </a:solidFill>
                        </a:defRPr>
                      </a:pPr>
                      <a:r>
                        <a:t>詳細説明</a:t>
                      </a:r>
                    </a:p>
                  </a:txBody>
                  <a:tcPr>
                    <a:solidFill>
                      <a:srgbClr val="005BAC"/>
                    </a:solidFill>
                  </a:tcPr>
                </a:tc>
              </a:tr>
              <a:tr h="1584960">
                <a:tc>
                  <a:txBody>
                    <a:bodyPr/>
                    <a:lstStyle/>
                    <a:p>
                      <a:pPr>
                        <a:defRPr sz="950">
                          <a:solidFill>
                            <a:srgbClr val="1E1E1E"/>
                          </a:solidFill>
                        </a:defRPr>
                      </a:pPr>
                      <a:r>
                        <a:t>大阪市平野区</a:t>
                      </a:r>
                    </a:p>
                  </a:txBody>
                  <a:tcPr>
                    <a:solidFill>
                      <a:srgbClr val="F5F5F5"/>
                    </a:solidFill>
                  </a:tcPr>
                </a:tc>
                <a:tc>
                  <a:txBody>
                    <a:bodyPr/>
                    <a:lstStyle/>
                    <a:p>
                      <a:pPr>
                        <a:defRPr sz="950">
                          <a:solidFill>
                            <a:srgbClr val="1E1E1E"/>
                          </a:solidFill>
                        </a:defRPr>
                      </a:pPr>
                      <a:r>
                        <a:t>オーケー長吉店</a:t>
                      </a:r>
                    </a:p>
                  </a:txBody>
                  <a:tcPr>
                    <a:solidFill>
                      <a:srgbClr val="F5F5F5"/>
                    </a:solidFill>
                  </a:tcPr>
                </a:tc>
                <a:tc>
                  <a:txBody>
                    <a:bodyPr/>
                    <a:lstStyle/>
                    <a:p>
                      <a:pPr>
                        <a:defRPr sz="950">
                          <a:solidFill>
                            <a:srgbClr val="1E1E1E"/>
                          </a:solidFill>
                        </a:defRPr>
                      </a:pPr>
                      <a:r>
                        <a:t>2026年11月中旬</a:t>
                      </a:r>
                    </a:p>
                  </a:txBody>
                  <a:tcPr>
                    <a:solidFill>
                      <a:srgbClr val="F5F5F5"/>
                    </a:solidFill>
                  </a:tcPr>
                </a:tc>
                <a:tc>
                  <a:txBody>
                    <a:bodyPr/>
                    <a:lstStyle/>
                    <a:p>
                      <a:pPr>
                        <a:defRPr sz="950">
                          <a:solidFill>
                            <a:srgbClr val="1E1E1E"/>
                          </a:solidFill>
                        </a:defRPr>
                      </a:pPr>
                      <a:r>
                        <a:t>新規オープン</a:t>
                      </a:r>
                    </a:p>
                  </a:txBody>
                  <a:tcPr>
                    <a:solidFill>
                      <a:srgbClr val="F5F5F5"/>
                    </a:solidFill>
                  </a:tcPr>
                </a:tc>
                <a:tc>
                  <a:txBody>
                    <a:bodyPr/>
                    <a:lstStyle/>
                    <a:p>
                      <a:pPr>
                        <a:defRPr sz="950">
                          <a:solidFill>
                            <a:srgbClr val="1E1E1E"/>
                          </a:solidFill>
                        </a:defRPr>
                      </a:pPr>
                      <a:r>
                        <a:t>南海なんば店</a:t>
                      </a:r>
                    </a:p>
                  </a:txBody>
                  <a:tcPr>
                    <a:solidFill>
                      <a:srgbClr val="F5F5F5"/>
                    </a:solidFill>
                  </a:tcPr>
                </a:tc>
                <a:tc>
                  <a:txBody>
                    <a:bodyPr/>
                    <a:lstStyle/>
                    <a:p>
                      <a:pPr>
                        <a:defRPr sz="950">
                          <a:solidFill>
                            <a:srgbClr val="1E1E1E"/>
                          </a:solidFill>
                        </a:defRPr>
                      </a:pPr>
                      <a:r>
                        <a:t>低〜中程度</a:t>
                      </a:r>
                    </a:p>
                  </a:txBody>
                  <a:tcPr>
                    <a:solidFill>
                      <a:srgbClr val="F5F5F5"/>
                    </a:solidFill>
                  </a:tcPr>
                </a:tc>
                <a:tc>
                  <a:txBody>
                    <a:bodyPr/>
                    <a:lstStyle/>
                    <a:p>
                      <a:pPr>
                        <a:defRPr sz="950">
                          <a:solidFill>
                            <a:srgbClr val="1E1E1E"/>
                          </a:solidFill>
                        </a:defRPr>
                      </a:pPr>
                      <a:r>
                        <a:t>ディスカウントスーパー「オーケー」が大阪市平野区に出店予定。開業時期が10月下旬から11月中旬に変更されました。 広範囲の顧客に影響を与える可能性があります。</a:t>
                      </a:r>
                    </a:p>
                  </a:txBody>
                  <a:tcPr>
                    <a:solidFill>
                      <a:srgbClr val="F5F5F5"/>
                    </a:solidFill>
                  </a:tcPr>
                </a:tc>
              </a:tr>
              <a:tr h="1584960">
                <a:tc>
                  <a:txBody>
                    <a:bodyPr/>
                    <a:lstStyle/>
                    <a:p>
                      <a:pPr>
                        <a:defRPr sz="950">
                          <a:solidFill>
                            <a:srgbClr val="1E1E1E"/>
                          </a:solidFill>
                        </a:defRPr>
                      </a:pPr>
                      <a:r>
                        <a:t>滋賀県彦根市</a:t>
                      </a:r>
                    </a:p>
                  </a:txBody>
                  <a:tcPr/>
                </a:tc>
                <a:tc>
                  <a:txBody>
                    <a:bodyPr/>
                    <a:lstStyle/>
                    <a:p>
                      <a:pPr>
                        <a:defRPr sz="950">
                          <a:solidFill>
                            <a:srgbClr val="1E1E1E"/>
                          </a:solidFill>
                        </a:defRPr>
                      </a:pPr>
                      <a:r>
                        <a:t>ロピア 彦根店</a:t>
                      </a:r>
                    </a:p>
                  </a:txBody>
                  <a:tcPr/>
                </a:tc>
                <a:tc>
                  <a:txBody>
                    <a:bodyPr/>
                    <a:lstStyle/>
                    <a:p>
                      <a:pPr>
                        <a:defRPr sz="950">
                          <a:solidFill>
                            <a:srgbClr val="1E1E1E"/>
                          </a:solidFill>
                        </a:defRPr>
                      </a:pPr>
                      <a:r>
                        <a:t>未定（発表済み）</a:t>
                      </a:r>
                    </a:p>
                  </a:txBody>
                  <a:tcPr/>
                </a:tc>
                <a:tc>
                  <a:txBody>
                    <a:bodyPr/>
                    <a:lstStyle/>
                    <a:p>
                      <a:pPr>
                        <a:defRPr sz="950">
                          <a:solidFill>
                            <a:srgbClr val="1E1E1E"/>
                          </a:solidFill>
                        </a:defRPr>
                      </a:pPr>
                      <a:r>
                        <a:t>新規オープン</a:t>
                      </a:r>
                    </a:p>
                  </a:txBody>
                  <a:tcPr/>
                </a:tc>
                <a:tc>
                  <a:txBody>
                    <a:bodyPr/>
                    <a:lstStyle/>
                    <a:p>
                      <a:pPr>
                        <a:defRPr sz="950">
                          <a:solidFill>
                            <a:srgbClr val="1E1E1E"/>
                          </a:solidFill>
                        </a:defRPr>
                      </a:pPr>
                      <a:r>
                        <a:t>特になし (関西エリアの競合環境全体)</a:t>
                      </a:r>
                    </a:p>
                  </a:txBody>
                  <a:tcPr/>
                </a:tc>
                <a:tc>
                  <a:txBody>
                    <a:bodyPr/>
                    <a:lstStyle/>
                    <a:p>
                      <a:pPr>
                        <a:defRPr sz="950">
                          <a:solidFill>
                            <a:srgbClr val="1E1E1E"/>
                          </a:solidFill>
                        </a:defRPr>
                      </a:pPr>
                      <a:r>
                        <a:t>低程度</a:t>
                      </a:r>
                    </a:p>
                  </a:txBody>
                  <a:tcPr/>
                </a:tc>
                <a:tc>
                  <a:txBody>
                    <a:bodyPr/>
                    <a:lstStyle/>
                    <a:p>
                      <a:pPr>
                        <a:defRPr sz="950">
                          <a:solidFill>
                            <a:srgbClr val="1E1E1E"/>
                          </a:solidFill>
                        </a:defRPr>
                      </a:pPr>
                      <a:r>
                        <a:t>人気スーパー「ロピア」が滋賀県に初上陸し、彦根市に新店舗をオープンする予定です。 関西エリアでの新たな競合の動向として注目されます。</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今回の調査では、既存情報の更新と新たな競合の関西エリアへの進出が確認されました。</a:t>
            </a:r>
          </a:p>
          <a:p>
            <a:pPr>
              <a:spcAft>
                <a:spcPts val="1400"/>
              </a:spcAft>
              <a:defRPr sz="1400">
                <a:solidFill>
                  <a:srgbClr val="1E1E1E"/>
                </a:solidFill>
              </a:defRPr>
            </a:pPr>
            <a:r>
              <a:t>*   **オーケー長吉店**の開業時期の変更は、いかり南海なんば店を含む広域の顧客流動への影響開始時期が若干後ろ倒しになったことを意味しますが、立地的な影響範囲は変わりません。</a:t>
            </a:r>
          </a:p>
          <a:p>
            <a:pPr>
              <a:spcAft>
                <a:spcPts val="1400"/>
              </a:spcAft>
              <a:defRPr sz="1400">
                <a:solidFill>
                  <a:srgbClr val="1E1E1E"/>
                </a:solidFill>
              </a:defRPr>
            </a:pPr>
            <a:r>
              <a:t>*   **ロピア 彦根店**の新規出店は、いかりスーパーの既存店舗網から地理的に離れているため、直接的な影響は小さいと想定されます。しかし、滋賀県という新たな関西エリアに「ロピア」という強力なディスカウントスーパーが進出することは、広域的な競合環境の変化として中長期的に注視する必要があります。特に、ロピアは「食卓にエンターテイメントを」をテーマに掲げ、精肉や鮮魚に強みを持つため、将来的な店舗展開によっては、いかりスーパーの顧客層にも間接的な影響を及ぼす可能性があり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1.  いかり南海なんば店</a:t>
            </a:r>
          </a:p>
          <a:p>
            <a:pPr>
              <a:spcAft>
                <a:spcPts val="1200"/>
              </a:spcAft>
              <a:defRPr sz="1350">
                <a:solidFill>
                  <a:srgbClr val="1E1E1E"/>
                </a:solidFill>
              </a:defRPr>
            </a:pPr>
            <a:r>
              <a:t>*   オーケー長吉店の開業時期が11月中旬にずれ込むことで、同地域でのディスカウントスーパーとの競争本格化がわずかに延期されます。この期間を活かし、さらなる差別化戦略の強化や顧客ロイヤルティ向上策を検討することが望まれます。</a:t>
            </a:r>
          </a:p>
          <a:p>
            <a:pPr>
              <a:spcAft>
                <a:spcPts val="1200"/>
              </a:spcAft>
              <a:defRPr sz="1350">
                <a:solidFill>
                  <a:srgbClr val="1E1E1E"/>
                </a:solidFill>
              </a:defRPr>
            </a:pPr>
            <a:r>
              <a:t>2.  関西全域のいかりスーパー各店</a:t>
            </a:r>
          </a:p>
          <a:p>
            <a:pPr>
              <a:spcAft>
                <a:spcPts val="1200"/>
              </a:spcAft>
              <a:defRPr sz="1350">
                <a:solidFill>
                  <a:srgbClr val="1E1E1E"/>
                </a:solidFill>
              </a:defRPr>
            </a:pPr>
            <a:r>
              <a:t>*   滋賀県彦根市へのロピアの新規進出は、現状いかりスーパーの既存店舗と直接競合するものではありません。しかし、ロピアが関西エリアでの展開を強化していく可能性を考慮し、今後の出店動向を継続的に監視する必要があります。特に、ロピアの強みである精肉や鮮魚における高品質・低価格戦略は、いかりスーパーの高級路線との差別化をより明確にする必要性を示唆してい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pPr>
            <a:r>
              <a:rPr sz="1200">
                <a:solidFill>
                  <a:srgbClr val="1E1E1E"/>
                </a:solidFill>
              </a:rPr>
              <a:t>・ </a:t>
            </a:r>
            <a:r>
              <a:rPr sz="1200">
                <a:solidFill>
                  <a:srgbClr val="1E1E1E"/>
                </a:solidFill>
              </a:rPr>
              <a:t>  </a:t>
            </a:r>
            <a:r>
              <a:rPr sz="1200" u="sng">
                <a:solidFill>
                  <a:srgbClr val="0066CC"/>
                </a:solidFill>
                <a:hlinkClick r:id="rId2"/>
              </a:rPr>
              <a:t>ディスカウント・スーパーマーケット「オーケー」 大阪府での展開を加速！5月に「大東新田西町店」「豊中穂積店」を連続出店 ～2026年度は大阪府内に計7店舗の出店を予定</a:t>
            </a:r>
          </a:p>
          <a:p>
            <a:pPr>
              <a:spcAft>
                <a:spcPts val="800"/>
              </a:spcAft>
            </a:pPr>
            <a:r>
              <a:rPr sz="1200">
                <a:solidFill>
                  <a:srgbClr val="1E1E1E"/>
                </a:solidFill>
              </a:rPr>
              <a:t>・ </a:t>
            </a:r>
            <a:r>
              <a:rPr sz="1200">
                <a:solidFill>
                  <a:srgbClr val="1E1E1E"/>
                </a:solidFill>
              </a:rPr>
              <a:t>  </a:t>
            </a:r>
            <a:r>
              <a:rPr sz="1200" u="sng">
                <a:solidFill>
                  <a:srgbClr val="0066CC"/>
                </a:solidFill>
                <a:hlinkClick r:id="rId3"/>
              </a:rPr>
              <a:t>【初上陸】人気スーパー「ロピア」が滋賀に、関西初の“ローストビーフ”も！どこにオープン？</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5BAC"/>
                </a:solidFill>
              </a:defRPr>
            </a:pPr>
            <a:r>
              <a:t>f) 【ビジュアルマップ】</a:t>
            </a:r>
          </a:p>
        </p:txBody>
      </p:sp>
      <p:pic>
        <p:nvPicPr>
          <p:cNvPr id="3" name="Picture 2" descr="2026_09_03_competitive_map_no_limit.png"/>
          <p:cNvPicPr>
            <a:picLocks noChangeAspect="1"/>
          </p:cNvPicPr>
          <p:nvPr/>
        </p:nvPicPr>
        <p:blipFill>
          <a:blip r:embed="rId2"/>
          <a:stretch>
            <a:fillRect/>
          </a:stretch>
        </p:blipFill>
        <p:spPr>
          <a:xfrm>
            <a:off x="3483864" y="1188720"/>
            <a:ext cx="521208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