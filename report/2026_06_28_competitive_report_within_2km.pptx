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Hj93cSz3uw6S3wwiTnlVNEVSOpYgAwV76SySV-aGoHb55JBt98XX4a89uw_SmlhB-bJt2Z1sMyyzdHcogsWWH-4zVzejpwdljIuvf34Nj5tBdZ0Pn4fxsnFU320FuuUwa6CGpU" TargetMode="External"/><Relationship Id="rId3" Type="http://schemas.openxmlformats.org/officeDocument/2006/relationships/hyperlink" Target="https://vertexaisearch.cloud.google.com/grounding-api-redirect/AUZIYQFIks1YHdYdZBtfuRWuW4QwgzKUWBOeJ-IXI4o0xE-Mt1poTLxO97M6IZ3MV2D9z-txr0DMgpsQH4jpSc_i6ttM6jjiFjUZ_z0kcQN1gthJK5fs_Wg6haAFCYWD8iRO5tVKjxeYZMkyPioB535__FnmdpyjaLF8nPSFlEL7Tv7yV1D70MtZ0jCbXKqqQ2lxd4pjLYVJVjQHFw==" TargetMode="External"/><Relationship Id="rId4" Type="http://schemas.openxmlformats.org/officeDocument/2006/relationships/hyperlink" Target="https://vertexaisearch.cloud.google.com/grounding-api-redirect/AUZIYQGNvQ-iT6D7fDLNYVr6j_-etj0YbP4KZhgPBheTPKUDUr8mwCICYEmdGRXizCEBS3IRrmzwPcEV9oDF8tNB_M_JDxUXf4ZZzQxyGZAYl0RbricwyeB1i7cMxlsHfCfZI6Hye34Z4Gbs9tcROnr-T4sy" TargetMode="External"/><Relationship Id="rId5" Type="http://schemas.openxmlformats.org/officeDocument/2006/relationships/hyperlink" Target="https://vertexaisearch.cloud.google.com/grounding-api-redirect/AUZIYQEnSMcyVbRBfabuihKTKQkTDq7OutBzUn3wWW9i7z1hWnu0U-vEhkRvjlNdqh9--F1fWM24dG2WQnsUbMw6T4Flw4hFCVS_yK-P-k6w48923-8C2qyLbTwahWbkuL6kWfi" TargetMode="External"/><Relationship Id="rId6" Type="http://schemas.openxmlformats.org/officeDocument/2006/relationships/hyperlink" Target="https://vertexaisearch.cloud.google.com/grounding-api-redirect/AUZIYQGLXCU5kcOLi4Ch-HvCz_PFBdFNXnqVCRDcubjEg2jrsASPiU-WRWvZTF_d-hCDiuu3B8fDSQg3ue0mJdFyr9M0rxftmXA8EmUxDgbeMO0xoffTny-bhmWHE8FtDvrHlIvVej6BmLsoUMGrvsyI" TargetMode="External"/><Relationship Id="rId7" Type="http://schemas.openxmlformats.org/officeDocument/2006/relationships/hyperlink" Target="https://vertexaisearch.cloud.google.com/grounding-api-redirect/AUZIYQE-rr9FL6YxSnfqc8zebSl1OUnBoQtjNqpC5qICGDC7TMhFWsmLBe7q9OL_LxOeiBnGYi00QZ3ABpVlOucSz_I-CYAjSxWtOOllmduGVf_NLLIAsnGk5sutlTzzUQw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5BAC"/>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いかりスーパー既存店舗の周辺環境において、2026年6月28日（調査日）以降に以下の4点の競合動向が新たに確認されました。</a:t>
            </a:r>
          </a:p>
          <a:p>
            <a:pPr>
              <a:spcAft>
                <a:spcPts val="1600"/>
              </a:spcAft>
              <a:defRPr sz="1800">
                <a:solidFill>
                  <a:srgbClr val="1E1E1E"/>
                </a:solidFill>
              </a:defRPr>
            </a:pPr>
            <a:r>
              <a:t>・   大阪府高槻市にディスカウントスーパー「オーケー高槻赤大路店」が2026年8月下旬にオープン予定であり、いかり高槻店に中程度の影響を与える可能性があります。</a:t>
            </a:r>
          </a:p>
          <a:p>
            <a:pPr>
              <a:spcAft>
                <a:spcPts val="1600"/>
              </a:spcAft>
              <a:defRPr sz="1800">
                <a:solidFill>
                  <a:srgbClr val="1E1E1E"/>
                </a:solidFill>
              </a:defRPr>
            </a:pPr>
            <a:r>
              <a:t>・   大阪府大阪市北区梅田に高品質・自然食品を扱う「ヤマダストアー大阪梅田店」が大丸梅田店地下2階に2026年冬にオープン予定であり、いかりJR大阪店に直接的かつ高い影響を与えることが予想されます。</a:t>
            </a:r>
          </a:p>
          <a:p>
            <a:pPr>
              <a:spcAft>
                <a:spcPts val="1600"/>
              </a:spcAft>
              <a:defRPr sz="1800">
                <a:solidFill>
                  <a:srgbClr val="1E1E1E"/>
                </a:solidFill>
              </a:defRPr>
            </a:pPr>
            <a:r>
              <a:t>・   兵庫県宝塚市に「ヤマダストアー宝塚店」が2027年春にオープン予定であり、いかり宝塚店および阪急逆瀬川店に高い影響を与える可能性があります。</a:t>
            </a:r>
          </a:p>
          <a:p>
            <a:pPr>
              <a:spcAft>
                <a:spcPts val="1600"/>
              </a:spcAft>
              <a:defRPr sz="1800">
                <a:solidFill>
                  <a:srgbClr val="1E1E1E"/>
                </a:solidFill>
              </a:defRPr>
            </a:pPr>
            <a:r>
              <a:t>・   兵庫県神戸市灘区の「関西スーパー西郷店」が2026年7月3日に価格訴求型の「デイリーマート」業態へリニューアルオープン予定であり、店内に「バーガーキング®」も同時オープンすることから、いかり六甲店に中程度の影響を与える可能性が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950976">
                <a:tc>
                  <a:txBody>
                    <a:bodyPr/>
                    <a:lstStyle/>
                    <a:p>
                      <a:pPr algn="ctr">
                        <a:defRPr b="1" sz="1100">
                          <a:solidFill>
                            <a:srgbClr val="FFFFFF"/>
                          </a:solidFill>
                        </a:defRPr>
                      </a:pPr>
                      <a:r>
                        <a:t>エリア</a:t>
                      </a:r>
                    </a:p>
                  </a:txBody>
                  <a:tcPr>
                    <a:solidFill>
                      <a:srgbClr val="005BAC"/>
                    </a:solidFill>
                  </a:tcPr>
                </a:tc>
                <a:tc>
                  <a:txBody>
                    <a:bodyPr/>
                    <a:lstStyle/>
                    <a:p>
                      <a:pPr algn="ctr">
                        <a:defRPr b="1" sz="1100">
                          <a:solidFill>
                            <a:srgbClr val="FFFFFF"/>
                          </a:solidFill>
                        </a:defRPr>
                      </a:pPr>
                      <a:r>
                        <a:t>競合店舗名</a:t>
                      </a:r>
                    </a:p>
                  </a:txBody>
                  <a:tcPr>
                    <a:solidFill>
                      <a:srgbClr val="005BAC"/>
                    </a:solidFill>
                  </a:tcPr>
                </a:tc>
                <a:tc>
                  <a:txBody>
                    <a:bodyPr/>
                    <a:lstStyle/>
                    <a:p>
                      <a:pPr algn="ctr">
                        <a:defRPr b="1" sz="1100">
                          <a:solidFill>
                            <a:srgbClr val="FFFFFF"/>
                          </a:solidFill>
                        </a:defRPr>
                      </a:pPr>
                      <a:r>
                        <a:t>時期</a:t>
                      </a:r>
                    </a:p>
                  </a:txBody>
                  <a:tcPr>
                    <a:solidFill>
                      <a:srgbClr val="005BAC"/>
                    </a:solidFill>
                  </a:tcPr>
                </a:tc>
                <a:tc>
                  <a:txBody>
                    <a:bodyPr/>
                    <a:lstStyle/>
                    <a:p>
                      <a:pPr algn="ctr">
                        <a:defRPr b="1" sz="1100">
                          <a:solidFill>
                            <a:srgbClr val="FFFFFF"/>
                          </a:solidFill>
                        </a:defRPr>
                      </a:pPr>
                      <a:r>
                        <a:t>状態</a:t>
                      </a:r>
                    </a:p>
                  </a:txBody>
                  <a:tcPr>
                    <a:solidFill>
                      <a:srgbClr val="005BAC"/>
                    </a:solidFill>
                  </a:tcPr>
                </a:tc>
                <a:tc>
                  <a:txBody>
                    <a:bodyPr/>
                    <a:lstStyle/>
                    <a:p>
                      <a:pPr algn="ctr">
                        <a:defRPr b="1" sz="1100">
                          <a:solidFill>
                            <a:srgbClr val="FFFFFF"/>
                          </a:solidFill>
                        </a:defRPr>
                      </a:pPr>
                      <a:r>
                        <a:t>影響店舗</a:t>
                      </a:r>
                    </a:p>
                  </a:txBody>
                  <a:tcPr>
                    <a:solidFill>
                      <a:srgbClr val="005BAC"/>
                    </a:solidFill>
                  </a:tcPr>
                </a:tc>
                <a:tc>
                  <a:txBody>
                    <a:bodyPr/>
                    <a:lstStyle/>
                    <a:p>
                      <a:pPr algn="ctr">
                        <a:defRPr b="1" sz="1100">
                          <a:solidFill>
                            <a:srgbClr val="FFFFFF"/>
                          </a:solidFill>
                        </a:defRPr>
                      </a:pPr>
                      <a:r>
                        <a:t>影響レベル</a:t>
                      </a:r>
                    </a:p>
                  </a:txBody>
                  <a:tcPr>
                    <a:solidFill>
                      <a:srgbClr val="005BAC"/>
                    </a:solidFill>
                  </a:tcPr>
                </a:tc>
                <a:tc>
                  <a:txBody>
                    <a:bodyPr/>
                    <a:lstStyle/>
                    <a:p>
                      <a:pPr algn="ctr">
                        <a:defRPr b="1" sz="1100">
                          <a:solidFill>
                            <a:srgbClr val="FFFFFF"/>
                          </a:solidFill>
                        </a:defRPr>
                      </a:pPr>
                      <a:r>
                        <a:t>詳細説明</a:t>
                      </a:r>
                    </a:p>
                  </a:txBody>
                  <a:tcPr>
                    <a:solidFill>
                      <a:srgbClr val="005BAC"/>
                    </a:solidFill>
                  </a:tcPr>
                </a:tc>
              </a:tr>
              <a:tr h="950976">
                <a:tc>
                  <a:txBody>
                    <a:bodyPr/>
                    <a:lstStyle/>
                    <a:p>
                      <a:pPr>
                        <a:defRPr sz="950">
                          <a:solidFill>
                            <a:srgbClr val="1E1E1E"/>
                          </a:solidFill>
                        </a:defRPr>
                      </a:pPr>
                      <a:r>
                        <a:t>大阪府高槻市</a:t>
                      </a:r>
                    </a:p>
                  </a:txBody>
                  <a:tcPr>
                    <a:solidFill>
                      <a:srgbClr val="F5F5F5"/>
                    </a:solidFill>
                  </a:tcPr>
                </a:tc>
                <a:tc>
                  <a:txBody>
                    <a:bodyPr/>
                    <a:lstStyle/>
                    <a:p>
                      <a:pPr>
                        <a:defRPr sz="950">
                          <a:solidFill>
                            <a:srgbClr val="1E1E1E"/>
                          </a:solidFill>
                        </a:defRPr>
                      </a:pPr>
                      <a:r>
                        <a:t>オーケー高槻赤大路店</a:t>
                      </a:r>
                    </a:p>
                  </a:txBody>
                  <a:tcPr>
                    <a:solidFill>
                      <a:srgbClr val="F5F5F5"/>
                    </a:solidFill>
                  </a:tcPr>
                </a:tc>
                <a:tc>
                  <a:txBody>
                    <a:bodyPr/>
                    <a:lstStyle/>
                    <a:p>
                      <a:pPr>
                        <a:defRPr sz="950">
                          <a:solidFill>
                            <a:srgbClr val="1E1E1E"/>
                          </a:solidFill>
                        </a:defRPr>
                      </a:pPr>
                      <a:r>
                        <a:t>2026年8月下旬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いかり高槻店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ディスカウントスーパー「オーケー」が大阪府高槻市赤大路に出店を予定しており、8月下旬にオープンする見込みです。いかり高槻店から約1.4km圏内に位置し、価格競争の激化が懸念されます。</a:t>
                      </a:r>
                    </a:p>
                  </a:txBody>
                  <a:tcPr>
                    <a:solidFill>
                      <a:srgbClr val="F5F5F5"/>
                    </a:solidFill>
                  </a:tcPr>
                </a:tc>
              </a:tr>
              <a:tr h="950976">
                <a:tc>
                  <a:txBody>
                    <a:bodyPr/>
                    <a:lstStyle/>
                    <a:p>
                      <a:pPr>
                        <a:defRPr sz="950">
                          <a:solidFill>
                            <a:srgbClr val="1E1E1E"/>
                          </a:solidFill>
                        </a:defRPr>
                      </a:pPr>
                      <a:r>
                        <a:t>大阪府大阪市北区</a:t>
                      </a:r>
                    </a:p>
                  </a:txBody>
                  <a:tcPr/>
                </a:tc>
                <a:tc>
                  <a:txBody>
                    <a:bodyPr/>
                    <a:lstStyle/>
                    <a:p>
                      <a:pPr>
                        <a:defRPr sz="950">
                          <a:solidFill>
                            <a:srgbClr val="1E1E1E"/>
                          </a:solidFill>
                        </a:defRPr>
                      </a:pPr>
                      <a:r>
                        <a:t>ヤマダストアー大阪梅田店</a:t>
                      </a:r>
                    </a:p>
                  </a:txBody>
                  <a:tcPr/>
                </a:tc>
                <a:tc>
                  <a:txBody>
                    <a:bodyPr/>
                    <a:lstStyle/>
                    <a:p>
                      <a:pPr>
                        <a:defRPr sz="950">
                          <a:solidFill>
                            <a:srgbClr val="1E1E1E"/>
                          </a:solidFill>
                        </a:defRPr>
                      </a:pPr>
                      <a:r>
                        <a:t>2026年冬</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いかりJR大阪店</a:t>
                      </a:r>
                    </a:p>
                  </a:txBody>
                  <a:tcPr/>
                </a:tc>
                <a:tc>
                  <a:txBody>
                    <a:bodyPr/>
                    <a:lstStyle/>
                    <a:p>
                      <a:pPr>
                        <a:defRPr sz="950">
                          <a:solidFill>
                            <a:srgbClr val="1E1E1E"/>
                          </a:solidFill>
                        </a:defRPr>
                      </a:pPr>
                      <a:r>
                        <a:t>高</a:t>
                      </a:r>
                    </a:p>
                  </a:txBody>
                  <a:tcPr/>
                </a:tc>
                <a:tc>
                  <a:txBody>
                    <a:bodyPr/>
                    <a:lstStyle/>
                    <a:p>
                      <a:pPr>
                        <a:defRPr sz="950">
                          <a:solidFill>
                            <a:srgbClr val="1E1E1E"/>
                          </a:solidFill>
                        </a:defRPr>
                      </a:pPr>
                      <a:r>
                        <a:t>兵庫県発の高品質・自然食品スーパー「ヤマダストアー」が、大丸梅田店の地下2階にオープンする予定です。いかりJR大阪店とほぼ隣接する立地であり、同様の顧客層をターゲットとするため、直接的な競合となるでしょう。</a:t>
                      </a:r>
                    </a:p>
                  </a:txBody>
                  <a:tcPr/>
                </a:tc>
              </a:tr>
              <a:tr h="950976">
                <a:tc>
                  <a:txBody>
                    <a:bodyPr/>
                    <a:lstStyle/>
                    <a:p>
                      <a:pPr>
                        <a:defRPr sz="950">
                          <a:solidFill>
                            <a:srgbClr val="1E1E1E"/>
                          </a:solidFill>
                        </a:defRPr>
                      </a:pPr>
                      <a:r>
                        <a:t>兵庫県宝塚市</a:t>
                      </a:r>
                    </a:p>
                  </a:txBody>
                  <a:tcPr>
                    <a:solidFill>
                      <a:srgbClr val="F5F5F5"/>
                    </a:solidFill>
                  </a:tcPr>
                </a:tc>
                <a:tc>
                  <a:txBody>
                    <a:bodyPr/>
                    <a:lstStyle/>
                    <a:p>
                      <a:pPr>
                        <a:defRPr sz="950">
                          <a:solidFill>
                            <a:srgbClr val="1E1E1E"/>
                          </a:solidFill>
                        </a:defRPr>
                      </a:pPr>
                      <a:r>
                        <a:t>ヤマダストアー宝塚店</a:t>
                      </a:r>
                    </a:p>
                  </a:txBody>
                  <a:tcPr>
                    <a:solidFill>
                      <a:srgbClr val="F5F5F5"/>
                    </a:solidFill>
                  </a:tcPr>
                </a:tc>
                <a:tc>
                  <a:txBody>
                    <a:bodyPr/>
                    <a:lstStyle/>
                    <a:p>
                      <a:pPr>
                        <a:defRPr sz="950">
                          <a:solidFill>
                            <a:srgbClr val="1E1E1E"/>
                          </a:solidFill>
                        </a:defRPr>
                      </a:pPr>
                      <a:r>
                        <a:t>2027年春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いかり宝塚店、いかり阪急逆瀬川店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ヤマダストアー」が兵庫県宝塚市に1.1ha超の敷地で商業店舗を計画しており、2027年春のオープンを目指しています。いかり宝塚店および阪急逆瀬川店から約1km圏内に位置するとみられ、高品質スーパーとしての顧客層の競合が予想されます。</a:t>
                      </a:r>
                    </a:p>
                  </a:txBody>
                  <a:tcPr>
                    <a:solidFill>
                      <a:srgbClr val="F5F5F5"/>
                    </a:solidFill>
                  </a:tcPr>
                </a:tc>
              </a:tr>
              <a:tr h="950976">
                <a:tc>
                  <a:txBody>
                    <a:bodyPr/>
                    <a:lstStyle/>
                    <a:p>
                      <a:pPr>
                        <a:defRPr sz="950">
                          <a:solidFill>
                            <a:srgbClr val="1E1E1E"/>
                          </a:solidFill>
                        </a:defRPr>
                      </a:pPr>
                      <a:r>
                        <a:t>兵庫県神戸市灘区</a:t>
                      </a:r>
                    </a:p>
                  </a:txBody>
                  <a:tcPr/>
                </a:tc>
                <a:tc>
                  <a:txBody>
                    <a:bodyPr/>
                    <a:lstStyle/>
                    <a:p>
                      <a:pPr>
                        <a:defRPr sz="950">
                          <a:solidFill>
                            <a:srgbClr val="1E1E1E"/>
                          </a:solidFill>
                        </a:defRPr>
                      </a:pPr>
                      <a:r>
                        <a:t>関西スーパー西郷店 (デイリーマート)</a:t>
                      </a:r>
                    </a:p>
                  </a:txBody>
                  <a:tcPr/>
                </a:tc>
                <a:tc>
                  <a:txBody>
                    <a:bodyPr/>
                    <a:lstStyle/>
                    <a:p>
                      <a:pPr>
                        <a:defRPr sz="950">
                          <a:solidFill>
                            <a:srgbClr val="1E1E1E"/>
                          </a:solidFill>
                        </a:defRPr>
                      </a:pPr>
                      <a:r>
                        <a:t>2026年7月3日</a:t>
                      </a:r>
                    </a:p>
                  </a:txBody>
                  <a:tcPr/>
                </a:tc>
                <a:tc>
                  <a:txBody>
                    <a:bodyPr/>
                    <a:lstStyle/>
                    <a:p>
                      <a:pPr>
                        <a:defRPr sz="950">
                          <a:solidFill>
                            <a:srgbClr val="1E1E1E"/>
                          </a:solidFill>
                        </a:defRPr>
                      </a:pPr>
                      <a:r>
                        <a:t>改装オープン</a:t>
                      </a:r>
                    </a:p>
                  </a:txBody>
                  <a:tcPr/>
                </a:tc>
                <a:tc>
                  <a:txBody>
                    <a:bodyPr/>
                    <a:lstStyle/>
                    <a:p>
                      <a:pPr>
                        <a:defRPr sz="950">
                          <a:solidFill>
                            <a:srgbClr val="1E1E1E"/>
                          </a:solidFill>
                        </a:defRPr>
                      </a:pPr>
                      <a:r>
                        <a:t>いかり六甲店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関西スーパー西郷店」が「関西スーパーデイリーマート西郷店」としてリニューアルオープンします。価格訴求型の業態への転換であり、店内に「バーガーキング®」も同時オープンし、集客力強化が図られます。いかり六甲店から約600mと非常に近い立地です。</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今回の競合動向は、いかりスーパーの主要な商圏である阪神間（芦屋、神戸、西宮、宝塚）および大阪市内のターミナル駅周辺、そして北摂地域（高槻、豊中）に集中していることが確認されました。</a:t>
            </a:r>
          </a:p>
          <a:p>
            <a:pPr>
              <a:spcAft>
                <a:spcPts val="1400"/>
              </a:spcAft>
              <a:defRPr sz="1400">
                <a:solidFill>
                  <a:srgbClr val="1E1E1E"/>
                </a:solidFill>
              </a:defRPr>
            </a:pPr>
            <a:r>
              <a:t>*   **大阪梅田エリア**：ヤマダストアー大阪梅田店は、いかりJR大阪店とほぼ同一のビル内での出店となるため、非常に近接した競争が発生します。</a:t>
            </a:r>
          </a:p>
          <a:p>
            <a:pPr>
              <a:spcAft>
                <a:spcPts val="1400"/>
              </a:spcAft>
              <a:defRPr sz="1400">
                <a:solidFill>
                  <a:srgbClr val="1E1E1E"/>
                </a:solidFill>
              </a:defRPr>
            </a:pPr>
            <a:r>
              <a:t>*   **宝塚エリア**：ヤマダストアー宝塚店は、いかり宝塚店と阪急逆瀬川店の両店舗から2km圏内に出店することで、既存のいかりスーパーの顧客ベースに広範な影響を及ぼす可能性があります。</a:t>
            </a:r>
          </a:p>
          <a:p>
            <a:pPr>
              <a:spcAft>
                <a:spcPts val="1400"/>
              </a:spcAft>
              <a:defRPr sz="1400">
                <a:solidFill>
                  <a:srgbClr val="1E1E1E"/>
                </a:solidFill>
              </a:defRPr>
            </a:pPr>
            <a:r>
              <a:t>*   **神戸灘エリア**：関西スーパー西郷店のリニューアルは、いかり六甲店からわずか600m強という近距離で発生します。デイリーマート業態への変更とテナント誘致による集客強化は、周辺の購買行動に影響を与えるでしょう。</a:t>
            </a:r>
          </a:p>
          <a:p>
            <a:pPr>
              <a:spcAft>
                <a:spcPts val="1400"/>
              </a:spcAft>
              <a:defRPr sz="1400">
                <a:solidFill>
                  <a:srgbClr val="1E1E1E"/>
                </a:solidFill>
              </a:defRPr>
            </a:pPr>
            <a:r>
              <a:t>*   **高槻エリア**：オーケー高槻赤大路店は、いかり高槻店から約1.4kmの距離に位置し、価格志向の顧客層の取り込みを狙う動きとして注目されます。</a:t>
            </a:r>
            <a:br/>
            <a:r>
              <a:t>これらの動きは、いかりスーパーの既存店舗が立地するエリアにおいて、より直接的な競合環境が形成されつつあることを示しています。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**いかりJR大阪店**: ヤマダストアー大阪梅田店は、いかりJR大阪店の高品質・こだわりの商品を求める顧客層と重なる可能性が高く、直接的な顧客の奪い合いが発生するでしょう。特に、大丸梅田店という商業施設内での出店は、広範な集客力を持ち、いかりJR大阪店の売上、特にデリや生鮮品において影響が懸念されます。</a:t>
            </a:r>
          </a:p>
          <a:p>
            <a:pPr>
              <a:spcAft>
                <a:spcPts val="1200"/>
              </a:spcAft>
              <a:defRPr sz="1350">
                <a:solidFill>
                  <a:srgbClr val="1E1E1E"/>
                </a:solidFill>
              </a:defRPr>
            </a:pPr>
            <a:r>
              <a:t>*   **いかり宝塚店、いかり阪急逆瀬川店**: ヤマダストアー宝塚店の新規出店は、両店舗にとって、地域における高品質スーパーの選択肢を増やすことになります。いかりスーパーが培ってきた地域顧客との関係性や品揃えの優位性をさらに強化する必要があるでしょう。</a:t>
            </a:r>
          </a:p>
          <a:p>
            <a:pPr>
              <a:spcAft>
                <a:spcPts val="1200"/>
              </a:spcAft>
              <a:defRPr sz="1350">
                <a:solidFill>
                  <a:srgbClr val="1E1E1E"/>
                </a:solidFill>
              </a:defRPr>
            </a:pPr>
            <a:r>
              <a:t>*   **いかり六甲店**: 関西スーパー西郷店が価格訴求型の「デイリーマート」にリニューアルし、バーガーキング®を併設することは、周辺住民の日常使いの選択肢に変化をもたらす可能性があります。いかり六甲店は高級志向であるため直接的な価格競争は少ないかもしれませんが、相乗効果による周辺エリア全体の集客力向上はいかりの客層の一部を吸引する可能性があります。</a:t>
            </a:r>
          </a:p>
          <a:p>
            <a:pPr>
              <a:spcAft>
                <a:spcPts val="1200"/>
              </a:spcAft>
              <a:defRPr sz="1350">
                <a:solidFill>
                  <a:srgbClr val="1E1E1E"/>
                </a:solidFill>
              </a:defRPr>
            </a:pPr>
            <a:r>
              <a:t>*   **いかり高槻店**: オーケー高槻赤大路店の出店は、いかり高槻店周辺の価格競争を激化させる要因となります。いかり高槻店は品質とサービスで差別化を図っていますが、オーケーの「Everyday Low Price」戦略は、特に節約志向の顧客にとって魅力となるため、客単価や来店頻度に影響を及ぼす可能性があります。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オーケーnews｜4月5月で関西に4店舗を出店/計11店舗体制 流通スーパーニュース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ヤマダストアー Wikipedia</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【大阪に初出店】兵庫で人気のスーパー「ヤマダストアー」が梅田のデパ地下に登場 リビングWeb</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お知らせ｜関西スーパー～いつも暮らしの近くにいます～​</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神戸・灘エリアに「バーガーキング® 関西スーパー琵琶店」さんと「バーガーキング® 神戸大学店」さんが、いよいよ2026年6月30日（火）にオープンされるみたい！ #新規オープン #新店情報 #バーガーキング #開店情報 | 東灘ジャーナル</a:t>
            </a:r>
          </a:p>
          <a:p>
            <a:pPr>
              <a:spcAft>
                <a:spcPts val="800"/>
              </a:spcAft>
            </a:pPr>
            <a:r>
              <a:rPr sz="1200">
                <a:solidFill>
                  <a:srgbClr val="1E1E1E"/>
                </a:solidFill>
              </a:rPr>
              <a:t>・ </a:t>
            </a:r>
            <a:r>
              <a:rPr sz="1200">
                <a:solidFill>
                  <a:srgbClr val="1E1E1E"/>
                </a:solidFill>
              </a:rPr>
              <a:t>  </a:t>
            </a:r>
            <a:r>
              <a:rPr sz="1200" u="sng">
                <a:solidFill>
                  <a:srgbClr val="0066CC"/>
                </a:solidFill>
                <a:hlinkClick r:id="rId7"/>
              </a:rPr>
              <a:t>宝塚市の敷地１・１㌶超に商業店舗を計画／２６年２月に着工／ヤマダストアー | 建設ニュース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f) 【ビジュアルマップ】</a:t>
            </a:r>
          </a:p>
        </p:txBody>
      </p:sp>
      <p:pic>
        <p:nvPicPr>
          <p:cNvPr id="3" name="Picture 2" descr="2026_06_28_competitive_map_within_2km.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