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阪急オアシスが豊中駅前店を「阪急OASISマルシェ豊中駅前店」として2026年6月26日にリニューアルオープンし、いかりスーパーの北摂エリア店舗への競争圧力が変化する可能性がある。</a:t>
            </a:r>
          </a:p>
          <a:p>
            <a:pPr>
              <a:spcAft>
                <a:spcPts val="1600"/>
              </a:spcAft>
              <a:defRPr sz="1800">
                <a:solidFill>
                  <a:srgbClr val="1E1E1E"/>
                </a:solidFill>
              </a:defRPr>
            </a:pPr>
            <a:r>
              <a:t>・   オーケーは大阪府内で新規出店を加速しており、2026年8月下旬に「高槻赤大路店」、同年11月中旬に「長吉店」のオープンを予定しており、いかりスーパーの大阪市内及び北摂エリアにおける競合環境がさらに激化する見込みである。</a:t>
            </a:r>
          </a:p>
          <a:p>
            <a:pPr>
              <a:spcAft>
                <a:spcPts val="1600"/>
              </a:spcAft>
              <a:defRPr sz="1800">
                <a:solidFill>
                  <a:srgbClr val="1E1E1E"/>
                </a:solidFill>
              </a:defRPr>
            </a:pPr>
            <a:r>
              <a:t>・   ヤマダストアーは、大丸梅田店に続き、2027年春に兵庫県宝塚市に「ヤマダストアー宝塚店（仮称）」を新規出店する計画が判明し、いかりスーパーの兵庫県内の店舗、特に北摂・阪神間エリアへの競争が中長期的に高まる。</a:t>
            </a:r>
          </a:p>
          <a:p>
            <a:pPr>
              <a:spcAft>
                <a:spcPts val="1600"/>
              </a:spcAft>
              <a:defRPr sz="1800">
                <a:solidFill>
                  <a:srgbClr val="1E1E1E"/>
                </a:solidFill>
              </a:defRPr>
            </a:pPr>
            <a:r>
              <a:t>・   成城石井は2026年6月18日に大阪府堺市に「イオンモール堺北花田店」を新規オープンし、いかりスーパーの高品質・高価格帯市場での競争が大阪南部エリアでも増す。</a:t>
            </a:r>
          </a:p>
          <a:p>
            <a:pPr>
              <a:spcAft>
                <a:spcPts val="1600"/>
              </a:spcAft>
              <a:defRPr sz="1800">
                <a:solidFill>
                  <a:srgbClr val="1E1E1E"/>
                </a:solidFill>
              </a:defRPr>
            </a:pPr>
            <a:r>
              <a:t>・   ロピアが2026年夏に滋賀県彦根市に「ロピア彦根店（仮称）」を新規出店することで関西エリアでの勢力拡大が続き、将来的にいかりスーパーの出店エリアにも影響を及ぼす可能性がある。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679268">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679268">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r>
              <a:tr h="679268">
                <a:tc>
                  <a:txBody>
                    <a:bodyPr/>
                    <a:lstStyle/>
                    <a:p>
                      <a:pPr>
                        <a:defRPr sz="950">
                          <a:solidFill>
                            <a:srgbClr val="1E1E1E"/>
                          </a:solidFill>
                        </a:defRPr>
                      </a:pPr>
                      <a:r>
                        <a:t>大阪府豊中市</a:t>
                      </a:r>
                    </a:p>
                  </a:txBody>
                  <a:tcPr/>
                </a:tc>
                <a:tc>
                  <a:txBody>
                    <a:bodyPr/>
                    <a:lstStyle/>
                    <a:p>
                      <a:pPr>
                        <a:defRPr sz="950">
                          <a:solidFill>
                            <a:srgbClr val="1E1E1E"/>
                          </a:solidFill>
                        </a:defRPr>
                      </a:pPr>
                      <a:r>
                        <a:t>阪急OASISマルシェ豊中駅前店</a:t>
                      </a:r>
                    </a:p>
                  </a:txBody>
                  <a:tcPr/>
                </a:tc>
                <a:tc>
                  <a:txBody>
                    <a:bodyPr/>
                    <a:lstStyle/>
                    <a:p>
                      <a:pPr>
                        <a:defRPr sz="950">
                          <a:solidFill>
                            <a:srgbClr val="1E1E1E"/>
                          </a:solidFill>
                        </a:defRPr>
                      </a:pPr>
                      <a:r>
                        <a:t>2026年6月26日</a:t>
                      </a:r>
                    </a:p>
                  </a:txBody>
                  <a:tcPr/>
                </a:tc>
                <a:tc>
                  <a:txBody>
                    <a:bodyPr/>
                    <a:lstStyle/>
                    <a:p>
                      <a:pPr>
                        <a:defRPr sz="950">
                          <a:solidFill>
                            <a:srgbClr val="1E1E1E"/>
                          </a:solidFill>
                        </a:defRPr>
                      </a:pPr>
                      <a:r>
                        <a:t>リニューアルオープン</a:t>
                      </a:r>
                    </a:p>
                  </a:txBody>
                  <a:tcPr/>
                </a:tc>
                <a:tc>
                  <a:txBody>
                    <a:bodyPr/>
                    <a:lstStyle/>
                    <a:p>
                      <a:pPr>
                        <a:defRPr sz="950">
                          <a:solidFill>
                            <a:srgbClr val="1E1E1E"/>
                          </a:solidFill>
                        </a:defRPr>
                      </a:pPr>
                      <a:r>
                        <a:t>中</a:t>
                      </a:r>
                    </a:p>
                  </a:txBody>
                  <a:tcPr/>
                </a:tc>
                <a:tc>
                  <a:txBody>
                    <a:bodyPr/>
                    <a:lstStyle/>
                    <a:p>
                      <a:pPr>
                        <a:defRPr sz="950">
                          <a:solidFill>
                            <a:srgbClr val="1E1E1E"/>
                          </a:solidFill>
                        </a:defRPr>
                      </a:pPr>
                      <a:r>
                        <a:t>改装工事のため一時休業後、「阪急OASISマルシェ豊中駅前店」としてリニューアルオープン予定。</a:t>
                      </a:r>
                    </a:p>
                  </a:txBody>
                  <a:tcPr/>
                </a:tc>
              </a:tr>
              <a:tr h="679268">
                <a:tc>
                  <a:txBody>
                    <a:bodyPr/>
                    <a:lstStyle/>
                    <a:p>
                      <a:pPr>
                        <a:defRPr sz="950">
                          <a:solidFill>
                            <a:srgbClr val="1E1E1E"/>
                          </a:solidFill>
                        </a:defRPr>
                      </a:pPr>
                      <a:r>
                        <a:t>大阪府高槻市</a:t>
                      </a:r>
                    </a:p>
                  </a:txBody>
                  <a:tcPr>
                    <a:solidFill>
                      <a:srgbClr val="F5F5F5"/>
                    </a:solidFill>
                  </a:tcPr>
                </a:tc>
                <a:tc>
                  <a:txBody>
                    <a:bodyPr/>
                    <a:lstStyle/>
                    <a:p>
                      <a:pPr>
                        <a:defRPr sz="950">
                          <a:solidFill>
                            <a:srgbClr val="1E1E1E"/>
                          </a:solidFill>
                        </a:defRPr>
                      </a:pPr>
                      <a:r>
                        <a:t>オーケー 高槻赤大路店</a:t>
                      </a:r>
                    </a:p>
                  </a:txBody>
                  <a:tcPr>
                    <a:solidFill>
                      <a:srgbClr val="F5F5F5"/>
                    </a:solidFill>
                  </a:tcPr>
                </a:tc>
                <a:tc>
                  <a:txBody>
                    <a:bodyPr/>
                    <a:lstStyle/>
                    <a:p>
                      <a:pPr>
                        <a:defRPr sz="950">
                          <a:solidFill>
                            <a:srgbClr val="1E1E1E"/>
                          </a:solidFill>
                        </a:defRPr>
                      </a:pPr>
                      <a:r>
                        <a:t>2026年8月下旬</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オーケーの2026年度大阪府内7店舗出店計画の一環として、8月下旬にオープン予定。</a:t>
                      </a:r>
                    </a:p>
                  </a:txBody>
                  <a:tcPr>
                    <a:solidFill>
                      <a:srgbClr val="F5F5F5"/>
                    </a:solidFill>
                  </a:tcPr>
                </a:tc>
              </a:tr>
              <a:tr h="679268">
                <a:tc>
                  <a:txBody>
                    <a:bodyPr/>
                    <a:lstStyle/>
                    <a:p>
                      <a:pPr>
                        <a:defRPr sz="950">
                          <a:solidFill>
                            <a:srgbClr val="1E1E1E"/>
                          </a:solidFill>
                        </a:defRPr>
                      </a:pPr>
                      <a:r>
                        <a:t>大阪府大阪市平野区</a:t>
                      </a:r>
                    </a:p>
                  </a:txBody>
                  <a:tcPr/>
                </a:tc>
                <a:tc>
                  <a:txBody>
                    <a:bodyPr/>
                    <a:lstStyle/>
                    <a:p>
                      <a:pPr>
                        <a:defRPr sz="950">
                          <a:solidFill>
                            <a:srgbClr val="1E1E1E"/>
                          </a:solidFill>
                        </a:defRPr>
                      </a:pPr>
                      <a:r>
                        <a:t>オーケー 長吉店</a:t>
                      </a:r>
                    </a:p>
                  </a:txBody>
                  <a:tcPr/>
                </a:tc>
                <a:tc>
                  <a:txBody>
                    <a:bodyPr/>
                    <a:lstStyle/>
                    <a:p>
                      <a:pPr>
                        <a:defRPr sz="950">
                          <a:solidFill>
                            <a:srgbClr val="1E1E1E"/>
                          </a:solidFill>
                        </a:defRPr>
                      </a:pPr>
                      <a:r>
                        <a:t>2026年11月中旬</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オーケーの2026年度大阪府内7店舗出店計画の一環として、11月中旬にオープン予定。</a:t>
                      </a:r>
                    </a:p>
                  </a:txBody>
                  <a:tcPr/>
                </a:tc>
              </a:tr>
              <a:tr h="679268">
                <a:tc>
                  <a:txBody>
                    <a:bodyPr/>
                    <a:lstStyle/>
                    <a:p>
                      <a:pPr>
                        <a:defRPr sz="950">
                          <a:solidFill>
                            <a:srgbClr val="1E1E1E"/>
                          </a:solidFill>
                        </a:defRPr>
                      </a:pPr>
                      <a:r>
                        <a:t>大阪府堺市北区</a:t>
                      </a:r>
                    </a:p>
                  </a:txBody>
                  <a:tcPr>
                    <a:solidFill>
                      <a:srgbClr val="F5F5F5"/>
                    </a:solidFill>
                  </a:tcPr>
                </a:tc>
                <a:tc>
                  <a:txBody>
                    <a:bodyPr/>
                    <a:lstStyle/>
                    <a:p>
                      <a:pPr>
                        <a:defRPr sz="950">
                          <a:solidFill>
                            <a:srgbClr val="1E1E1E"/>
                          </a:solidFill>
                        </a:defRPr>
                      </a:pPr>
                      <a:r>
                        <a:t>成城石井 イオンモール堺北花田店</a:t>
                      </a:r>
                    </a:p>
                  </a:txBody>
                  <a:tcPr>
                    <a:solidFill>
                      <a:srgbClr val="F5F5F5"/>
                    </a:solidFill>
                  </a:tcPr>
                </a:tc>
                <a:tc>
                  <a:txBody>
                    <a:bodyPr/>
                    <a:lstStyle/>
                    <a:p>
                      <a:pPr>
                        <a:defRPr sz="950">
                          <a:solidFill>
                            <a:srgbClr val="1E1E1E"/>
                          </a:solidFill>
                        </a:defRPr>
                      </a:pPr>
                      <a:r>
                        <a:t>2026年6月18日</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イオンモール堺北花田1階にオープン予定。売場面積約38坪のコンパクトな店舗で、自家製惣菜やデザートなどを幅広く取り扱う。</a:t>
                      </a:r>
                    </a:p>
                  </a:txBody>
                  <a:tcPr>
                    <a:solidFill>
                      <a:srgbClr val="F5F5F5"/>
                    </a:solidFill>
                  </a:tcPr>
                </a:tc>
              </a:tr>
              <a:tr h="679272">
                <a:tc>
                  <a:txBody>
                    <a:bodyPr/>
                    <a:lstStyle/>
                    <a:p>
                      <a:pPr>
                        <a:defRPr sz="950">
                          <a:solidFill>
                            <a:srgbClr val="1E1E1E"/>
                          </a:solidFill>
                        </a:defRPr>
                      </a:pPr>
                      <a:r>
                        <a:t>滋賀県彦根市</a:t>
                      </a:r>
                    </a:p>
                  </a:txBody>
                  <a:tcPr/>
                </a:tc>
                <a:tc>
                  <a:txBody>
                    <a:bodyPr/>
                    <a:lstStyle/>
                    <a:p>
                      <a:pPr>
                        <a:defRPr sz="950">
                          <a:solidFill>
                            <a:srgbClr val="1E1E1E"/>
                          </a:solidFill>
                        </a:defRPr>
                      </a:pPr>
                      <a:r>
                        <a:t>ロピア 彦根店（仮称）</a:t>
                      </a:r>
                    </a:p>
                  </a:txBody>
                  <a:tcPr/>
                </a:tc>
                <a:tc>
                  <a:txBody>
                    <a:bodyPr/>
                    <a:lstStyle/>
                    <a:p>
                      <a:pPr>
                        <a:defRPr sz="950">
                          <a:solidFill>
                            <a:srgbClr val="1E1E1E"/>
                          </a:solidFill>
                        </a:defRPr>
                      </a:pPr>
                      <a:r>
                        <a:t>2026年夏</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小</a:t>
                      </a:r>
                    </a:p>
                  </a:txBody>
                  <a:tcPr/>
                </a:tc>
                <a:tc>
                  <a:txBody>
                    <a:bodyPr/>
                    <a:lstStyle/>
                    <a:p>
                      <a:pPr>
                        <a:defRPr sz="950">
                          <a:solidFill>
                            <a:srgbClr val="1E1E1E"/>
                          </a:solidFill>
                        </a:defRPr>
                      </a:pPr>
                      <a:r>
                        <a:t>滋賀県初出店で、ホームプラザナフコ彦根店内に出店予定。平和堂本社近隣への出店となる。</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(2ページ目)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2377440">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2377440">
                <a:tc>
                  <a:txBody>
                    <a:bodyPr/>
                    <a:lstStyle/>
                    <a:p>
                      <a:pPr>
                        <a:defRPr sz="950">
                          <a:solidFill>
                            <a:srgbClr val="1E1E1E"/>
                          </a:solidFill>
                        </a:defRPr>
                      </a:pPr>
                      <a:r>
                        <a:t>兵庫県宝塚市</a:t>
                      </a:r>
                    </a:p>
                  </a:txBody>
                  <a:tcPr>
                    <a:solidFill>
                      <a:srgbClr val="F5F5F5"/>
                    </a:solidFill>
                  </a:tcPr>
                </a:tc>
                <a:tc>
                  <a:txBody>
                    <a:bodyPr/>
                    <a:lstStyle/>
                    <a:p>
                      <a:pPr>
                        <a:defRPr sz="950">
                          <a:solidFill>
                            <a:srgbClr val="1E1E1E"/>
                          </a:solidFill>
                        </a:defRPr>
                      </a:pPr>
                      <a:r>
                        <a:t>ヤマダストアー 宝塚店（仮称）</a:t>
                      </a:r>
                    </a:p>
                  </a:txBody>
                  <a:tcPr>
                    <a:solidFill>
                      <a:srgbClr val="F5F5F5"/>
                    </a:solidFill>
                  </a:tcPr>
                </a:tc>
                <a:tc>
                  <a:txBody>
                    <a:bodyPr/>
                    <a:lstStyle/>
                    <a:p>
                      <a:pPr>
                        <a:defRPr sz="950">
                          <a:solidFill>
                            <a:srgbClr val="1E1E1E"/>
                          </a:solidFill>
                        </a:defRPr>
                      </a:pPr>
                      <a:r>
                        <a:t>2027年春</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阪急OASISマルシェ豊中駅前店のリニューアルオープン（6月26日）は、いかり豊中店など北摂エリアの既存店に対し、品揃えや店舗コンセプトの変化による競争影響を与える可能性がある。特に「マルシェ」業態への転換は、高品質な商品群でいかりスーパーと競合する可能性を示唆する。</a:t>
            </a:r>
          </a:p>
          <a:p>
            <a:pPr>
              <a:spcAft>
                <a:spcPts val="1400"/>
              </a:spcAft>
              <a:defRPr sz="1400">
                <a:solidFill>
                  <a:srgbClr val="1E1E1E"/>
                </a:solidFill>
              </a:defRPr>
            </a:pPr>
            <a:r>
              <a:t>*   オーケーの高槻赤大路店（8月下旬オープン）と長吉店（11月中旬オープン）の出店は、いかりスーパーの大阪市北東部（高槻赤大路店）および大阪市南東部（長吉店）の店舗網へのディスカウント競争をさらに激化させる。特に高槻赤大路店は、いかり高槻店と競合し、価格感度の高い顧客層の獲得競争が激化すると考えられる。</a:t>
            </a:r>
          </a:p>
          <a:p>
            <a:pPr>
              <a:spcAft>
                <a:spcPts val="1400"/>
              </a:spcAft>
              <a:defRPr sz="1400">
                <a:solidFill>
                  <a:srgbClr val="1E1E1E"/>
                </a:solidFill>
              </a:defRPr>
            </a:pPr>
            <a:r>
              <a:t>*   成城石井イオンモール堺北花田店（6月18日オープン）は、Osaka Metro御堂筋線北花田駅に近接し、いかりスーパーの大阪南部エリアの店舗、特に「いかり帝塚山店」など高品質商品を求める顧客層の一部を吸引する可能性がある。駅直結の利便性と高品質スーパーというブランドがいかりスーパーの強みと重なるため、顧客流出に注意が必要である。</a:t>
            </a:r>
          </a:p>
          <a:p>
            <a:pPr>
              <a:spcAft>
                <a:spcPts val="1400"/>
              </a:spcAft>
              <a:defRPr sz="1400">
                <a:solidFill>
                  <a:srgbClr val="1E1E1E"/>
                </a:solidFill>
              </a:defRPr>
            </a:pPr>
            <a:r>
              <a:t>*   ヤマダストアー宝塚店（2027年春オープン）は、兵庫県宝塚市への初進出であり、いかりスーパーの宝塚エリア（例：いかり宝塚店、いかり仁川店）に直接的な競争圧力を与える。ヤマダストアーの「こだわりの高品質」というイメージは、いかりスーパーのブランドと重なり、顧客層の奪い合いが発生する可能性が高い。</a:t>
            </a:r>
          </a:p>
          <a:p>
            <a:pPr>
              <a:spcAft>
                <a:spcPts val="1400"/>
              </a:spcAft>
              <a:defRPr sz="1400">
                <a:solidFill>
                  <a:srgbClr val="1E1E1E"/>
                </a:solidFill>
              </a:defRPr>
            </a:pPr>
            <a:r>
              <a:t>*   ロピア彦根店（仮称）（2026年夏オープン）は滋賀県への新規出店であり、直接いかりスーパーの既存店舗と競合する可能性は低いものの、関西エリア全体でのロピアの勢力拡大を示しており、中長期的にはいかりスーパーの周辺エリアへの出店も視野に入れる必要があ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阪急オアシスが豊中駅前店を「マルシェ」業態へリニューアルする（6月26日）ことは、いかり豊中店といった北摂エリアの店舗にとって、単なる改装以上の意味を持つ。マルシェ業態が提供する価値訴求型の品揃えやサービスは、いかりスーパーのコア顧客層と重複する可能性があり、顧客体験の差別化やプライベートブランドの更なる強化が求められる。</a:t>
            </a:r>
          </a:p>
          <a:p>
            <a:pPr>
              <a:spcAft>
                <a:spcPts val="1200"/>
              </a:spcAft>
              <a:defRPr sz="1350">
                <a:solidFill>
                  <a:srgbClr val="1E1E1E"/>
                </a:solidFill>
              </a:defRPr>
            </a:pPr>
            <a:r>
              <a:t>*   オーケーの大阪府内での積極的な出店攻勢は無視できない脅威である。高槻赤大路店（8月下旬）はいかり高槻店に、長吉店（11月中旬）はいかり長居店やいかり喜連店など、それぞれの近隣いかりスーパー店舗に対し、強烈な価格競争を仕掛けてくることが予想される。いかりスーパーは、価格以外の「質の高さ」「希少性」「きめ細やかなサービス」といった独自の価値提供を一層明確に打ち出し、顧客のロイヤルティを維持する戦略が不可欠となる。</a:t>
            </a:r>
          </a:p>
          <a:p>
            <a:pPr>
              <a:spcAft>
                <a:spcPts val="1200"/>
              </a:spcAft>
              <a:defRPr sz="1350">
                <a:solidFill>
                  <a:srgbClr val="1E1E1E"/>
                </a:solidFill>
              </a:defRPr>
            </a:pPr>
            <a:r>
              <a:t>*   成城石井イオンモール堺北花田店（6月18日オープン）の登場は、いかりスーパーの大阪南部エリアにおける高品質スーパーとしての地位を揺るがす可能性がある。特に「いかり帝塚山店」など、富裕層や食にこだわる層をターゲットとする店舗にとっては、品揃えの独自性や限定商品の拡充、あるいはデリバリーサービスの強化など、新たな顧客接点の創出が重要となる。</a:t>
            </a:r>
          </a:p>
          <a:p>
            <a:pPr>
              <a:spcAft>
                <a:spcPts val="1200"/>
              </a:spcAft>
              <a:defRPr sz="1350">
                <a:solidFill>
                  <a:srgbClr val="1E1E1E"/>
                </a:solidFill>
              </a:defRPr>
            </a:pPr>
            <a:r>
              <a:t>*   ヤマダストアーの宝塚店（2027年春）新規出店は、既に梅田エリアで予測されている競争激化に加え、兵庫県内のいかりスーパー店舗、特に「いかり宝塚店」や「いかり仁川店」に直接的な影響を与える。ヤマダストアーも高品質を謳うため、いかりスーパーは、地域の顧客ニーズに合わせたきめ細やかな商品戦略や、よりパーソナルな顧客サービスを展開し、地域密着型の優位性をさらに高める必要がある。</a:t>
            </a:r>
          </a:p>
          <a:p>
            <a:pPr>
              <a:spcAft>
                <a:spcPts val="1200"/>
              </a:spcAft>
              <a:defRPr sz="1350">
                <a:solidFill>
                  <a:srgbClr val="1E1E1E"/>
                </a:solidFill>
              </a:defRPr>
            </a:pPr>
            <a:r>
              <a:t>*   ロピアの滋賀県彦根店（仮称）（2026年夏）出店は、直接的な競合ではないものの、広域ディスカウントスーパーの関西圏での拡大傾向を示す。これは、いかりスーパーが中長期的な事業戦略を立案する上で、価格競争の激化と広範囲な顧客流動化のリスクを考慮する必要があることを示唆してい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defRPr sz="1200">
                <a:solidFill>
                  <a:srgbClr val="1E1E1E"/>
                </a:solidFill>
              </a:defRPr>
            </a:pPr>
            <a:r>
              <a:t>・   6月26日（金）「阪急OASISマルシェ豊中駅前店」としてリニューアルオープン！ | エトレとよなか: https://vertexaisearch.cloud.google.com/grounding-api-redirect/AUZIYQGv6MZdGzxCOACPaYOFJba1-3XmA3svnXRMqtEwyIUCk9uE_6EYtQ3pYi7r71CSuM8AlzU0p7c6x8lMi4OBkpvFLlGgrjTgX-YRUm6OuWWSxTaXjwG2_doLOuVQRkGlIIaYY3LGTO0CMtk=</a:t>
            </a:r>
          </a:p>
          <a:p>
            <a:pPr>
              <a:spcAft>
                <a:spcPts val="800"/>
              </a:spcAft>
              <a:defRPr sz="1200">
                <a:solidFill>
                  <a:srgbClr val="1E1E1E"/>
                </a:solidFill>
              </a:defRPr>
            </a:pPr>
            <a:r>
              <a:t>・   ディスカウント・スーパーマーケット「オーケー」 大阪府での展開を加速！5月に「大東新田西町店」「豊中穂積店」を連続出店 ～2026年度は大阪府内に計7店舗の出店を予定: https://vertexaisearch.cloud.google.com/grounding-api-redirect/AUZIYQEDDhO_aI1yXsqcn2vVPoaNbvQNmTx-jXcOdoT3FZlHd9sPaduiQELZZ5mhV1DzUbhkM-94ubtbvE8DQjUplKnkz7N2skO7fkcSqBmVgBSZFQnsqzXlfENHCyiPICcKH3svgdf2dIptsC0=</a:t>
            </a:r>
          </a:p>
          <a:p>
            <a:pPr>
              <a:spcAft>
                <a:spcPts val="800"/>
              </a:spcAft>
              <a:defRPr sz="1200">
                <a:solidFill>
                  <a:srgbClr val="1E1E1E"/>
                </a:solidFill>
              </a:defRPr>
            </a:pPr>
            <a:r>
              <a:t>・   ヤマダストアー宝塚店 2027年春開業！テナントは？最新情報も！ 出店ウォッチ: https://vertexaisearch.cloud.google.com/grounding-api-redirect/AUZIYQGXXouWYPSZe5j88x3_XIN9eKIlJCO-EK_9hJAMNpukr913eQDmvR_VtwTLP9y7GP_Bd0Mrs_Hwx1_MrpwGXZVVy8fdluZloVMR6ubkk4WWSxTaXjwG2_doLOuVQRkGlIIaYY3LGTO0CMtk=</a:t>
            </a:r>
          </a:p>
          <a:p>
            <a:pPr>
              <a:spcAft>
                <a:spcPts val="800"/>
              </a:spcAft>
              <a:defRPr sz="1200">
                <a:solidFill>
                  <a:srgbClr val="1E1E1E"/>
                </a:solidFill>
              </a:defRPr>
            </a:pPr>
            <a:r>
              <a:t>・   成城石井news｜｢成城石井 イオンモール堺北花田店｣6/18オープン – 流通スーパーニュース: https://vertexaisearch.cloud.google.com/grounding-api-redirect/AUZIYQEZ_z9Sy1881hOXSQZeAT_Lq2D5k-eiZzR0kibta5sjdK8zW7MhZ9AlZ-v4FyTGm8b-lojy3uyczRd1BOLSHcXKVxS70ZlQWghTpTZbnIMIrywivwevuzXsCQaOIDs0GwMsyaaY</a:t>
            </a:r>
          </a:p>
          <a:p>
            <a:pPr>
              <a:spcAft>
                <a:spcPts val="800"/>
              </a:spcAft>
              <a:defRPr sz="1200">
                <a:solidFill>
                  <a:srgbClr val="1E1E1E"/>
                </a:solidFill>
              </a:defRPr>
            </a:pPr>
            <a:r>
              <a:t>・   【堺市】「成城石井 イオンモール堺北花田店」が6月18日にオープン 御堂筋線・北花田駅至近のイオンモール1階に出店: https://vertexaisearch.cloud.google.com/grounding-api-redirect/AUZIYQH25reZwsCrG4T9RTtbLl7l3-V6eH9XAn4q6X2DChAlrKl75n00UwWo8kwRrarytD7ZAP7pglQq2S6ALWVkg_96tg1g-R59N6utgJF6A7-M-Q2_ifLE4A==</a:t>
            </a:r>
          </a:p>
          <a:p>
            <a:pPr>
              <a:spcAft>
                <a:spcPts val="800"/>
              </a:spcAft>
              <a:defRPr sz="1200">
                <a:solidFill>
                  <a:srgbClr val="1E1E1E"/>
                </a:solidFill>
              </a:defRPr>
            </a:pPr>
            <a:r>
              <a:t>・   成城石井／「イオンモール堺北花田店」6月18日オープン | 流通ニュース: https://vertexaisearch.cloud.google.com/grounding-api-redirect/AUZIYQEbg2lPMTjIpttAaR7GJ9JlRb-TPvt07NiKb8ySQ30Ry1jtYAy0eWGyw3aDZ1J6htT36mU0jlQsnmirmnZA66QIGCgCCsRAEnJ5ISXlyKDMMKmbskUUtbdad6eHMd4SCju0EG6fiA==</a:t>
            </a:r>
          </a:p>
          <a:p>
            <a:pPr>
              <a:spcAft>
                <a:spcPts val="800"/>
              </a:spcAft>
              <a:defRPr sz="1200">
                <a:solidFill>
                  <a:srgbClr val="1E1E1E"/>
                </a:solidFill>
              </a:defRPr>
            </a:pPr>
            <a:r>
              <a:t>・   プレスリリース – スーパーマーケット成城石井: https://vertexaisearch.cloud.google.com/grounding-api-redirect/AUZIYQHng4wkCLTHuyw3jfXRd4eFJ5rE1aSzlEAUnncOaYd2dwGpaZMrZqejiOjf_GF6F9QUpTsvlFo4rxUsk6sIADUfnhTEVP1o3yBDkkiifJxoh_oBf4y4nleQQLsf_s0YNH8OFVn3Alfq</a:t>
            </a:r>
          </a:p>
          <a:p>
            <a:pPr>
              <a:spcAft>
                <a:spcPts val="800"/>
              </a:spcAft>
              <a:defRPr sz="1200">
                <a:solidFill>
                  <a:srgbClr val="1E1E1E"/>
                </a:solidFill>
              </a:defRPr>
            </a:pPr>
            <a:r>
              <a:t>・   6月18日(木)に「イオンモール堺北花田」1階にオープンいたします。 – スーパーマーケット成城石井: https://vertexaisearch.cloud.google.com/grounding-api-redirect/AUZIYQEtJtcnIFvXjuJeAK3AUJhjJu_AKvFV4VPdGW5Un2Us3acBtHo3-BVHiJRu73VRczwfbKn5tNINfNSZk2cTGDRiQKlUFpPGK1KqveUFHrteFiaACtVe3VOqQcJ-xdglJP-suJ23Y67ckEIXluYQLEH4</a:t>
            </a:r>
          </a:p>
          <a:p>
            <a:pPr>
              <a:spcAft>
                <a:spcPts val="800"/>
              </a:spcAft>
              <a:defRPr sz="1200">
                <a:solidFill>
                  <a:srgbClr val="1E1E1E"/>
                </a:solidFill>
              </a:defRPr>
            </a:pPr>
            <a:r>
              <a:t>・   ロピアが滋賀県に進出、平和堂本社隣ビバシティ彦根とガチンコ勝負へ 激流オンライン: https://vertexaisearch.cloud.google.com/grounding-api-redirect/AUZIYQGZ9cBTynABWhYhTzZusoPYdGLZgIXzuz2kKKtoNMLgdb941BNSexoYfdEJNFLQqzRS4Wfs9p11GkMbONHneGGXyFMDsWN3Njf8xgvR2m9v1hOgE8K3NAak-_9TnLhKYMYLyGc=</a:t>
            </a:r>
          </a:p>
          <a:p>
            <a:pPr>
              <a:spcAft>
                <a:spcPts val="800"/>
              </a:spcAft>
              <a:defRPr sz="1200">
                <a:solidFill>
                  <a:srgbClr val="1E1E1E"/>
                </a:solidFill>
              </a:defRPr>
            </a:pPr>
            <a:r>
              <a:t>・   オーケーnews｜'26年度関西7店舗出店､4/15南津守店､4/22今川店オープン: https://vertexaisearch.cloud.google.com/grounding-api-redirect/AUZIYQGeKNovIe1Ebjj2B08xi3rpE-JCUJAQsQok_5SITNsEw1daVN6lZBUDr5wGQyRo_rSCyXbwxU1Bjc6aMW8FViNRLLdtLyMk5d_VtZGnp5REWi0MKon2Y_RoaNcGr82jOcEQPsEz</a:t>
            </a:r>
          </a:p>
          <a:p>
            <a:pPr>
              <a:spcAft>
                <a:spcPts val="800"/>
              </a:spcAft>
              <a:defRPr sz="1200">
                <a:solidFill>
                  <a:srgbClr val="1E1E1E"/>
                </a:solidFill>
              </a:defRPr>
            </a:pPr>
            <a:r>
              <a:t>・   オーケーが25年兵庫に出す5店を公表 26年には大阪に7店出店 激流オンライン: https://vertexaisearch.cloud.google.com/grounding-api-redirect/AUZIYQFiSeGhWWKsP5DIAVT3pS2aX8awyyfUWSniR1hl5U-LSKtd6I-iEhkZVoZr-pB5zb_rrll3Ptdrn39g7f_dtOSLOd8qprLFIrGr1KD3lLHBS9oaIEXK6_rLyHWXjz55aIzi2Iw=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16_competitive_map.png"/>
          <p:cNvPicPr>
            <a:picLocks noChangeAspect="1"/>
          </p:cNvPicPr>
          <p:nvPr/>
        </p:nvPicPr>
        <p:blipFill>
          <a:blip r:embed="rId2"/>
          <a:stretch>
            <a:fillRect/>
          </a:stretch>
        </p:blipFill>
        <p:spPr>
          <a:xfrm>
            <a:off x="4135374" y="1188720"/>
            <a:ext cx="390906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