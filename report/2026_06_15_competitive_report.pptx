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628"/>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関西圏のスーパーマーケット市場は、高級路線の深化とディスカウント路線の拡大という二極化が加速しており、いかりスーパーは高品質・高価格帯でのブランド価値維持と差別化が喫緊の課題。</a:t>
            </a:r>
          </a:p>
          <a:p>
            <a:pPr>
              <a:spcAft>
                <a:spcPts val="1600"/>
              </a:spcAft>
              <a:defRPr sz="1800">
                <a:solidFill>
                  <a:srgbClr val="1E1E1E"/>
                </a:solidFill>
              </a:defRPr>
            </a:pPr>
            <a:r>
              <a:t>・   ロピアに代表される「高質ディスカウント」勢力の台頭は、いかりの主要顧客層の一部（日常使いの品目）に直接的な影響を及ぼす可能性が高く、特に警戒が必要。</a:t>
            </a:r>
          </a:p>
          <a:p>
            <a:pPr>
              <a:spcAft>
                <a:spcPts val="1600"/>
              </a:spcAft>
              <a:defRPr sz="1800">
                <a:solidFill>
                  <a:srgbClr val="1E1E1E"/>
                </a:solidFill>
              </a:defRPr>
            </a:pPr>
            <a:r>
              <a:t>・   ネットスーパーや宅配サービスの競争激化は、いかり自身のネットスーパーの利便性向上とサービス拡充を継続的に促す。</a:t>
            </a:r>
          </a:p>
          <a:p>
            <a:pPr>
              <a:spcAft>
                <a:spcPts val="1600"/>
              </a:spcAft>
              <a:defRPr sz="1800">
                <a:solidFill>
                  <a:srgbClr val="1E1E1E"/>
                </a:solidFill>
              </a:defRPr>
            </a:pPr>
            <a:r>
              <a:t>・   いかりスーパーは、独自のプライベートブランド（PB）商品、厳選された品揃え、そして上質な顧客体験を通じて、他社との明確な差別化を図ることが今後の成長の鍵となる。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2011680"/>
                <a:gridCol w="1188720"/>
                <a:gridCol w="914400"/>
                <a:gridCol w="1371600"/>
                <a:gridCol w="4416552"/>
              </a:tblGrid>
              <a:tr h="679268">
                <a:tc>
                  <a:txBody>
                    <a:bodyPr/>
                    <a:lstStyle/>
                    <a:p>
                      <a:pPr algn="ctr">
                        <a:defRPr b="1" sz="1100">
                          <a:solidFill>
                            <a:srgbClr val="FFFFFF"/>
                          </a:solidFill>
                        </a:defRPr>
                      </a:pPr>
                      <a:r>
                        <a:t>エリア</a:t>
                      </a:r>
                    </a:p>
                  </a:txBody>
                  <a:tcPr>
                    <a:solidFill>
                      <a:srgbClr val="004628"/>
                    </a:solidFill>
                  </a:tcPr>
                </a:tc>
                <a:tc>
                  <a:txBody>
                    <a:bodyPr/>
                    <a:lstStyle/>
                    <a:p>
                      <a:pPr algn="ctr">
                        <a:defRPr b="1" sz="1100">
                          <a:solidFill>
                            <a:srgbClr val="FFFFFF"/>
                          </a:solidFill>
                        </a:defRPr>
                      </a:pPr>
                      <a:r>
                        <a:t>競合店舗名</a:t>
                      </a:r>
                    </a:p>
                  </a:txBody>
                  <a:tcPr>
                    <a:solidFill>
                      <a:srgbClr val="004628"/>
                    </a:solidFill>
                  </a:tcPr>
                </a:tc>
                <a:tc>
                  <a:txBody>
                    <a:bodyPr/>
                    <a:lstStyle/>
                    <a:p>
                      <a:pPr algn="ctr">
                        <a:defRPr b="1" sz="1100">
                          <a:solidFill>
                            <a:srgbClr val="FFFFFF"/>
                          </a:solidFill>
                        </a:defRPr>
                      </a:pPr>
                      <a:r>
                        <a:t>時期</a:t>
                      </a:r>
                    </a:p>
                  </a:txBody>
                  <a:tcPr>
                    <a:solidFill>
                      <a:srgbClr val="004628"/>
                    </a:solidFill>
                  </a:tcPr>
                </a:tc>
                <a:tc>
                  <a:txBody>
                    <a:bodyPr/>
                    <a:lstStyle/>
                    <a:p>
                      <a:pPr algn="ctr">
                        <a:defRPr b="1" sz="1100">
                          <a:solidFill>
                            <a:srgbClr val="FFFFFF"/>
                          </a:solidFill>
                        </a:defRPr>
                      </a:pPr>
                      <a:r>
                        <a:t>状態</a:t>
                      </a:r>
                    </a:p>
                  </a:txBody>
                  <a:tcPr>
                    <a:solidFill>
                      <a:srgbClr val="004628"/>
                    </a:solidFill>
                  </a:tcPr>
                </a:tc>
                <a:tc>
                  <a:txBody>
                    <a:bodyPr/>
                    <a:lstStyle/>
                    <a:p>
                      <a:pPr algn="ctr">
                        <a:defRPr b="1" sz="1100">
                          <a:solidFill>
                            <a:srgbClr val="FFFFFF"/>
                          </a:solidFill>
                        </a:defRPr>
                      </a:pPr>
                      <a:r>
                        <a:t>影響レベル</a:t>
                      </a:r>
                    </a:p>
                  </a:txBody>
                  <a:tcPr>
                    <a:solidFill>
                      <a:srgbClr val="004628"/>
                    </a:solidFill>
                  </a:tcPr>
                </a:tc>
                <a:tc>
                  <a:txBody>
                    <a:bodyPr/>
                    <a:lstStyle/>
                    <a:p>
                      <a:pPr algn="ctr">
                        <a:defRPr b="1" sz="1100">
                          <a:solidFill>
                            <a:srgbClr val="FFFFFF"/>
                          </a:solidFill>
                        </a:defRPr>
                      </a:pPr>
                      <a:r>
                        <a:t>詳細説明</a:t>
                      </a:r>
                    </a:p>
                  </a:txBody>
                  <a:tcPr>
                    <a:solidFill>
                      <a:srgbClr val="004628"/>
                    </a:solidFill>
                  </a:tcPr>
                </a:tc>
              </a:tr>
              <a:tr h="679268">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r>
              <a:tr h="679268">
                <a:tc>
                  <a:txBody>
                    <a:bodyPr/>
                    <a:lstStyle/>
                    <a:p>
                      <a:pPr>
                        <a:defRPr sz="950">
                          <a:solidFill>
                            <a:srgbClr val="1E1E1E"/>
                          </a:solidFill>
                        </a:defRPr>
                      </a:pPr>
                      <a:r>
                        <a:t>神戸市中央区</a:t>
                      </a:r>
                    </a:p>
                  </a:txBody>
                  <a:tcPr/>
                </a:tc>
                <a:tc>
                  <a:txBody>
                    <a:bodyPr/>
                    <a:lstStyle/>
                    <a:p>
                      <a:pPr>
                        <a:defRPr sz="950">
                          <a:solidFill>
                            <a:srgbClr val="1E1E1E"/>
                          </a:solidFill>
                        </a:defRPr>
                      </a:pPr>
                      <a:r>
                        <a:t>ロピア 神戸湊川店</a:t>
                      </a:r>
                    </a:p>
                  </a:txBody>
                  <a:tcPr/>
                </a:tc>
                <a:tc>
                  <a:txBody>
                    <a:bodyPr/>
                    <a:lstStyle/>
                    <a:p>
                      <a:pPr>
                        <a:defRPr sz="950">
                          <a:solidFill>
                            <a:srgbClr val="1E1E1E"/>
                          </a:solidFill>
                        </a:defRPr>
                      </a:pPr>
                      <a:r>
                        <a:t>2023年秋</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中〜高</a:t>
                      </a:r>
                    </a:p>
                  </a:txBody>
                  <a:tcPr/>
                </a:tc>
                <a:tc>
                  <a:txBody>
                    <a:bodyPr/>
                    <a:lstStyle/>
                    <a:p>
                      <a:pPr>
                        <a:defRPr sz="950">
                          <a:solidFill>
                            <a:srgbClr val="1E1E1E"/>
                          </a:solidFill>
                        </a:defRPr>
                      </a:pPr>
                      <a:r>
                        <a:t>高品質な生鮮食品をリーズナブルな価格で提供し、急成長中の「高質ディスカウント」。いかりの日常使いの商品カテゴリにおいて顧客流出のリスク。</a:t>
                      </a:r>
                    </a:p>
                  </a:txBody>
                  <a:tcPr/>
                </a:tc>
              </a:tr>
              <a:tr h="679268">
                <a:tc>
                  <a:txBody>
                    <a:bodyPr/>
                    <a:lstStyle/>
                    <a:p>
                      <a:pPr>
                        <a:defRPr sz="950">
                          <a:solidFill>
                            <a:srgbClr val="1E1E1E"/>
                          </a:solidFill>
                        </a:defRPr>
                      </a:pPr>
                      <a:r>
                        <a:t>大阪市北区</a:t>
                      </a:r>
                    </a:p>
                  </a:txBody>
                  <a:tcPr>
                    <a:solidFill>
                      <a:srgbClr val="F5F5F5"/>
                    </a:solidFill>
                  </a:tcPr>
                </a:tc>
                <a:tc>
                  <a:txBody>
                    <a:bodyPr/>
                    <a:lstStyle/>
                    <a:p>
                      <a:pPr>
                        <a:defRPr sz="950">
                          <a:solidFill>
                            <a:srgbClr val="1E1E1E"/>
                          </a:solidFill>
                        </a:defRPr>
                      </a:pPr>
                      <a:r>
                        <a:t>成城石井 ルクア大阪店</a:t>
                      </a:r>
                    </a:p>
                  </a:txBody>
                  <a:tcPr>
                    <a:solidFill>
                      <a:srgbClr val="F5F5F5"/>
                    </a:solidFill>
                  </a:tcPr>
                </a:tc>
                <a:tc>
                  <a:txBody>
                    <a:bodyPr/>
                    <a:lstStyle/>
                    <a:p>
                      <a:pPr>
                        <a:defRPr sz="950">
                          <a:solidFill>
                            <a:srgbClr val="1E1E1E"/>
                          </a:solidFill>
                        </a:defRPr>
                      </a:pPr>
                      <a:r>
                        <a:t>継続的</a:t>
                      </a:r>
                    </a:p>
                  </a:txBody>
                  <a:tcPr>
                    <a:solidFill>
                      <a:srgbClr val="F5F5F5"/>
                    </a:solidFill>
                  </a:tcPr>
                </a:tc>
                <a:tc>
                  <a:txBody>
                    <a:bodyPr/>
                    <a:lstStyle/>
                    <a:p>
                      <a:pPr>
                        <a:defRPr sz="950">
                          <a:solidFill>
                            <a:srgbClr val="1E1E1E"/>
                          </a:solidFill>
                        </a:defRPr>
                      </a:pPr>
                      <a:r>
                        <a:t>既存店強化・品揃え拡充</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都市型高級スーパーとして定着しており、輸入食品やPB商品、惣菜・スイーツでいかりと直接競合。駅ナカ立地で利便性が高い。</a:t>
                      </a:r>
                    </a:p>
                  </a:txBody>
                  <a:tcPr>
                    <a:solidFill>
                      <a:srgbClr val="F5F5F5"/>
                    </a:solidFill>
                  </a:tcPr>
                </a:tc>
              </a:tr>
              <a:tr h="679268">
                <a:tc>
                  <a:txBody>
                    <a:bodyPr/>
                    <a:lstStyle/>
                    <a:p>
                      <a:pPr>
                        <a:defRPr sz="950">
                          <a:solidFill>
                            <a:srgbClr val="1E1E1E"/>
                          </a:solidFill>
                        </a:defRPr>
                      </a:pPr>
                      <a:r>
                        <a:t>京都市中京区</a:t>
                      </a:r>
                    </a:p>
                  </a:txBody>
                  <a:tcPr/>
                </a:tc>
                <a:tc>
                  <a:txBody>
                    <a:bodyPr/>
                    <a:lstStyle/>
                    <a:p>
                      <a:pPr>
                        <a:defRPr sz="950">
                          <a:solidFill>
                            <a:srgbClr val="1E1E1E"/>
                          </a:solidFill>
                        </a:defRPr>
                      </a:pPr>
                      <a:r>
                        <a:t>阪急オアシス 京都店</a:t>
                      </a:r>
                    </a:p>
                  </a:txBody>
                  <a:tcPr/>
                </a:tc>
                <a:tc>
                  <a:txBody>
                    <a:bodyPr/>
                    <a:lstStyle/>
                    <a:p>
                      <a:pPr>
                        <a:defRPr sz="950">
                          <a:solidFill>
                            <a:srgbClr val="1E1E1E"/>
                          </a:solidFill>
                        </a:defRPr>
                      </a:pPr>
                      <a:r>
                        <a:t>2024年春</a:t>
                      </a:r>
                    </a:p>
                  </a:txBody>
                  <a:tcPr/>
                </a:tc>
                <a:tc>
                  <a:txBody>
                    <a:bodyPr/>
                    <a:lstStyle/>
                    <a:p>
                      <a:pPr>
                        <a:defRPr sz="950">
                          <a:solidFill>
                            <a:srgbClr val="1E1E1E"/>
                          </a:solidFill>
                        </a:defRPr>
                      </a:pPr>
                      <a:r>
                        <a:t>既存店改装・惣菜強化</a:t>
                      </a:r>
                    </a:p>
                  </a:txBody>
                  <a:tcPr/>
                </a:tc>
                <a:tc>
                  <a:txBody>
                    <a:bodyPr/>
                    <a:lstStyle/>
                    <a:p>
                      <a:pPr>
                        <a:defRPr sz="950">
                          <a:solidFill>
                            <a:srgbClr val="1E1E1E"/>
                          </a:solidFill>
                        </a:defRPr>
                      </a:pPr>
                      <a:r>
                        <a:t>中</a:t>
                      </a:r>
                    </a:p>
                  </a:txBody>
                  <a:tcPr/>
                </a:tc>
                <a:tc>
                  <a:txBody>
                    <a:bodyPr/>
                    <a:lstStyle/>
                    <a:p>
                      <a:pPr>
                        <a:defRPr sz="950">
                          <a:solidFill>
                            <a:srgbClr val="1E1E1E"/>
                          </a:solidFill>
                        </a:defRPr>
                      </a:pPr>
                      <a:r>
                        <a:t>百貨店系スーパーとして品質とサービスに定評。特に惣菜・デリ部門の強化は、いかりの強みである中食需要への対応と重なり、競争が激化。</a:t>
                      </a:r>
                    </a:p>
                  </a:txBody>
                  <a:tcPr/>
                </a:tc>
              </a:tr>
              <a:tr h="679268">
                <a:tc>
                  <a:txBody>
                    <a:bodyPr/>
                    <a:lstStyle/>
                    <a:p>
                      <a:pPr>
                        <a:defRPr sz="950">
                          <a:solidFill>
                            <a:srgbClr val="1E1E1E"/>
                          </a:solidFill>
                        </a:defRPr>
                      </a:pPr>
                      <a:r>
                        <a:t>関西全域</a:t>
                      </a:r>
                    </a:p>
                  </a:txBody>
                  <a:tcPr>
                    <a:solidFill>
                      <a:srgbClr val="F5F5F5"/>
                    </a:solidFill>
                  </a:tcPr>
                </a:tc>
                <a:tc>
                  <a:txBody>
                    <a:bodyPr/>
                    <a:lstStyle/>
                    <a:p>
                      <a:pPr>
                        <a:defRPr sz="950">
                          <a:solidFill>
                            <a:srgbClr val="1E1E1E"/>
                          </a:solidFill>
                        </a:defRPr>
                      </a:pPr>
                      <a:r>
                        <a:t>Oisix</a:t>
                      </a:r>
                    </a:p>
                  </a:txBody>
                  <a:tcPr>
                    <a:solidFill>
                      <a:srgbClr val="F5F5F5"/>
                    </a:solidFill>
                  </a:tcPr>
                </a:tc>
                <a:tc>
                  <a:txBody>
                    <a:bodyPr/>
                    <a:lstStyle/>
                    <a:p>
                      <a:pPr>
                        <a:defRPr sz="950">
                          <a:solidFill>
                            <a:srgbClr val="1E1E1E"/>
                          </a:solidFill>
                        </a:defRPr>
                      </a:pPr>
                      <a:r>
                        <a:t>継続的</a:t>
                      </a:r>
                    </a:p>
                  </a:txBody>
                  <a:tcPr>
                    <a:solidFill>
                      <a:srgbClr val="F5F5F5"/>
                    </a:solidFill>
                  </a:tcPr>
                </a:tc>
                <a:tc>
                  <a:txBody>
                    <a:bodyPr/>
                    <a:lstStyle/>
                    <a:p>
                      <a:pPr>
                        <a:defRPr sz="950">
                          <a:solidFill>
                            <a:srgbClr val="1E1E1E"/>
                          </a:solidFill>
                        </a:defRPr>
                      </a:pPr>
                      <a:r>
                        <a:t>ネット宅配サービス拡充</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有機野菜やミールキットなど、食の安心・安全や手軽さを重視する顧客層をターゲット。いかりのネットスーパーとの顧客奪い合いが予想される。</a:t>
                      </a:r>
                    </a:p>
                  </a:txBody>
                  <a:tcPr>
                    <a:solidFill>
                      <a:srgbClr val="F5F5F5"/>
                    </a:solidFill>
                  </a:tcPr>
                </a:tc>
              </a:tr>
              <a:tr h="679272">
                <a:tc>
                  <a:txBody>
                    <a:bodyPr/>
                    <a:lstStyle/>
                    <a:p>
                      <a:pPr>
                        <a:defRPr sz="950">
                          <a:solidFill>
                            <a:srgbClr val="1E1E1E"/>
                          </a:solidFill>
                        </a:defRPr>
                      </a:pPr>
                      <a:r>
                        <a:t>大阪府下</a:t>
                      </a:r>
                    </a:p>
                  </a:txBody>
                  <a:tcPr/>
                </a:tc>
                <a:tc>
                  <a:txBody>
                    <a:bodyPr/>
                    <a:lstStyle/>
                    <a:p>
                      <a:pPr>
                        <a:defRPr sz="950">
                          <a:solidFill>
                            <a:srgbClr val="1E1E1E"/>
                          </a:solidFill>
                        </a:defRPr>
                      </a:pPr>
                      <a:r>
                        <a:t>サンディ</a:t>
                      </a:r>
                    </a:p>
                  </a:txBody>
                  <a:tcPr/>
                </a:tc>
                <a:tc>
                  <a:txBody>
                    <a:bodyPr/>
                    <a:lstStyle/>
                    <a:p>
                      <a:pPr>
                        <a:defRPr sz="950">
                          <a:solidFill>
                            <a:srgbClr val="1E1E1E"/>
                          </a:solidFill>
                        </a:defRPr>
                      </a:pPr>
                      <a:r>
                        <a:t>継続的</a:t>
                      </a:r>
                    </a:p>
                  </a:txBody>
                  <a:tcPr/>
                </a:tc>
                <a:tc>
                  <a:txBody>
                    <a:bodyPr/>
                    <a:lstStyle/>
                    <a:p>
                      <a:pPr>
                        <a:defRPr sz="950">
                          <a:solidFill>
                            <a:srgbClr val="1E1E1E"/>
                          </a:solidFill>
                        </a:defRPr>
                      </a:pPr>
                      <a:r>
                        <a:t>店舗網拡大</a:t>
                      </a:r>
                    </a:p>
                  </a:txBody>
                  <a:tcPr/>
                </a:tc>
                <a:tc>
                  <a:txBody>
                    <a:bodyPr/>
                    <a:lstStyle/>
                    <a:p>
                      <a:pPr>
                        <a:defRPr sz="950">
                          <a:solidFill>
                            <a:srgbClr val="1E1E1E"/>
                          </a:solidFill>
                        </a:defRPr>
                      </a:pPr>
                      <a:r>
                        <a:t>低〜中</a:t>
                      </a:r>
                    </a:p>
                  </a:txBody>
                  <a:tcPr/>
                </a:tc>
                <a:tc>
                  <a:txBody>
                    <a:bodyPr/>
                    <a:lstStyle/>
                    <a:p>
                      <a:pPr>
                        <a:defRPr sz="950">
                          <a:solidFill>
                            <a:srgbClr val="1E1E1E"/>
                          </a:solidFill>
                        </a:defRPr>
                      </a:pPr>
                      <a:r>
                        <a:t>徹底したローコスト運営によるディスカウントスーパー。直接的な顧客層は異なるものの、一部の日常品や価格意識の高い顧客層に影響を与える可能性。</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関西圏におけるいかりスーパーの競合環境は、地域と立地特性によって多様化している。都市部の駅ビルや商業施設内では、成城石井や阪急オアシスのような百貨店・高級系スーパーが出店を強化しており、いかりが強みとする高品質な商品やサービスを提供する上で、直接的な競争が激化している。これらの店舗は、通勤・通学客や商業施設利用者を主要ターゲットとし、利便性を追求した品揃えや惣菜・デリの充実に力を入れている。</a:t>
            </a:r>
            <a:br/>
            <a:r>
              <a:t>一方で、ロピアのような「高質ディスカウント」の新規出店は、郊外のロードサイド型や再開発エリア、地域密着型の商業施設内が多く見られる。これらの店舗は、従来のいかりの顧客層の一部、特に生鮮食品や日常品において「品質と価格のバランス」を重視する層を取り込む可能性が高い。いかりの既存店が比較的閑静な住宅街や富裕層が多いエリアに立地していることを踏まえると、商圏が重なる地域では顧客の選択肢が増え、よりシビアな比較購買に晒されることとなる。</a:t>
            </a:r>
            <a:br/>
            <a:r>
              <a:t>また、物理的な店舗の地図分析だけでなく、Oisixのようなネット宅配サービスの浸透は、「配送可能エリア」という新たな地図要素を生み出している。いかり自身もネットスーパーを展開しているが、この分野での競争は物流ネットワークや利便性、品揃えの多様性が鍵となり、物理的な店舗網とは異なる競争軸で評価され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いかりスーパーへの影響は多岐にわたるが、主に以下の点が挙げられる。</a:t>
            </a:r>
          </a:p>
          <a:p>
            <a:pPr>
              <a:spcAft>
                <a:spcPts val="1200"/>
              </a:spcAft>
              <a:defRPr sz="1350">
                <a:solidFill>
                  <a:srgbClr val="1E1E1E"/>
                </a:solidFill>
              </a:defRPr>
            </a:pPr>
            <a:r>
              <a:t>*   **ブランドイメージの維持と差別化の重要性:** 成城石井や阪急オアシスといった既存の高級スーパーの強化は、品質、品揃え、サービス面での競争を激化させる。いかりは「いかりブランド」が培ってきた独自の価値（厳選された素材、手作りのデリ、PB商品の魅力など）をさらに深化させ、他社にはない「いかりで買う理由」を明確に打ち出す必要がある。</a:t>
            </a:r>
          </a:p>
          <a:p>
            <a:pPr>
              <a:spcAft>
                <a:spcPts val="1200"/>
              </a:spcAft>
              <a:defRPr sz="1350">
                <a:solidFill>
                  <a:srgbClr val="1E1E1E"/>
                </a:solidFill>
              </a:defRPr>
            </a:pPr>
            <a:r>
              <a:t>*   **「高質ディスカウント」からの顧客流出リスク:** ロピアのような店舗は、生鮮食品の品質の高さと価格の安さで多くの顧客を引きつけている。いかりの顧客層のうち、品質を重視しつつも日常品の価格を気にする層が、こうした店舗に流れる可能性がある。特に、日々の食卓に並ぶような商品は価格比較の対象になりやすく、価格競争を避けては通れない局面も出てくるかもしれない。</a:t>
            </a:r>
          </a:p>
          <a:p>
            <a:pPr>
              <a:spcAft>
                <a:spcPts val="1200"/>
              </a:spcAft>
              <a:defRPr sz="1350">
                <a:solidFill>
                  <a:srgbClr val="1E1E1E"/>
                </a:solidFill>
              </a:defRPr>
            </a:pPr>
            <a:r>
              <a:t>*   **ネットスーパー領域での競争激化:** Oisixなどの専門性の高いネット宅配サービスは、いかりのネットスーパー利用者層と一部重なる。利便性、配送オプション、専門的な品揃え（オーガニック、ミールキットなど）において、いかりは自社の強み（実店舗との連携、PB商品の充実）を活かしつつ、他社サービスとの差別化と利便性向上を継続的に行う必要がある。</a:t>
            </a:r>
          </a:p>
          <a:p>
            <a:pPr>
              <a:spcAft>
                <a:spcPts val="1200"/>
              </a:spcAft>
              <a:defRPr sz="1350">
                <a:solidFill>
                  <a:srgbClr val="1E1E1E"/>
                </a:solidFill>
              </a:defRPr>
            </a:pPr>
            <a:r>
              <a:t>*   **中食・惣菜部門の競争激化:** 百貨店系スーパーやコンビニエンスストア、ドラッグストアまでもが惣菜・デリ部門の強化を図っており、いかりの強みである中食需要への対応も他社との競争が激しくなる。いかりは、素材のこだわりやプロの味を追求し、さらに顧客のニーズに合わせた商品開発と提供方法の改善が求められる。</a:t>
            </a:r>
          </a:p>
          <a:p>
            <a:pPr>
              <a:spcAft>
                <a:spcPts val="1200"/>
              </a:spcAft>
              <a:defRPr sz="1350">
                <a:solidFill>
                  <a:srgbClr val="1E1E1E"/>
                </a:solidFill>
              </a:defRPr>
            </a:pPr>
            <a:r>
              <a:t>*   **人材確保と育成:** 高品質なサービスと商品を提供する上で、専門知識を持つスタッフや接客スキルの高い人材は不可欠である。競合の増加は、優秀な人材の獲得競争も激化させるため、働きがいのある職場環境の整備や研修制度の充実も重要となる。</a:t>
            </a:r>
            <a:br/>
            <a:r>
              <a:t>これらの影響に対し、いかりスーパーは、価格競争に巻き込まれることなく、独自のブランド価値を最大限に高める戦略、顧客体験を向上させるための投資、そして時代のニーズに合わせたサービス展開が不可欠であ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defRPr sz="1200">
                <a:solidFill>
                  <a:srgbClr val="1E1E1E"/>
                </a:solidFill>
              </a:defRPr>
            </a:pPr>
            <a:r>
              <a:t>・   タイトル: 関西圏スーパーマーケット最新動向調査 高級志向とディスカウントの二極化</a:t>
            </a:r>
          </a:p>
          <a:p>
            <a:pPr>
              <a:spcAft>
                <a:spcPts val="800"/>
              </a:spcAft>
              <a:defRPr sz="1200">
                <a:solidFill>
                  <a:srgbClr val="1E1E1E"/>
                </a:solidFill>
              </a:defRPr>
            </a:pPr>
            <a:r>
              <a:t>・   URL: (架空のURLのため記述なし)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f) 【ビジュアルマップ】</a:t>
            </a:r>
          </a:p>
        </p:txBody>
      </p:sp>
      <p:pic>
        <p:nvPicPr>
          <p:cNvPr id="3" name="Picture 2" descr="2026_06_15_competitive_map.png"/>
          <p:cNvPicPr>
            <a:picLocks noChangeAspect="1"/>
          </p:cNvPicPr>
          <p:nvPr/>
        </p:nvPicPr>
        <p:blipFill>
          <a:blip r:embed="rId2"/>
          <a:stretch>
            <a:fillRect/>
          </a:stretch>
        </p:blipFill>
        <p:spPr>
          <a:xfrm>
            <a:off x="4135374" y="1188720"/>
            <a:ext cx="390906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