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ディスカウント型スーパーマーケットの攻勢が大阪府を中心に顕著化しており、特にオーケーは大阪府内で計7店舗の新規出店を計画し、阪急オアシス・関西スーパー連合も「デイリーマート」業態への改装を進めている。これにより、いかりスーパーの価格競争力への影響が懸念される.</a:t>
            </a:r>
          </a:p>
          <a:p>
            <a:pPr>
              <a:spcAft>
                <a:spcPts val="1600"/>
              </a:spcAft>
              <a:defRPr sz="1800">
                <a:solidFill>
                  <a:srgbClr val="1E1E1E"/>
                </a:solidFill>
              </a:defRPr>
            </a:pPr>
            <a:r>
              <a:t>・   高品質スーパーマーケットであるヤマダストアーが2026年今冬に大丸梅田店地下2階に大阪初出店を予定しており、いかりスーパーの主要顧客層と重複する可能性が高い梅田エリアでの競争激化は避けられない. また、2027年春には兵庫県宝塚市にも出店予定であり、高級志向の顧客に対する競合が増える見込みである.</a:t>
            </a:r>
          </a:p>
          <a:p>
            <a:pPr>
              <a:spcAft>
                <a:spcPts val="1600"/>
              </a:spcAft>
              <a:defRPr sz="1800">
                <a:solidFill>
                  <a:srgbClr val="1E1E1E"/>
                </a:solidFill>
              </a:defRPr>
            </a:pPr>
            <a:r>
              <a:t>・   成城石井も2026年6月18日にイオンモール堺北花田店を新規オープンし、高品質なグロサリーや惣菜でいかりスーパーと差別化を図る一方で、同じくこだわりの食を提供するブランドとして競合が強まる.</a:t>
            </a:r>
          </a:p>
          <a:p>
            <a:pPr>
              <a:spcAft>
                <a:spcPts val="1600"/>
              </a:spcAft>
              <a:defRPr sz="1800">
                <a:solidFill>
                  <a:srgbClr val="1E1E1E"/>
                </a:solidFill>
              </a:defRPr>
            </a:pPr>
            <a:r>
              <a:t>・   H2Oリテイリング傘下のイズミヤ・阪急オアシスと関西スーパーマーケットが2026年4月1日付で合併し、「関西フードマーケット」として経営統合されており、これにより経営資源の集中と迅速な意思決定が期待され、より効率的な店舗戦略が展開される可能性がある.</a:t>
            </a:r>
          </a:p>
          <a:p>
            <a:pPr>
              <a:spcAft>
                <a:spcPts val="1600"/>
              </a:spcAft>
              <a:defRPr sz="1800">
                <a:solidFill>
                  <a:srgbClr val="1E1E1E"/>
                </a:solidFill>
              </a:defRPr>
            </a:pPr>
            <a:r>
              <a:t>・   ライフは大阪府内で「緑地公園店」の新規オープン（2026年3月25日）や「（仮称）豊崎店」の新設（2026年8月4日予定）など、大型店舗での品揃えと利便性を強みに出店を強化しており、いかりスーパーの広範な顧客層に影響を与える可能性があ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679268">
                <a:tc>
                  <a:txBody>
                    <a:bodyPr/>
                    <a:lstStyle/>
                    <a:p>
                      <a:pPr>
                        <a:defRPr sz="950">
                          <a:solidFill>
                            <a:srgbClr val="1E1E1E"/>
                          </a:solidFill>
                        </a:defRPr>
                      </a:pPr>
                      <a:r>
                        <a:t>大阪府大阪市西成区</a:t>
                      </a:r>
                    </a:p>
                  </a:txBody>
                  <a:tcPr/>
                </a:tc>
                <a:tc>
                  <a:txBody>
                    <a:bodyPr/>
                    <a:lstStyle/>
                    <a:p>
                      <a:pPr>
                        <a:defRPr sz="950">
                          <a:solidFill>
                            <a:srgbClr val="1E1E1E"/>
                          </a:solidFill>
                        </a:defRPr>
                      </a:pPr>
                      <a:r>
                        <a:t>オーケー 南津守店</a:t>
                      </a:r>
                    </a:p>
                  </a:txBody>
                  <a:tcPr/>
                </a:tc>
                <a:tc>
                  <a:txBody>
                    <a:bodyPr/>
                    <a:lstStyle/>
                    <a:p>
                      <a:pPr>
                        <a:defRPr sz="950">
                          <a:solidFill>
                            <a:srgbClr val="1E1E1E"/>
                          </a:solidFill>
                        </a:defRPr>
                      </a:pPr>
                      <a:r>
                        <a:t>2026年4月15日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「高品質・Everyday Low Price」を掲げ、ナショナルブランド商品の地域一番の安値を目指すディスカウントスーパーの新規出店。</a:t>
                      </a:r>
                    </a:p>
                  </a:txBody>
                  <a:tcPr/>
                </a:tc>
              </a:tr>
              <a:tr h="679268">
                <a:tc>
                  <a:txBody>
                    <a:bodyPr/>
                    <a:lstStyle/>
                    <a:p>
                      <a:pPr>
                        <a:defRPr sz="950">
                          <a:solidFill>
                            <a:srgbClr val="1E1E1E"/>
                          </a:solidFill>
                        </a:defRPr>
                      </a:pPr>
                      <a:r>
                        <a:t>大阪府大阪市東住吉区</a:t>
                      </a:r>
                    </a:p>
                  </a:txBody>
                  <a:tcPr>
                    <a:solidFill>
                      <a:srgbClr val="F5F5F5"/>
                    </a:solidFill>
                  </a:tcPr>
                </a:tc>
                <a:tc>
                  <a:txBody>
                    <a:bodyPr/>
                    <a:lstStyle/>
                    <a:p>
                      <a:pPr>
                        <a:defRPr sz="950">
                          <a:solidFill>
                            <a:srgbClr val="1E1E1E"/>
                          </a:solidFill>
                        </a:defRPr>
                      </a:pPr>
                      <a:r>
                        <a:t>オーケー 今川店</a:t>
                      </a:r>
                    </a:p>
                  </a:txBody>
                  <a:tcPr>
                    <a:solidFill>
                      <a:srgbClr val="F5F5F5"/>
                    </a:solidFill>
                  </a:tcPr>
                </a:tc>
                <a:tc>
                  <a:txBody>
                    <a:bodyPr/>
                    <a:lstStyle/>
                    <a:p>
                      <a:pPr>
                        <a:defRPr sz="950">
                          <a:solidFill>
                            <a:srgbClr val="1E1E1E"/>
                          </a:solidFill>
                        </a:defRPr>
                      </a:pPr>
                      <a:r>
                        <a:t>2026年4月22日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南津守店と同様に、高品質・Everyday Low Priceを方針とするディスカウントスーパーの新規出店。</a:t>
                      </a:r>
                    </a:p>
                  </a:txBody>
                  <a:tcPr>
                    <a:solidFill>
                      <a:srgbClr val="F5F5F5"/>
                    </a:solidFill>
                  </a:tcPr>
                </a:tc>
              </a:tr>
              <a:tr h="679268">
                <a:tc>
                  <a:txBody>
                    <a:bodyPr/>
                    <a:lstStyle/>
                    <a:p>
                      <a:pPr>
                        <a:defRPr sz="950">
                          <a:solidFill>
                            <a:srgbClr val="1E1E1E"/>
                          </a:solidFill>
                        </a:defRPr>
                      </a:pPr>
                      <a:r>
                        <a:t>大阪府大東市</a:t>
                      </a:r>
                    </a:p>
                  </a:txBody>
                  <a:tcPr/>
                </a:tc>
                <a:tc>
                  <a:txBody>
                    <a:bodyPr/>
                    <a:lstStyle/>
                    <a:p>
                      <a:pPr>
                        <a:defRPr sz="950">
                          <a:solidFill>
                            <a:srgbClr val="1E1E1E"/>
                          </a:solidFill>
                        </a:defRPr>
                      </a:pPr>
                      <a:r>
                        <a:t>オーケー 大東新田西町店</a:t>
                      </a:r>
                    </a:p>
                  </a:txBody>
                  <a:tcPr/>
                </a:tc>
                <a:tc>
                  <a:txBody>
                    <a:bodyPr/>
                    <a:lstStyle/>
                    <a:p>
                      <a:pPr>
                        <a:defRPr sz="950">
                          <a:solidFill>
                            <a:srgbClr val="1E1E1E"/>
                          </a:solidFill>
                        </a:defRPr>
                      </a:pPr>
                      <a:r>
                        <a:t>2026年5月中旬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大阪府内でのオーケーの積極的な店舗展開の一環として新規出店。</a:t>
                      </a:r>
                    </a:p>
                  </a:txBody>
                  <a:tcPr/>
                </a:tc>
              </a:tr>
              <a:tr h="679268">
                <a:tc>
                  <a:txBody>
                    <a:bodyPr/>
                    <a:lstStyle/>
                    <a:p>
                      <a:pPr>
                        <a:defRPr sz="950">
                          <a:solidFill>
                            <a:srgbClr val="1E1E1E"/>
                          </a:solidFill>
                        </a:defRPr>
                      </a:pPr>
                      <a:r>
                        <a:t>大阪府豊中市</a:t>
                      </a:r>
                    </a:p>
                  </a:txBody>
                  <a:tcPr>
                    <a:solidFill>
                      <a:srgbClr val="F5F5F5"/>
                    </a:solidFill>
                  </a:tcPr>
                </a:tc>
                <a:tc>
                  <a:txBody>
                    <a:bodyPr/>
                    <a:lstStyle/>
                    <a:p>
                      <a:pPr>
                        <a:defRPr sz="950">
                          <a:solidFill>
                            <a:srgbClr val="1E1E1E"/>
                          </a:solidFill>
                        </a:defRPr>
                      </a:pPr>
                      <a:r>
                        <a:t>オーケー 豊中穂積店</a:t>
                      </a:r>
                    </a:p>
                  </a:txBody>
                  <a:tcPr>
                    <a:solidFill>
                      <a:srgbClr val="F5F5F5"/>
                    </a:solidFill>
                  </a:tcPr>
                </a:tc>
                <a:tc>
                  <a:txBody>
                    <a:bodyPr/>
                    <a:lstStyle/>
                    <a:p>
                      <a:pPr>
                        <a:defRPr sz="950">
                          <a:solidFill>
                            <a:srgbClr val="1E1E1E"/>
                          </a:solidFill>
                        </a:defRPr>
                      </a:pPr>
                      <a:r>
                        <a:t>2026年5月下旬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大阪府内でのオーケーの積極的な店舗展開の一環として新規出店。</a:t>
                      </a:r>
                    </a:p>
                  </a:txBody>
                  <a:tcPr>
                    <a:solidFill>
                      <a:srgbClr val="F5F5F5"/>
                    </a:solidFill>
                  </a:tcPr>
                </a:tc>
              </a:tr>
              <a:tr h="679272">
                <a:tc>
                  <a:txBody>
                    <a:bodyPr/>
                    <a:lstStyle/>
                    <a:p>
                      <a:pPr>
                        <a:defRPr sz="950">
                          <a:solidFill>
                            <a:srgbClr val="1E1E1E"/>
                          </a:solidFill>
                        </a:defRPr>
                      </a:pPr>
                      <a:r>
                        <a:t>大阪府高槻市</a:t>
                      </a:r>
                    </a:p>
                  </a:txBody>
                  <a:tcPr/>
                </a:tc>
                <a:tc>
                  <a:txBody>
                    <a:bodyPr/>
                    <a:lstStyle/>
                    <a:p>
                      <a:pPr>
                        <a:defRPr sz="950">
                          <a:solidFill>
                            <a:srgbClr val="1E1E1E"/>
                          </a:solidFill>
                        </a:defRPr>
                      </a:pPr>
                      <a:r>
                        <a:t>オーケー 高槻赤大路店</a:t>
                      </a:r>
                    </a:p>
                  </a:txBody>
                  <a:tcPr/>
                </a:tc>
                <a:tc>
                  <a:txBody>
                    <a:bodyPr/>
                    <a:lstStyle/>
                    <a:p>
                      <a:pPr>
                        <a:defRPr sz="950">
                          <a:solidFill>
                            <a:srgbClr val="1E1E1E"/>
                          </a:solidFill>
                        </a:defRPr>
                      </a:pPr>
                      <a:r>
                        <a:t>2026年8月下旬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大阪府内でのオーケーの積極的な店舗展開の一環として新規出店。</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(2ページ目)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大阪府</a:t>
                      </a:r>
                    </a:p>
                  </a:txBody>
                  <a:tcPr>
                    <a:solidFill>
                      <a:srgbClr val="F5F5F5"/>
                    </a:solidFill>
                  </a:tcPr>
                </a:tc>
                <a:tc>
                  <a:txBody>
                    <a:bodyPr/>
                    <a:lstStyle/>
                    <a:p>
                      <a:pPr>
                        <a:defRPr sz="950">
                          <a:solidFill>
                            <a:srgbClr val="1E1E1E"/>
                          </a:solidFill>
                        </a:defRPr>
                      </a:pPr>
                      <a:r>
                        <a:t>オーケー 長吉店</a:t>
                      </a:r>
                    </a:p>
                  </a:txBody>
                  <a:tcPr>
                    <a:solidFill>
                      <a:srgbClr val="F5F5F5"/>
                    </a:solidFill>
                  </a:tcPr>
                </a:tc>
                <a:tc>
                  <a:txBody>
                    <a:bodyPr/>
                    <a:lstStyle/>
                    <a:p>
                      <a:pPr>
                        <a:defRPr sz="950">
                          <a:solidFill>
                            <a:srgbClr val="1E1E1E"/>
                          </a:solidFill>
                        </a:defRPr>
                      </a:pPr>
                      <a:r>
                        <a:t>2026年11月中旬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大阪府内でのオーケーの積極的な店舗展開の一環として新規出店。</a:t>
                      </a:r>
                    </a:p>
                  </a:txBody>
                  <a:tcPr>
                    <a:solidFill>
                      <a:srgbClr val="F5F5F5"/>
                    </a:solidFill>
                  </a:tcPr>
                </a:tc>
              </a:tr>
              <a:tr h="679268">
                <a:tc>
                  <a:txBody>
                    <a:bodyPr/>
                    <a:lstStyle/>
                    <a:p>
                      <a:pPr>
                        <a:defRPr sz="950">
                          <a:solidFill>
                            <a:srgbClr val="1E1E1E"/>
                          </a:solidFill>
                        </a:defRPr>
                      </a:pPr>
                      <a:r>
                        <a:t>兵庫県神戸市中央区</a:t>
                      </a:r>
                    </a:p>
                  </a:txBody>
                  <a:tcPr/>
                </a:tc>
                <a:tc>
                  <a:txBody>
                    <a:bodyPr/>
                    <a:lstStyle/>
                    <a:p>
                      <a:pPr>
                        <a:defRPr sz="950">
                          <a:solidFill>
                            <a:srgbClr val="1E1E1E"/>
                          </a:solidFill>
                        </a:defRPr>
                      </a:pPr>
                      <a:r>
                        <a:t>ロピア ブルメールHAT神戸店</a:t>
                      </a:r>
                    </a:p>
                  </a:txBody>
                  <a:tcPr/>
                </a:tc>
                <a:tc>
                  <a:txBody>
                    <a:bodyPr/>
                    <a:lstStyle/>
                    <a:p>
                      <a:pPr>
                        <a:defRPr sz="950">
                          <a:solidFill>
                            <a:srgbClr val="1E1E1E"/>
                          </a:solidFill>
                        </a:defRPr>
                      </a:pPr>
                      <a:r>
                        <a:t>2026年2月11日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神戸市内3店舗目となる新規出店で、関西エリアでのロピアの存在感を強化。</a:t>
                      </a:r>
                    </a:p>
                  </a:txBody>
                  <a:tcPr/>
                </a:tc>
              </a:tr>
              <a:tr h="679268">
                <a:tc>
                  <a:txBody>
                    <a:bodyPr/>
                    <a:lstStyle/>
                    <a:p>
                      <a:pPr>
                        <a:defRPr sz="950">
                          <a:solidFill>
                            <a:srgbClr val="1E1E1E"/>
                          </a:solidFill>
                        </a:defRPr>
                      </a:pPr>
                      <a:r>
                        <a:t>大阪府堺市内</a:t>
                      </a:r>
                    </a:p>
                  </a:txBody>
                  <a:tcPr>
                    <a:solidFill>
                      <a:srgbClr val="F5F5F5"/>
                    </a:solidFill>
                  </a:tcPr>
                </a:tc>
                <a:tc>
                  <a:txBody>
                    <a:bodyPr/>
                    <a:lstStyle/>
                    <a:p>
                      <a:pPr>
                        <a:defRPr sz="950">
                          <a:solidFill>
                            <a:srgbClr val="1E1E1E"/>
                          </a:solidFill>
                        </a:defRPr>
                      </a:pPr>
                      <a:r>
                        <a:t>ロピア 大阪堺市内3店舗目</a:t>
                      </a:r>
                    </a:p>
                  </a:txBody>
                  <a:tcPr>
                    <a:solidFill>
                      <a:srgbClr val="F5F5F5"/>
                    </a:solidFill>
                  </a:tcPr>
                </a:tc>
                <a:tc>
                  <a:txBody>
                    <a:bodyPr/>
                    <a:lstStyle/>
                    <a:p>
                      <a:pPr>
                        <a:defRPr sz="950">
                          <a:solidFill>
                            <a:srgbClr val="1E1E1E"/>
                          </a:solidFill>
                        </a:defRPr>
                      </a:pPr>
                      <a:r>
                        <a:t>2026年内</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大阪堺市内における3店舗目の出店であり、関西エリアでのロピアの出店拡大が続く。</a:t>
                      </a:r>
                    </a:p>
                  </a:txBody>
                  <a:tcPr>
                    <a:solidFill>
                      <a:srgbClr val="F5F5F5"/>
                    </a:solidFill>
                  </a:tcPr>
                </a:tc>
              </a:tr>
              <a:tr h="679268">
                <a:tc>
                  <a:txBody>
                    <a:bodyPr/>
                    <a:lstStyle/>
                    <a:p>
                      <a:pPr>
                        <a:defRPr sz="950">
                          <a:solidFill>
                            <a:srgbClr val="1E1E1E"/>
                          </a:solidFill>
                        </a:defRPr>
                      </a:pPr>
                      <a:r>
                        <a:t>大阪府吹田市</a:t>
                      </a:r>
                    </a:p>
                  </a:txBody>
                  <a:tcPr/>
                </a:tc>
                <a:tc>
                  <a:txBody>
                    <a:bodyPr/>
                    <a:lstStyle/>
                    <a:p>
                      <a:pPr>
                        <a:defRPr sz="950">
                          <a:solidFill>
                            <a:srgbClr val="1E1E1E"/>
                          </a:solidFill>
                        </a:defRPr>
                      </a:pPr>
                      <a:r>
                        <a:t>阪急オアシス 北千里店</a:t>
                      </a:r>
                    </a:p>
                  </a:txBody>
                  <a:tcPr/>
                </a:tc>
                <a:tc>
                  <a:txBody>
                    <a:bodyPr/>
                    <a:lstStyle/>
                    <a:p>
                      <a:pPr>
                        <a:defRPr sz="950">
                          <a:solidFill>
                            <a:srgbClr val="1E1E1E"/>
                          </a:solidFill>
                        </a:defRPr>
                      </a:pPr>
                      <a:r>
                        <a:t>2026年3月25日</a:t>
                      </a:r>
                    </a:p>
                  </a:txBody>
                  <a:tcPr/>
                </a:tc>
                <a:tc>
                  <a:txBody>
                    <a:bodyPr/>
                    <a:lstStyle/>
                    <a:p>
                      <a:pPr>
                        <a:defRPr sz="950">
                          <a:solidFill>
                            <a:srgbClr val="1E1E1E"/>
                          </a:solidFill>
                        </a:defRPr>
                      </a:pPr>
                      <a:r>
                        <a:t>改装リニューアル</a:t>
                      </a:r>
                    </a:p>
                  </a:txBody>
                  <a:tcPr/>
                </a:tc>
                <a:tc>
                  <a:txBody>
                    <a:bodyPr/>
                    <a:lstStyle/>
                    <a:p>
                      <a:pPr>
                        <a:defRPr sz="950">
                          <a:solidFill>
                            <a:srgbClr val="1E1E1E"/>
                          </a:solidFill>
                        </a:defRPr>
                      </a:pPr>
                      <a:r>
                        <a:t>中</a:t>
                      </a:r>
                    </a:p>
                  </a:txBody>
                  <a:tcPr/>
                </a:tc>
                <a:tc>
                  <a:txBody>
                    <a:bodyPr/>
                    <a:lstStyle/>
                    <a:p>
                      <a:pPr>
                        <a:defRPr sz="950">
                          <a:solidFill>
                            <a:srgbClr val="1E1E1E"/>
                          </a:solidFill>
                        </a:defRPr>
                      </a:pPr>
                      <a:r>
                        <a:t>「価値訴求型」と「価格訴求型」の2つのフォーマットを融合したハイブリッド型店舗「阪急オアシスMarché」へ業態転換し、品揃えを強化。</a:t>
                      </a:r>
                    </a:p>
                  </a:txBody>
                  <a:tcPr/>
                </a:tc>
              </a:tr>
              <a:tr h="679268">
                <a:tc>
                  <a:txBody>
                    <a:bodyPr/>
                    <a:lstStyle/>
                    <a:p>
                      <a:pPr>
                        <a:defRPr sz="950">
                          <a:solidFill>
                            <a:srgbClr val="1E1E1E"/>
                          </a:solidFill>
                        </a:defRPr>
                      </a:pPr>
                      <a:r>
                        <a:t>大阪府吹田市</a:t>
                      </a:r>
                    </a:p>
                  </a:txBody>
                  <a:tcPr>
                    <a:solidFill>
                      <a:srgbClr val="F5F5F5"/>
                    </a:solidFill>
                  </a:tcPr>
                </a:tc>
                <a:tc>
                  <a:txBody>
                    <a:bodyPr/>
                    <a:lstStyle/>
                    <a:p>
                      <a:pPr>
                        <a:defRPr sz="950">
                          <a:solidFill>
                            <a:srgbClr val="1E1E1E"/>
                          </a:solidFill>
                        </a:defRPr>
                      </a:pPr>
                      <a:r>
                        <a:t>阪急オアシスデイリーマート 吹田SST店</a:t>
                      </a:r>
                    </a:p>
                  </a:txBody>
                  <a:tcPr>
                    <a:solidFill>
                      <a:srgbClr val="F5F5F5"/>
                    </a:solidFill>
                  </a:tcPr>
                </a:tc>
                <a:tc>
                  <a:txBody>
                    <a:bodyPr/>
                    <a:lstStyle/>
                    <a:p>
                      <a:pPr>
                        <a:defRPr sz="950">
                          <a:solidFill>
                            <a:srgbClr val="1E1E1E"/>
                          </a:solidFill>
                        </a:defRPr>
                      </a:pPr>
                      <a:r>
                        <a:t>2026年5月23日</a:t>
                      </a:r>
                    </a:p>
                  </a:txBody>
                  <a:tcPr>
                    <a:solidFill>
                      <a:srgbClr val="F5F5F5"/>
                    </a:solidFill>
                  </a:tcPr>
                </a:tc>
                <a:tc>
                  <a:txBody>
                    <a:bodyPr/>
                    <a:lstStyle/>
                    <a:p>
                      <a:pPr>
                        <a:defRPr sz="950">
                          <a:solidFill>
                            <a:srgbClr val="1E1E1E"/>
                          </a:solidFill>
                        </a:defRPr>
                      </a:pPr>
                      <a:r>
                        <a:t>改装リニューアル</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価格訴求型の「デイリーマート」タイプへ業態転換し、低価格商品を拡充。</a:t>
                      </a:r>
                    </a:p>
                  </a:txBody>
                  <a:tcPr>
                    <a:solidFill>
                      <a:srgbClr val="F5F5F5"/>
                    </a:solidFill>
                  </a:tcPr>
                </a:tc>
              </a:tr>
              <a:tr h="679272">
                <a:tc>
                  <a:txBody>
                    <a:bodyPr/>
                    <a:lstStyle/>
                    <a:p>
                      <a:pPr>
                        <a:defRPr sz="950">
                          <a:solidFill>
                            <a:srgbClr val="1E1E1E"/>
                          </a:solidFill>
                        </a:defRPr>
                      </a:pPr>
                      <a:r>
                        <a:t>大阪府池田市</a:t>
                      </a:r>
                    </a:p>
                  </a:txBody>
                  <a:tcPr/>
                </a:tc>
                <a:tc>
                  <a:txBody>
                    <a:bodyPr/>
                    <a:lstStyle/>
                    <a:p>
                      <a:pPr>
                        <a:defRPr sz="950">
                          <a:solidFill>
                            <a:srgbClr val="1E1E1E"/>
                          </a:solidFill>
                        </a:defRPr>
                      </a:pPr>
                      <a:r>
                        <a:t>阪急オアシスマルシェ 池田駅前店</a:t>
                      </a:r>
                    </a:p>
                  </a:txBody>
                  <a:tcPr/>
                </a:tc>
                <a:tc>
                  <a:txBody>
                    <a:bodyPr/>
                    <a:lstStyle/>
                    <a:p>
                      <a:pPr>
                        <a:defRPr sz="950">
                          <a:solidFill>
                            <a:srgbClr val="1E1E1E"/>
                          </a:solidFill>
                        </a:defRPr>
                      </a:pPr>
                      <a:r>
                        <a:t>2026年4月17日</a:t>
                      </a:r>
                    </a:p>
                  </a:txBody>
                  <a:tcPr/>
                </a:tc>
                <a:tc>
                  <a:txBody>
                    <a:bodyPr/>
                    <a:lstStyle/>
                    <a:p>
                      <a:pPr>
                        <a:defRPr sz="950">
                          <a:solidFill>
                            <a:srgbClr val="1E1E1E"/>
                          </a:solidFill>
                        </a:defRPr>
                      </a:pPr>
                      <a:r>
                        <a:t>新規出店（移転リニューアル）</a:t>
                      </a:r>
                    </a:p>
                  </a:txBody>
                  <a:tcPr/>
                </a:tc>
                <a:tc>
                  <a:txBody>
                    <a:bodyPr/>
                    <a:lstStyle/>
                    <a:p>
                      <a:pPr>
                        <a:defRPr sz="950">
                          <a:solidFill>
                            <a:srgbClr val="1E1E1E"/>
                          </a:solidFill>
                        </a:defRPr>
                      </a:pPr>
                      <a:r>
                        <a:t>中</a:t>
                      </a:r>
                    </a:p>
                  </a:txBody>
                  <a:tcPr/>
                </a:tc>
                <a:tc>
                  <a:txBody>
                    <a:bodyPr/>
                    <a:lstStyle/>
                    <a:p>
                      <a:pPr>
                        <a:defRPr sz="950">
                          <a:solidFill>
                            <a:srgbClr val="1E1E1E"/>
                          </a:solidFill>
                        </a:defRPr>
                      </a:pPr>
                      <a:r>
                        <a:t>旧店舗から移転し、阪急オアシスの新たな旗艦店としてオープン。</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(3ページ目)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大阪府池田市</a:t>
                      </a:r>
                    </a:p>
                  </a:txBody>
                  <a:tcPr>
                    <a:solidFill>
                      <a:srgbClr val="F5F5F5"/>
                    </a:solidFill>
                  </a:tcPr>
                </a:tc>
                <a:tc>
                  <a:txBody>
                    <a:bodyPr/>
                    <a:lstStyle/>
                    <a:p>
                      <a:pPr>
                        <a:defRPr sz="950">
                          <a:solidFill>
                            <a:srgbClr val="1E1E1E"/>
                          </a:solidFill>
                        </a:defRPr>
                      </a:pPr>
                      <a:r>
                        <a:t>関西スーパーデイリーマート 池田店</a:t>
                      </a:r>
                    </a:p>
                  </a:txBody>
                  <a:tcPr>
                    <a:solidFill>
                      <a:srgbClr val="F5F5F5"/>
                    </a:solidFill>
                  </a:tcPr>
                </a:tc>
                <a:tc>
                  <a:txBody>
                    <a:bodyPr/>
                    <a:lstStyle/>
                    <a:p>
                      <a:pPr>
                        <a:defRPr sz="950">
                          <a:solidFill>
                            <a:srgbClr val="1E1E1E"/>
                          </a:solidFill>
                        </a:defRPr>
                      </a:pPr>
                      <a:r>
                        <a:t>2026年4月28日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旧阪急オアシス池田店の跡地に、価格訴求型の新業態としてオープンし、地域密着型低価格戦略を展開。</a:t>
                      </a:r>
                    </a:p>
                  </a:txBody>
                  <a:tcPr>
                    <a:solidFill>
                      <a:srgbClr val="F5F5F5"/>
                    </a:solidFill>
                  </a:tcPr>
                </a:tc>
              </a:tr>
              <a:tr h="679268">
                <a:tc>
                  <a:txBody>
                    <a:bodyPr/>
                    <a:lstStyle/>
                    <a:p>
                      <a:pPr>
                        <a:defRPr sz="950">
                          <a:solidFill>
                            <a:srgbClr val="1E1E1E"/>
                          </a:solidFill>
                        </a:defRPr>
                      </a:pPr>
                      <a:r>
                        <a:t>大阪府富田林市</a:t>
                      </a:r>
                    </a:p>
                  </a:txBody>
                  <a:tcPr/>
                </a:tc>
                <a:tc>
                  <a:txBody>
                    <a:bodyPr/>
                    <a:lstStyle/>
                    <a:p>
                      <a:pPr>
                        <a:defRPr sz="950">
                          <a:solidFill>
                            <a:srgbClr val="1E1E1E"/>
                          </a:solidFill>
                        </a:defRPr>
                      </a:pPr>
                      <a:r>
                        <a:t>関西スーパー デイリーマート 富田林駅前店</a:t>
                      </a:r>
                    </a:p>
                  </a:txBody>
                  <a:tcPr/>
                </a:tc>
                <a:tc>
                  <a:txBody>
                    <a:bodyPr/>
                    <a:lstStyle/>
                    <a:p>
                      <a:pPr>
                        <a:defRPr sz="950">
                          <a:solidFill>
                            <a:srgbClr val="1E1E1E"/>
                          </a:solidFill>
                        </a:defRPr>
                      </a:pPr>
                      <a:r>
                        <a:t>2026年3月12日</a:t>
                      </a:r>
                    </a:p>
                  </a:txBody>
                  <a:tcPr/>
                </a:tc>
                <a:tc>
                  <a:txBody>
                    <a:bodyPr/>
                    <a:lstStyle/>
                    <a:p>
                      <a:pPr>
                        <a:defRPr sz="950">
                          <a:solidFill>
                            <a:srgbClr val="1E1E1E"/>
                          </a:solidFill>
                        </a:defRPr>
                      </a:pPr>
                      <a:r>
                        <a:t>改装リニューアル</a:t>
                      </a:r>
                    </a:p>
                  </a:txBody>
                  <a:tcPr/>
                </a:tc>
                <a:tc>
                  <a:txBody>
                    <a:bodyPr/>
                    <a:lstStyle/>
                    <a:p>
                      <a:pPr>
                        <a:defRPr sz="950">
                          <a:solidFill>
                            <a:srgbClr val="1E1E1E"/>
                          </a:solidFill>
                        </a:defRPr>
                      </a:pPr>
                      <a:r>
                        <a:t>中</a:t>
                      </a:r>
                    </a:p>
                  </a:txBody>
                  <a:tcPr/>
                </a:tc>
                <a:tc>
                  <a:txBody>
                    <a:bodyPr/>
                    <a:lstStyle/>
                    <a:p>
                      <a:pPr>
                        <a:defRPr sz="950">
                          <a:solidFill>
                            <a:srgbClr val="1E1E1E"/>
                          </a:solidFill>
                        </a:defRPr>
                      </a:pPr>
                      <a:r>
                        <a:t>価格訴求型の「デイリーマート」タイプへ業態転換し、「毎日がもっとお買い得。」をコンセプトに低価格戦略を強化。</a:t>
                      </a:r>
                    </a:p>
                  </a:txBody>
                  <a:tcPr/>
                </a:tc>
              </a:tr>
              <a:tr h="679268">
                <a:tc>
                  <a:txBody>
                    <a:bodyPr/>
                    <a:lstStyle/>
                    <a:p>
                      <a:pPr>
                        <a:defRPr sz="950">
                          <a:solidFill>
                            <a:srgbClr val="1E1E1E"/>
                          </a:solidFill>
                        </a:defRPr>
                      </a:pPr>
                      <a:r>
                        <a:t>兵庫県</a:t>
                      </a:r>
                    </a:p>
                  </a:txBody>
                  <a:tcPr>
                    <a:solidFill>
                      <a:srgbClr val="F5F5F5"/>
                    </a:solidFill>
                  </a:tcPr>
                </a:tc>
                <a:tc>
                  <a:txBody>
                    <a:bodyPr/>
                    <a:lstStyle/>
                    <a:p>
                      <a:pPr>
                        <a:defRPr sz="950">
                          <a:solidFill>
                            <a:srgbClr val="1E1E1E"/>
                          </a:solidFill>
                        </a:defRPr>
                      </a:pPr>
                      <a:r>
                        <a:t>関西スーパーデイリーマート 広田店</a:t>
                      </a:r>
                    </a:p>
                  </a:txBody>
                  <a:tcPr>
                    <a:solidFill>
                      <a:srgbClr val="F5F5F5"/>
                    </a:solidFill>
                  </a:tcPr>
                </a:tc>
                <a:tc>
                  <a:txBody>
                    <a:bodyPr/>
                    <a:lstStyle/>
                    <a:p>
                      <a:pPr>
                        <a:defRPr sz="950">
                          <a:solidFill>
                            <a:srgbClr val="1E1E1E"/>
                          </a:solidFill>
                        </a:defRPr>
                      </a:pPr>
                      <a:r>
                        <a:t>2026年6月12日</a:t>
                      </a:r>
                    </a:p>
                  </a:txBody>
                  <a:tcPr>
                    <a:solidFill>
                      <a:srgbClr val="F5F5F5"/>
                    </a:solidFill>
                  </a:tcPr>
                </a:tc>
                <a:tc>
                  <a:txBody>
                    <a:bodyPr/>
                    <a:lstStyle/>
                    <a:p>
                      <a:pPr>
                        <a:defRPr sz="950">
                          <a:solidFill>
                            <a:srgbClr val="1E1E1E"/>
                          </a:solidFill>
                        </a:defRPr>
                      </a:pPr>
                      <a:r>
                        <a:t>改装リニューアル</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価格訴求型の「デイリーマート」タイプへの業態転換により、低価格帯での競争力を強化していると推測される。</a:t>
                      </a:r>
                    </a:p>
                  </a:txBody>
                  <a:tcPr>
                    <a:solidFill>
                      <a:srgbClr val="F5F5F5"/>
                    </a:solidFill>
                  </a:tcPr>
                </a:tc>
              </a:tr>
              <a:tr h="679268">
                <a:tc>
                  <a:txBody>
                    <a:bodyPr/>
                    <a:lstStyle/>
                    <a:p>
                      <a:pPr>
                        <a:defRPr sz="950">
                          <a:solidFill>
                            <a:srgbClr val="1E1E1E"/>
                          </a:solidFill>
                        </a:defRPr>
                      </a:pPr>
                      <a:r>
                        <a:t>大阪府</a:t>
                      </a:r>
                    </a:p>
                  </a:txBody>
                  <a:tcPr/>
                </a:tc>
                <a:tc>
                  <a:txBody>
                    <a:bodyPr/>
                    <a:lstStyle/>
                    <a:p>
                      <a:pPr>
                        <a:defRPr sz="950">
                          <a:solidFill>
                            <a:srgbClr val="1E1E1E"/>
                          </a:solidFill>
                        </a:defRPr>
                      </a:pPr>
                      <a:r>
                        <a:t>関西スーパーデイリーマート 大和田店</a:t>
                      </a:r>
                    </a:p>
                  </a:txBody>
                  <a:tcPr/>
                </a:tc>
                <a:tc>
                  <a:txBody>
                    <a:bodyPr/>
                    <a:lstStyle/>
                    <a:p>
                      <a:pPr>
                        <a:defRPr sz="950">
                          <a:solidFill>
                            <a:srgbClr val="1E1E1E"/>
                          </a:solidFill>
                        </a:defRPr>
                      </a:pPr>
                      <a:r>
                        <a:t>2026年5月29日</a:t>
                      </a:r>
                    </a:p>
                  </a:txBody>
                  <a:tcPr/>
                </a:tc>
                <a:tc>
                  <a:txBody>
                    <a:bodyPr/>
                    <a:lstStyle/>
                    <a:p>
                      <a:pPr>
                        <a:defRPr sz="950">
                          <a:solidFill>
                            <a:srgbClr val="1E1E1E"/>
                          </a:solidFill>
                        </a:defRPr>
                      </a:pPr>
                      <a:r>
                        <a:t>改装リニューアル</a:t>
                      </a:r>
                    </a:p>
                  </a:txBody>
                  <a:tcPr/>
                </a:tc>
                <a:tc>
                  <a:txBody>
                    <a:bodyPr/>
                    <a:lstStyle/>
                    <a:p>
                      <a:pPr>
                        <a:defRPr sz="950">
                          <a:solidFill>
                            <a:srgbClr val="1E1E1E"/>
                          </a:solidFill>
                        </a:defRPr>
                      </a:pPr>
                      <a:r>
                        <a:t>中</a:t>
                      </a:r>
                    </a:p>
                  </a:txBody>
                  <a:tcPr/>
                </a:tc>
                <a:tc>
                  <a:txBody>
                    <a:bodyPr/>
                    <a:lstStyle/>
                    <a:p>
                      <a:pPr>
                        <a:defRPr sz="950">
                          <a:solidFill>
                            <a:srgbClr val="1E1E1E"/>
                          </a:solidFill>
                        </a:defRPr>
                      </a:pPr>
                      <a:r>
                        <a:t>価格訴求型の「デイリーマート」タイプへの業態転換により、低価格帯での競争力を強化していると推測される。</a:t>
                      </a:r>
                    </a:p>
                  </a:txBody>
                  <a:tcPr/>
                </a:tc>
              </a:tr>
              <a:tr h="679268">
                <a:tc>
                  <a:txBody>
                    <a:bodyPr/>
                    <a:lstStyle/>
                    <a:p>
                      <a:pPr>
                        <a:defRPr sz="950">
                          <a:solidFill>
                            <a:srgbClr val="1E1E1E"/>
                          </a:solidFill>
                        </a:defRPr>
                      </a:pPr>
                      <a:r>
                        <a:t>大阪府</a:t>
                      </a:r>
                    </a:p>
                  </a:txBody>
                  <a:tcPr>
                    <a:solidFill>
                      <a:srgbClr val="F5F5F5"/>
                    </a:solidFill>
                  </a:tcPr>
                </a:tc>
                <a:tc>
                  <a:txBody>
                    <a:bodyPr/>
                    <a:lstStyle/>
                    <a:p>
                      <a:pPr>
                        <a:defRPr sz="950">
                          <a:solidFill>
                            <a:srgbClr val="1E1E1E"/>
                          </a:solidFill>
                        </a:defRPr>
                      </a:pPr>
                      <a:r>
                        <a:t>阪急オアシス 服部西店</a:t>
                      </a:r>
                    </a:p>
                  </a:txBody>
                  <a:tcPr>
                    <a:solidFill>
                      <a:srgbClr val="F5F5F5"/>
                    </a:solidFill>
                  </a:tcPr>
                </a:tc>
                <a:tc>
                  <a:txBody>
                    <a:bodyPr/>
                    <a:lstStyle/>
                    <a:p>
                      <a:pPr>
                        <a:defRPr sz="950">
                          <a:solidFill>
                            <a:srgbClr val="1E1E1E"/>
                          </a:solidFill>
                        </a:defRPr>
                      </a:pPr>
                      <a:r>
                        <a:t>2026年7月7日～16日</a:t>
                      </a:r>
                    </a:p>
                  </a:txBody>
                  <a:tcPr>
                    <a:solidFill>
                      <a:srgbClr val="F5F5F5"/>
                    </a:solidFill>
                  </a:tcPr>
                </a:tc>
                <a:tc>
                  <a:txBody>
                    <a:bodyPr/>
                    <a:lstStyle/>
                    <a:p>
                      <a:pPr>
                        <a:defRPr sz="950">
                          <a:solidFill>
                            <a:srgbClr val="1E1E1E"/>
                          </a:solidFill>
                        </a:defRPr>
                      </a:pPr>
                      <a:r>
                        <a:t>臨時休業</a:t>
                      </a:r>
                    </a:p>
                  </a:txBody>
                  <a:tcPr>
                    <a:solidFill>
                      <a:srgbClr val="F5F5F5"/>
                    </a:solidFill>
                  </a:tcPr>
                </a:tc>
                <a:tc>
                  <a:txBody>
                    <a:bodyPr/>
                    <a:lstStyle/>
                    <a:p>
                      <a:pPr>
                        <a:defRPr sz="950">
                          <a:solidFill>
                            <a:srgbClr val="1E1E1E"/>
                          </a:solidFill>
                        </a:defRPr>
                      </a:pPr>
                      <a:r>
                        <a:t>小</a:t>
                      </a:r>
                    </a:p>
                  </a:txBody>
                  <a:tcPr>
                    <a:solidFill>
                      <a:srgbClr val="F5F5F5"/>
                    </a:solidFill>
                  </a:tcPr>
                </a:tc>
                <a:tc>
                  <a:txBody>
                    <a:bodyPr/>
                    <a:lstStyle/>
                    <a:p>
                      <a:pPr>
                        <a:defRPr sz="950">
                          <a:solidFill>
                            <a:srgbClr val="1E1E1E"/>
                          </a:solidFill>
                        </a:defRPr>
                      </a:pPr>
                      <a:r>
                        <a:t>詳細不明だが、改装などの可能性があり、顧客の利便性に一時的な影響を与える。</a:t>
                      </a:r>
                    </a:p>
                  </a:txBody>
                  <a:tcPr>
                    <a:solidFill>
                      <a:srgbClr val="F5F5F5"/>
                    </a:solidFill>
                  </a:tcPr>
                </a:tc>
              </a:tr>
              <a:tr h="679272">
                <a:tc>
                  <a:txBody>
                    <a:bodyPr/>
                    <a:lstStyle/>
                    <a:p>
                      <a:pPr>
                        <a:defRPr sz="950">
                          <a:solidFill>
                            <a:srgbClr val="1E1E1E"/>
                          </a:solidFill>
                        </a:defRPr>
                      </a:pPr>
                      <a:r>
                        <a:t>大阪府</a:t>
                      </a:r>
                    </a:p>
                  </a:txBody>
                  <a:tcPr/>
                </a:tc>
                <a:tc>
                  <a:txBody>
                    <a:bodyPr/>
                    <a:lstStyle/>
                    <a:p>
                      <a:pPr>
                        <a:defRPr sz="950">
                          <a:solidFill>
                            <a:srgbClr val="1E1E1E"/>
                          </a:solidFill>
                        </a:defRPr>
                      </a:pPr>
                      <a:r>
                        <a:t>阪急オアシス 豊中駅前店</a:t>
                      </a:r>
                    </a:p>
                  </a:txBody>
                  <a:tcPr/>
                </a:tc>
                <a:tc>
                  <a:txBody>
                    <a:bodyPr/>
                    <a:lstStyle/>
                    <a:p>
                      <a:pPr>
                        <a:defRPr sz="950">
                          <a:solidFill>
                            <a:srgbClr val="1E1E1E"/>
                          </a:solidFill>
                        </a:defRPr>
                      </a:pPr>
                      <a:r>
                        <a:t>2026年6月16日～25日</a:t>
                      </a:r>
                    </a:p>
                  </a:txBody>
                  <a:tcPr/>
                </a:tc>
                <a:tc>
                  <a:txBody>
                    <a:bodyPr/>
                    <a:lstStyle/>
                    <a:p>
                      <a:pPr>
                        <a:defRPr sz="950">
                          <a:solidFill>
                            <a:srgbClr val="1E1E1E"/>
                          </a:solidFill>
                        </a:defRPr>
                      </a:pPr>
                      <a:r>
                        <a:t>臨時休業</a:t>
                      </a:r>
                    </a:p>
                  </a:txBody>
                  <a:tcPr/>
                </a:tc>
                <a:tc>
                  <a:txBody>
                    <a:bodyPr/>
                    <a:lstStyle/>
                    <a:p>
                      <a:pPr>
                        <a:defRPr sz="950">
                          <a:solidFill>
                            <a:srgbClr val="1E1E1E"/>
                          </a:solidFill>
                        </a:defRPr>
                      </a:pPr>
                      <a:r>
                        <a:t>小</a:t>
                      </a:r>
                    </a:p>
                  </a:txBody>
                  <a:tcPr/>
                </a:tc>
                <a:tc>
                  <a:txBody>
                    <a:bodyPr/>
                    <a:lstStyle/>
                    <a:p>
                      <a:pPr>
                        <a:defRPr sz="950">
                          <a:solidFill>
                            <a:srgbClr val="1E1E1E"/>
                          </a:solidFill>
                        </a:defRPr>
                      </a:pPr>
                      <a:r>
                        <a:t>詳細不明だが、改装などの可能性があり、顧客の利便性に一時的な影響を与える。</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(4ページ目)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79248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792480">
                <a:tc>
                  <a:txBody>
                    <a:bodyPr/>
                    <a:lstStyle/>
                    <a:p>
                      <a:pPr>
                        <a:defRPr sz="950">
                          <a:solidFill>
                            <a:srgbClr val="1E1E1E"/>
                          </a:solidFill>
                        </a:defRPr>
                      </a:pPr>
                      <a:r>
                        <a:t>大阪府大阪市北区</a:t>
                      </a:r>
                    </a:p>
                  </a:txBody>
                  <a:tcPr>
                    <a:solidFill>
                      <a:srgbClr val="F5F5F5"/>
                    </a:solidFill>
                  </a:tcPr>
                </a:tc>
                <a:tc>
                  <a:txBody>
                    <a:bodyPr/>
                    <a:lstStyle/>
                    <a:p>
                      <a:pPr>
                        <a:defRPr sz="950">
                          <a:solidFill>
                            <a:srgbClr val="1E1E1E"/>
                          </a:solidFill>
                        </a:defRPr>
                      </a:pPr>
                      <a:r>
                        <a:t>ヤマダストアー 大阪 梅田店</a:t>
                      </a:r>
                    </a:p>
                  </a:txBody>
                  <a:tcPr>
                    <a:solidFill>
                      <a:srgbClr val="F5F5F5"/>
                    </a:solidFill>
                  </a:tcPr>
                </a:tc>
                <a:tc>
                  <a:txBody>
                    <a:bodyPr/>
                    <a:lstStyle/>
                    <a:p>
                      <a:pPr>
                        <a:defRPr sz="950">
                          <a:solidFill>
                            <a:srgbClr val="1E1E1E"/>
                          </a:solidFill>
                        </a:defRPr>
                      </a:pPr>
                      <a:r>
                        <a:t>2026年今冬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大丸梅田店地下2階への大阪初出店で、高品質・オーガニック製品に強みを持つスーパーが百貨店という立地で高価格帯市場に参入。</a:t>
                      </a:r>
                    </a:p>
                  </a:txBody>
                  <a:tcPr>
                    <a:solidFill>
                      <a:srgbClr val="F5F5F5"/>
                    </a:solidFill>
                  </a:tcPr>
                </a:tc>
              </a:tr>
              <a:tr h="792480">
                <a:tc>
                  <a:txBody>
                    <a:bodyPr/>
                    <a:lstStyle/>
                    <a:p>
                      <a:pPr>
                        <a:defRPr sz="950">
                          <a:solidFill>
                            <a:srgbClr val="1E1E1E"/>
                          </a:solidFill>
                        </a:defRPr>
                      </a:pPr>
                      <a:r>
                        <a:t>兵庫県宝塚市</a:t>
                      </a:r>
                    </a:p>
                  </a:txBody>
                  <a:tcPr/>
                </a:tc>
                <a:tc>
                  <a:txBody>
                    <a:bodyPr/>
                    <a:lstStyle/>
                    <a:p>
                      <a:pPr>
                        <a:defRPr sz="950">
                          <a:solidFill>
                            <a:srgbClr val="1E1E1E"/>
                          </a:solidFill>
                        </a:defRPr>
                      </a:pPr>
                      <a:r>
                        <a:t>ヤマダストアー 宝塚店（仮称）</a:t>
                      </a:r>
                    </a:p>
                  </a:txBody>
                  <a:tcPr/>
                </a:tc>
                <a:tc>
                  <a:txBody>
                    <a:bodyPr/>
                    <a:lstStyle/>
                    <a:p>
                      <a:pPr>
                        <a:defRPr sz="950">
                          <a:solidFill>
                            <a:srgbClr val="1E1E1E"/>
                          </a:solidFill>
                        </a:defRPr>
                      </a:pPr>
                      <a:r>
                        <a:t>2027年春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兵庫県南西部を中心に展開する高品質スーパーマーケットの宝塚エリアへの進出。</a:t>
                      </a:r>
                    </a:p>
                  </a:txBody>
                  <a:tcPr/>
                </a:tc>
              </a:tr>
              <a:tr h="792480">
                <a:tc>
                  <a:txBody>
                    <a:bodyPr/>
                    <a:lstStyle/>
                    <a:p>
                      <a:pPr>
                        <a:defRPr sz="950">
                          <a:solidFill>
                            <a:srgbClr val="1E1E1E"/>
                          </a:solidFill>
                        </a:defRPr>
                      </a:pPr>
                      <a:r>
                        <a:t>大阪府堺市北区</a:t>
                      </a:r>
                    </a:p>
                  </a:txBody>
                  <a:tcPr>
                    <a:solidFill>
                      <a:srgbClr val="F5F5F5"/>
                    </a:solidFill>
                  </a:tcPr>
                </a:tc>
                <a:tc>
                  <a:txBody>
                    <a:bodyPr/>
                    <a:lstStyle/>
                    <a:p>
                      <a:pPr>
                        <a:defRPr sz="950">
                          <a:solidFill>
                            <a:srgbClr val="1E1E1E"/>
                          </a:solidFill>
                        </a:defRPr>
                      </a:pPr>
                      <a:r>
                        <a:t>成城石井 イオンモール堺北花田店</a:t>
                      </a:r>
                    </a:p>
                  </a:txBody>
                  <a:tcPr>
                    <a:solidFill>
                      <a:srgbClr val="F5F5F5"/>
                    </a:solidFill>
                  </a:tcPr>
                </a:tc>
                <a:tc>
                  <a:txBody>
                    <a:bodyPr/>
                    <a:lstStyle/>
                    <a:p>
                      <a:pPr>
                        <a:defRPr sz="950">
                          <a:solidFill>
                            <a:srgbClr val="1E1E1E"/>
                          </a:solidFill>
                        </a:defRPr>
                      </a:pPr>
                      <a:r>
                        <a:t>2026年6月18日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厳選された高品質なグロサリー・惣菜に強みを持つスーパーがイオンモール内に出店。</a:t>
                      </a:r>
                    </a:p>
                  </a:txBody>
                  <a:tcPr>
                    <a:solidFill>
                      <a:srgbClr val="F5F5F5"/>
                    </a:solidFill>
                  </a:tcPr>
                </a:tc>
              </a:tr>
              <a:tr h="792480">
                <a:tc>
                  <a:txBody>
                    <a:bodyPr/>
                    <a:lstStyle/>
                    <a:p>
                      <a:pPr>
                        <a:defRPr sz="950">
                          <a:solidFill>
                            <a:srgbClr val="1E1E1E"/>
                          </a:solidFill>
                        </a:defRPr>
                      </a:pPr>
                      <a:r>
                        <a:t>大阪府（北摂エリア）</a:t>
                      </a:r>
                    </a:p>
                  </a:txBody>
                  <a:tcPr/>
                </a:tc>
                <a:tc>
                  <a:txBody>
                    <a:bodyPr/>
                    <a:lstStyle/>
                    <a:p>
                      <a:pPr>
                        <a:defRPr sz="950">
                          <a:solidFill>
                            <a:srgbClr val="1E1E1E"/>
                          </a:solidFill>
                        </a:defRPr>
                      </a:pPr>
                      <a:r>
                        <a:t>ライフ 緑地公園店</a:t>
                      </a:r>
                    </a:p>
                  </a:txBody>
                  <a:tcPr/>
                </a:tc>
                <a:tc>
                  <a:txBody>
                    <a:bodyPr/>
                    <a:lstStyle/>
                    <a:p>
                      <a:pPr>
                        <a:defRPr sz="950">
                          <a:solidFill>
                            <a:srgbClr val="1E1E1E"/>
                          </a:solidFill>
                        </a:defRPr>
                      </a:pPr>
                      <a:r>
                        <a:t>2026年3月25日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食料品・日用品・衣料品を揃えた大型スーパーの新規出店で、地域住民の広範なニーズに対応。</a:t>
                      </a:r>
                    </a:p>
                  </a:txBody>
                  <a:tcPr/>
                </a:tc>
              </a:tr>
              <a:tr h="792480">
                <a:tc>
                  <a:txBody>
                    <a:bodyPr/>
                    <a:lstStyle/>
                    <a:p>
                      <a:pPr>
                        <a:defRPr sz="950">
                          <a:solidFill>
                            <a:srgbClr val="1E1E1E"/>
                          </a:solidFill>
                        </a:defRPr>
                      </a:pPr>
                      <a:r>
                        <a:t>大阪府大阪市北区</a:t>
                      </a:r>
                    </a:p>
                  </a:txBody>
                  <a:tcPr>
                    <a:solidFill>
                      <a:srgbClr val="F5F5F5"/>
                    </a:solidFill>
                  </a:tcPr>
                </a:tc>
                <a:tc>
                  <a:txBody>
                    <a:bodyPr/>
                    <a:lstStyle/>
                    <a:p>
                      <a:pPr>
                        <a:defRPr sz="950">
                          <a:solidFill>
                            <a:srgbClr val="1E1E1E"/>
                          </a:solidFill>
                        </a:defRPr>
                      </a:pPr>
                      <a:r>
                        <a:t>ライフ （仮称）豊崎店</a:t>
                      </a:r>
                    </a:p>
                  </a:txBody>
                  <a:tcPr>
                    <a:solidFill>
                      <a:srgbClr val="F5F5F5"/>
                    </a:solidFill>
                  </a:tcPr>
                </a:tc>
                <a:tc>
                  <a:txBody>
                    <a:bodyPr/>
                    <a:lstStyle/>
                    <a:p>
                      <a:pPr>
                        <a:defRPr sz="950">
                          <a:solidFill>
                            <a:srgbClr val="1E1E1E"/>
                          </a:solidFill>
                        </a:defRPr>
                      </a:pPr>
                      <a:r>
                        <a:t>2026年8月4日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大阪市北区でのライフの店舗網強化を図るための新規出店。</a:t>
                      </a:r>
                    </a:p>
                  </a:txBody>
                  <a:tcPr>
                    <a:solidFill>
                      <a:srgbClr val="F5F5F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いかりスーパーは兵庫県と大阪府を中心に高級スーパーを展開しており、既存店舗は主に住宅地の富裕層や駅前立地が多いと推測されます。今回の競合動向を見ると、以下の地理的傾向が確認できます。</a:t>
            </a:r>
          </a:p>
          <a:p>
            <a:pPr>
              <a:spcAft>
                <a:spcPts val="1400"/>
              </a:spcAft>
              <a:defRPr sz="1400">
                <a:solidFill>
                  <a:srgbClr val="1E1E1E"/>
                </a:solidFill>
              </a:defRPr>
            </a:pPr>
            <a:r>
              <a:t>*   **大阪市内中心部・北部への集中**: オーケーが大阪市西成区（南津守）、東住吉区（今川）、大東市、豊中市、高槻市、長吉と広範囲に新規出店を進めているほか、ライフも大阪市北区（豊崎）、北摂エリア（緑地公園）に出店しています。また、ヤマダストアーは梅田、成城石井は堺北花田と、大阪府内の主要な商業地や住宅地に進出しています。これらのエリアはいかりスーパーの既存店舗と競合する可能性が高いです。特に梅田は高感度な顧客が多いエリアであり、ヤマダストアーの進出は直接的な脅威となりえます.</a:t>
            </a:r>
          </a:p>
          <a:p>
            <a:pPr>
              <a:spcAft>
                <a:spcPts val="1400"/>
              </a:spcAft>
              <a:defRPr sz="1400">
                <a:solidFill>
                  <a:srgbClr val="1E1E1E"/>
                </a:solidFill>
              </a:defRPr>
            </a:pPr>
            <a:r>
              <a:t>*   **阪神間・北摂エリアの競争激化**: 兵庫県ではロピアがHAT神戸に、ヤマダストアーが宝塚に新規出店を予定しています。また、阪急オアシスは吹田（北千里、吹田SST）、池田（池田駅前）で改装や移転リニューアルを実施し、関西スーパーデイリーマートも池田、富田林、広田、大和田で価格訴求型店舗への転換を進めています. これらの地域は、いかりスーパーが多くの店舗を展開する阪神間や大阪北摂エリアと重なり、特に価格帯と品質の両面での競争が激しくなることが予想されます。</a:t>
            </a:r>
            <a:br/>
            <a:r>
              <a:t>全体として、競合各社は大阪府内、特に中心部や北摂エリア、そして兵庫県の阪神間において、新規出店や既存店の業態転換を活発化させており、いかりスーパーの既存店舗網に対する影響は広範囲に及ぶと分析され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上記競合の動向は、いかりスーパーの経営に以下の具体的な影響を及ぼす可能性があります。</a:t>
            </a:r>
          </a:p>
          <a:p>
            <a:pPr>
              <a:spcAft>
                <a:spcPts val="1200"/>
              </a:spcAft>
              <a:defRPr sz="1350">
                <a:solidFill>
                  <a:srgbClr val="1E1E1E"/>
                </a:solidFill>
              </a:defRPr>
            </a:pPr>
            <a:r>
              <a:t>*   **価格競争の激化による粗利率への圧力**: オーケーや関西スーパーの「デイリーマート」業態など、価格訴求型スーパーマーケットの出店・改装が大阪府内で急増しています. 例えば、いかりスーパーの大阪市内の店舗（例：いかり帝塚山店、いかり芦屋店など）は、近隣のオーケー店舗やデイリーマート化した関西スーパー店舗からの低価格攻勢に直面し、顧客流出を防ぐために価格戦略の見直しやプロモーション強化を迫られる可能性があります。これにより、粗利率の低下や販促費の増加がいかりスーパー全体の収益を圧迫する懸念があります。</a:t>
            </a:r>
          </a:p>
          <a:p>
            <a:pPr>
              <a:spcAft>
                <a:spcPts val="1200"/>
              </a:spcAft>
              <a:defRPr sz="1350">
                <a:solidFill>
                  <a:srgbClr val="1E1E1E"/>
                </a:solidFill>
              </a:defRPr>
            </a:pPr>
            <a:r>
              <a:t>*   **高品質・高価格帯市場での競合激化**: ヤマダストアーが梅田（大丸梅田店）に、成城石井が堺北花田（イオンモール堺北花田店）にそれぞれ出店することは、いかりスーパーが強みとする高品質・高価格帯市場での直接的な競合となります. 特に、いかり梅田店やいかりJR大阪店など、梅田エリアの既存店舗は、ヤマダストアーの進出により、高品質な食品を求める顧客層を奪われる可能性があります。成城石井も都市部のショッピングセンター立地でこだわり商品を展開することで、いかりスーパーの顧客接点を奪う可能性があります。</a:t>
            </a:r>
          </a:p>
          <a:p>
            <a:pPr>
              <a:spcAft>
                <a:spcPts val="1200"/>
              </a:spcAft>
              <a:defRPr sz="1350">
                <a:solidFill>
                  <a:srgbClr val="1E1E1E"/>
                </a:solidFill>
              </a:defRPr>
            </a:pPr>
            <a:r>
              <a:t>*   **H2Oリテイリンググループによる顧客囲い込みの強化**: イズミヤ・阪急オアシスと関西スーパーマーケットの合併により、H2Oリテイリンググループは「関西フードマーケット」として、より効率的で多様な業態戦略を展開できるようになります. 「阪急オアシスMarché」や「関西スーパーデイリーマート」といった多角的な店舗展開は、いかりスーパーの顧客が競合他社へ流れる要因となるでしょう。例えば、いかり豊中店やいかり吹田店などの近隣に、リニューアルした阪急オアシスや関西スーパーデイリーマートが存在する場合、価格志向の顧客は「デイリーマート」へ、高品質と利便性を求める顧客は「マルシェ」へと分散する可能性があります。</a:t>
            </a:r>
          </a:p>
          <a:p>
            <a:pPr>
              <a:spcAft>
                <a:spcPts val="1200"/>
              </a:spcAft>
              <a:defRPr sz="1350">
                <a:solidFill>
                  <a:srgbClr val="1E1E1E"/>
                </a:solidFill>
              </a:defRPr>
            </a:pPr>
            <a:r>
              <a:t>*   **ライフによる広範な顧客獲得**: ライフの大型店舗出店戦略は、いかりスーパーが持つ「ちょっと良いもの」を求める層から「日常使い」の層まで、幅広い顧客層をターゲットにしているため、広範な影響が予想されます. 例えば、いかり緑地公園店やいかり豊中店などの近隣にライフの新規店舗がオープンした場合、特に品揃えの豊富さやワンストップショッピングの利便性で顧客が流出する可能性があります。</a:t>
            </a:r>
            <a:br/>
            <a:r>
              <a:t>以上の競合環境の変化に対し、いかりスーパーは、これまでの「質の高いマーチャンダイジング（MD）力、サービスレベル」 をさらに磨き上げ、「お客さんに一番喜んでいただける食生活の提供」 という基本コンセプトを具現化するための戦略、例えば、より一層のプライベートブランド強化、限定商品の導入、顧客体験価値を高めるサービス（個別提案、料理教室など）の提供、オンライン販売の強化などが必要不可欠と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defRPr sz="1200">
                <a:solidFill>
                  <a:srgbClr val="1E1E1E"/>
                </a:solidFill>
              </a:defRPr>
            </a:pPr>
            <a:r>
              <a:t>・   オーケーが25年兵庫に出す5店を公表 26年には大阪に7店出店 激流オンライン</a:t>
            </a:r>
          </a:p>
          <a:p>
            <a:pPr>
              <a:spcAft>
                <a:spcPts val="800"/>
              </a:spcAft>
              <a:defRPr sz="1200">
                <a:solidFill>
                  <a:srgbClr val="1E1E1E"/>
                </a:solidFill>
              </a:defRPr>
            </a:pPr>
            <a:r>
              <a:t>・   【2026年最新】ロピア関西出店予定まとめ！神戸・大阪の新店舗情報を解説 RICO's diary</a:t>
            </a:r>
          </a:p>
          <a:p>
            <a:pPr>
              <a:spcAft>
                <a:spcPts val="800"/>
              </a:spcAft>
              <a:defRPr sz="1200">
                <a:solidFill>
                  <a:srgbClr val="1E1E1E"/>
                </a:solidFill>
              </a:defRPr>
            </a:pPr>
            <a:r>
              <a:t>・   オーケーnews｜'26年度関西7店舗出店､4/15南津守店､4/22今川店オープン</a:t>
            </a:r>
          </a:p>
          <a:p>
            <a:pPr>
              <a:spcAft>
                <a:spcPts val="800"/>
              </a:spcAft>
              <a:defRPr sz="1200">
                <a:solidFill>
                  <a:srgbClr val="1E1E1E"/>
                </a:solidFill>
              </a:defRPr>
            </a:pPr>
            <a:r>
              <a:t>・   宝塚市の敷地１・１㌶超に商業店舗を計画／２６年２月に着工／ヤマダストアー | 建設ニュース</a:t>
            </a:r>
          </a:p>
          <a:p>
            <a:pPr>
              <a:spcAft>
                <a:spcPts val="800"/>
              </a:spcAft>
              <a:defRPr sz="1200">
                <a:solidFill>
                  <a:srgbClr val="1E1E1E"/>
                </a:solidFill>
              </a:defRPr>
            </a:pPr>
            <a:r>
              <a:t>・   ディスカウント・スーパーマーケット「オーケー南津守店（関西8号店）」2026年4月15日(水)、 「オーケー今川店（関西9号店）」 2026年4月22日(水) 連続出店！ ～2026年は大阪府での展開を加速します！～ |</a:t>
            </a:r>
          </a:p>
          <a:p>
            <a:pPr>
              <a:spcAft>
                <a:spcPts val="800"/>
              </a:spcAft>
              <a:defRPr sz="1200">
                <a:solidFill>
                  <a:srgbClr val="1E1E1E"/>
                </a:solidFill>
              </a:defRPr>
            </a:pPr>
            <a:r>
              <a:t>・   ヤマダストアー Wikipedia</a:t>
            </a:r>
          </a:p>
          <a:p>
            <a:pPr>
              <a:spcAft>
                <a:spcPts val="800"/>
              </a:spcAft>
              <a:defRPr sz="1200">
                <a:solidFill>
                  <a:srgbClr val="1E1E1E"/>
                </a:solidFill>
              </a:defRPr>
            </a:pPr>
            <a:r>
              <a:t>・   関東発激安スーパー「オーケー」大阪2店舗目開店へ！安さ以外の特徴も…実際に買ってみた</a:t>
            </a:r>
          </a:p>
          <a:p>
            <a:pPr>
              <a:spcAft>
                <a:spcPts val="800"/>
              </a:spcAft>
              <a:defRPr sz="1200">
                <a:solidFill>
                  <a:srgbClr val="1E1E1E"/>
                </a:solidFill>
              </a:defRPr>
            </a:pPr>
            <a:r>
              <a:t>・   【吹田】阪急オアシス北千里店が店舗改装のため一時休業へ。リニューアル後はハイブリッド型店舗に | 「Enjoy EXPO」</a:t>
            </a:r>
          </a:p>
          <a:p>
            <a:pPr>
              <a:spcAft>
                <a:spcPts val="800"/>
              </a:spcAft>
              <a:defRPr sz="1200">
                <a:solidFill>
                  <a:srgbClr val="1E1E1E"/>
                </a:solidFill>
              </a:defRPr>
            </a:pPr>
            <a:r>
              <a:t>・   ディスカウント・スーパーマーケット「オーケー」 大阪府での展開を加速！5月に「大東新田西町店」「豊中穂積店」を連続出店 ～2026年度は大阪府内に計7店舗の出店を予定</a:t>
            </a:r>
          </a:p>
          <a:p>
            <a:pPr>
              <a:spcAft>
                <a:spcPts val="800"/>
              </a:spcAft>
              <a:defRPr sz="1200">
                <a:solidFill>
                  <a:srgbClr val="1E1E1E"/>
                </a:solidFill>
              </a:defRPr>
            </a:pPr>
            <a:r>
              <a:t>・   【大丸梅田店地２階食品フロア大規模刷新！】兵庫県で人気の「ヤマダストアー」が2026年今冬、大阪初出店！～百貨店の食品売場が新たなステージへ～ | 株式会社 大丸松坂屋百貨店のプレスリリース PR TIMES</a:t>
            </a:r>
          </a:p>
          <a:p>
            <a:pPr>
              <a:spcAft>
                <a:spcPts val="800"/>
              </a:spcAft>
              <a:defRPr sz="1200">
                <a:solidFill>
                  <a:srgbClr val="1E1E1E"/>
                </a:solidFill>
              </a:defRPr>
            </a:pPr>
            <a:r>
              <a:t>・   関西フードマーケットnews｜阪急オアシスデイリーマート吹田SST店改装開店</a:t>
            </a:r>
          </a:p>
          <a:p>
            <a:pPr>
              <a:spcAft>
                <a:spcPts val="800"/>
              </a:spcAft>
              <a:defRPr sz="1200">
                <a:solidFill>
                  <a:srgbClr val="1E1E1E"/>
                </a:solidFill>
              </a:defRPr>
            </a:pPr>
            <a:r>
              <a:t>・   ヤマダストアーが西宮に2026年春にオープン！店舗スタッフ募集中 「買い物は投票です」</a:t>
            </a:r>
          </a:p>
          <a:p>
            <a:pPr>
              <a:spcAft>
                <a:spcPts val="800"/>
              </a:spcAft>
              <a:defRPr sz="1200">
                <a:solidFill>
                  <a:srgbClr val="1E1E1E"/>
                </a:solidFill>
              </a:defRPr>
            </a:pPr>
            <a:r>
              <a:t>・   サンシティ地下の阪急オアシスは関西スーパーデイリーマート池田店として4/28(火)にリニューアルするみたい。</a:t>
            </a:r>
          </a:p>
          <a:p>
            <a:pPr>
              <a:spcAft>
                <a:spcPts val="800"/>
              </a:spcAft>
              <a:defRPr sz="1200">
                <a:solidFill>
                  <a:srgbClr val="1E1E1E"/>
                </a:solidFill>
              </a:defRPr>
            </a:pPr>
            <a:r>
              <a:t>・   阪急オアシス: HANKYU OASIS</a:t>
            </a:r>
          </a:p>
          <a:p>
            <a:pPr>
              <a:spcAft>
                <a:spcPts val="800"/>
              </a:spcAft>
              <a:defRPr sz="1200">
                <a:solidFill>
                  <a:srgbClr val="1E1E1E"/>
                </a:solidFill>
              </a:defRPr>
            </a:pPr>
            <a:r>
              <a:t>・   「阪急オアシスマルシェ池田駅前店」にリニューアルオープン 跡地は「関西スーパーデイリーマート」へ</a:t>
            </a:r>
          </a:p>
          <a:p>
            <a:pPr>
              <a:spcAft>
                <a:spcPts val="800"/>
              </a:spcAft>
              <a:defRPr sz="1200">
                <a:solidFill>
                  <a:srgbClr val="1E1E1E"/>
                </a:solidFill>
              </a:defRPr>
            </a:pPr>
            <a:r>
              <a:t>・   「関西スーパー デイリーマート富田林駅前店」リニューアルオープンのお知らせ</a:t>
            </a:r>
          </a:p>
          <a:p>
            <a:pPr>
              <a:spcAft>
                <a:spcPts val="800"/>
              </a:spcAft>
              <a:defRPr sz="1200">
                <a:solidFill>
                  <a:srgbClr val="1E1E1E"/>
                </a:solidFill>
              </a:defRPr>
            </a:pPr>
            <a:r>
              <a:t>・   ヤマダストアー宝塚店 2027年春開業！テナントは？最新情報も！ 出店ウォッチ</a:t>
            </a:r>
          </a:p>
          <a:p>
            <a:pPr>
              <a:spcAft>
                <a:spcPts val="800"/>
              </a:spcAft>
              <a:defRPr sz="1200">
                <a:solidFill>
                  <a:srgbClr val="1E1E1E"/>
                </a:solidFill>
              </a:defRPr>
            </a:pPr>
            <a:r>
              <a:t>・   お知らせ｜関西スーパー～いつも暮らしの近くにいます～​</a:t>
            </a:r>
          </a:p>
          <a:p>
            <a:pPr>
              <a:spcAft>
                <a:spcPts val="800"/>
              </a:spcAft>
              <a:defRPr sz="1200">
                <a:solidFill>
                  <a:srgbClr val="1E1E1E"/>
                </a:solidFill>
              </a:defRPr>
            </a:pPr>
            <a:r>
              <a:t>・   神戸市内で2026年にかけて『スーパー開店ラッシュ』。「オーケー」「ハローズ」が初進出、「ロピア」4年ぶり新店</a:t>
            </a:r>
          </a:p>
          <a:p>
            <a:pPr>
              <a:spcAft>
                <a:spcPts val="800"/>
              </a:spcAft>
              <a:defRPr sz="1200">
                <a:solidFill>
                  <a:srgbClr val="1E1E1E"/>
                </a:solidFill>
              </a:defRPr>
            </a:pPr>
            <a:r>
              <a:t>・   成城石井／「イオンモール堺北花田店」6月18日オープン | 流通ニュース</a:t>
            </a:r>
          </a:p>
          <a:p>
            <a:pPr>
              <a:spcAft>
                <a:spcPts val="800"/>
              </a:spcAft>
              <a:defRPr sz="1200">
                <a:solidFill>
                  <a:srgbClr val="1E1E1E"/>
                </a:solidFill>
              </a:defRPr>
            </a:pPr>
            <a:r>
              <a:t>・   ニュースリリース 株式会社関西フードマーケット</a:t>
            </a:r>
          </a:p>
          <a:p>
            <a:pPr>
              <a:spcAft>
                <a:spcPts val="800"/>
              </a:spcAft>
              <a:defRPr sz="1200">
                <a:solidFill>
                  <a:srgbClr val="1E1E1E"/>
                </a:solidFill>
              </a:defRPr>
            </a:pPr>
            <a:r>
              <a:t>・   ロピア、大阪堺市内3店舗目をオープン 激流オンライン | 流通業界の国内・海外ニュース</a:t>
            </a:r>
          </a:p>
          <a:p>
            <a:pPr>
              <a:spcAft>
                <a:spcPts val="800"/>
              </a:spcAft>
              <a:defRPr sz="1200">
                <a:solidFill>
                  <a:srgbClr val="1E1E1E"/>
                </a:solidFill>
              </a:defRPr>
            </a:pPr>
            <a:r>
              <a:t>・   2026年来春にオープンを予定されているみたい！（かつて関西スーパーさんがあったところ） #新規オープン #新店情報 #ロピア #スーパー #ブルメールHAT神戸 | 東灘ジャーナル</a:t>
            </a:r>
          </a:p>
          <a:p>
            <a:pPr>
              <a:spcAft>
                <a:spcPts val="800"/>
              </a:spcAft>
              <a:defRPr sz="1200">
                <a:solidFill>
                  <a:srgbClr val="1E1E1E"/>
                </a:solidFill>
              </a:defRPr>
            </a:pPr>
            <a:r>
              <a:t>・   成城石井 イオンモール堺北花田店｣6/18オープン 流通スーパーニュース</a:t>
            </a:r>
          </a:p>
          <a:p>
            <a:pPr>
              <a:spcAft>
                <a:spcPts val="800"/>
              </a:spcAft>
              <a:defRPr sz="1200">
                <a:solidFill>
                  <a:srgbClr val="1E1E1E"/>
                </a:solidFill>
              </a:defRPr>
            </a:pPr>
            <a:r>
              <a:t>・   2026年 | いかりスーパー</a:t>
            </a:r>
          </a:p>
          <a:p>
            <a:pPr>
              <a:spcAft>
                <a:spcPts val="800"/>
              </a:spcAft>
              <a:defRPr sz="1200">
                <a:solidFill>
                  <a:srgbClr val="1E1E1E"/>
                </a:solidFill>
              </a:defRPr>
            </a:pPr>
            <a:r>
              <a:t>・   ロピア ブルメールHAT神戸店 2026年2月11日オープン！＠関西スーパー跡地</a:t>
            </a:r>
          </a:p>
          <a:p>
            <a:pPr>
              <a:spcAft>
                <a:spcPts val="800"/>
              </a:spcAft>
              <a:defRPr sz="1200">
                <a:solidFill>
                  <a:srgbClr val="1E1E1E"/>
                </a:solidFill>
              </a:defRPr>
            </a:pPr>
            <a:r>
              <a:t>・   2026年ニュースリリース ライフコーポレーション</a:t>
            </a:r>
          </a:p>
          <a:p>
            <a:pPr>
              <a:spcAft>
                <a:spcPts val="800"/>
              </a:spcAft>
              <a:defRPr sz="1200">
                <a:solidFill>
                  <a:srgbClr val="1E1E1E"/>
                </a:solidFill>
              </a:defRPr>
            </a:pPr>
            <a:r>
              <a:t>・   【新店情報】お買い物が、さらに充実！イオンモール堺北花田に「成城石井」のオープン告知を発見 彡 さかにゅー</a:t>
            </a:r>
          </a:p>
          <a:p>
            <a:pPr>
              <a:spcAft>
                <a:spcPts val="800"/>
              </a:spcAft>
              <a:defRPr sz="1200">
                <a:solidFill>
                  <a:srgbClr val="1E1E1E"/>
                </a:solidFill>
              </a:defRPr>
            </a:pPr>
            <a:r>
              <a:t>・   関西スーパー統合へ イズミヤ・阪急オアシスと一本化し「関西フードマーケット」に | DXマガジン</a:t>
            </a:r>
          </a:p>
          <a:p>
            <a:pPr>
              <a:spcAft>
                <a:spcPts val="800"/>
              </a:spcAft>
              <a:defRPr sz="1200">
                <a:solidFill>
                  <a:srgbClr val="1E1E1E"/>
                </a:solidFill>
              </a:defRPr>
            </a:pPr>
            <a:r>
              <a:t>・   2026高島屋 夏の贈りもの｜お中元｜タカシマヤ</a:t>
            </a:r>
          </a:p>
          <a:p>
            <a:pPr>
              <a:spcAft>
                <a:spcPts val="800"/>
              </a:spcAft>
              <a:defRPr sz="1200">
                <a:solidFill>
                  <a:srgbClr val="1E1E1E"/>
                </a:solidFill>
              </a:defRPr>
            </a:pPr>
            <a:r>
              <a:t>・   6/18（木）1F NEW OPEN！「成城石井」 イオンモール堺北花田</a:t>
            </a:r>
          </a:p>
          <a:p>
            <a:pPr>
              <a:spcAft>
                <a:spcPts val="800"/>
              </a:spcAft>
              <a:defRPr sz="1200">
                <a:solidFill>
                  <a:srgbClr val="1E1E1E"/>
                </a:solidFill>
              </a:defRPr>
            </a:pPr>
            <a:r>
              <a:t>・   ラ・メゾン・デュ・ショコラ、高島屋大阪店10周年を記念して2026年6月17日(水)にリロケーションオープン エキサイト</a:t>
            </a:r>
          </a:p>
          <a:p>
            <a:pPr>
              <a:spcAft>
                <a:spcPts val="800"/>
              </a:spcAft>
              <a:defRPr sz="1200">
                <a:solidFill>
                  <a:srgbClr val="1E1E1E"/>
                </a:solidFill>
              </a:defRPr>
            </a:pPr>
            <a:r>
              <a:t>・   成城石井「新モデル店舗」が兵庫に、西日本エリア出店拡大を狙う | Lmaga.jp</a:t>
            </a:r>
          </a:p>
          <a:p>
            <a:pPr>
              <a:spcAft>
                <a:spcPts val="800"/>
              </a:spcAft>
              <a:defRPr sz="1200">
                <a:solidFill>
                  <a:srgbClr val="1E1E1E"/>
                </a:solidFill>
              </a:defRPr>
            </a:pPr>
            <a:r>
              <a:t>・   イズミヤ・阪急オアシス、関西スーパーマーケットを2026年4月1日合併－関西フードマーケットに社名変更、H2O系食品スーパー各社ブランドは維持 | 都市商業研究所</a:t>
            </a:r>
          </a:p>
          <a:p>
            <a:pPr>
              <a:spcAft>
                <a:spcPts val="800"/>
              </a:spcAft>
              <a:defRPr sz="1200">
                <a:solidFill>
                  <a:srgbClr val="1E1E1E"/>
                </a:solidFill>
              </a:defRPr>
            </a:pPr>
            <a:r>
              <a:t>・   ライフ／大阪市北区に「豊崎店」8／4新設、駐車場34台 流通ニュース</a:t>
            </a:r>
          </a:p>
          <a:p>
            <a:pPr>
              <a:spcAft>
                <a:spcPts val="800"/>
              </a:spcAft>
              <a:defRPr sz="1200">
                <a:solidFill>
                  <a:srgbClr val="1E1E1E"/>
                </a:solidFill>
              </a:defRPr>
            </a:pPr>
            <a:r>
              <a:t>・   イズミヤ・阪急オアシスが関スパを吸収合併し「関西フードマーケット」に商号変更へ</a:t>
            </a:r>
          </a:p>
          <a:p>
            <a:pPr>
              <a:spcAft>
                <a:spcPts val="800"/>
              </a:spcAft>
              <a:defRPr sz="1200">
                <a:solidFill>
                  <a:srgbClr val="1E1E1E"/>
                </a:solidFill>
              </a:defRPr>
            </a:pPr>
            <a:r>
              <a:t>・   H2Onews｜'26年4月1日､イズミヤ･阪急オアシスと関西スーパー合併</a:t>
            </a:r>
          </a:p>
          <a:p>
            <a:pPr>
              <a:spcAft>
                <a:spcPts val="800"/>
              </a:spcAft>
              <a:defRPr sz="1200">
                <a:solidFill>
                  <a:srgbClr val="1E1E1E"/>
                </a:solidFill>
              </a:defRPr>
            </a:pPr>
            <a:r>
              <a:t>・   「(株)関西フードマーケット」の商号が「(株)十三フードマーケット」になるみたい。</a:t>
            </a:r>
          </a:p>
          <a:p>
            <a:pPr>
              <a:spcAft>
                <a:spcPts val="800"/>
              </a:spcAft>
              <a:defRPr sz="1200">
                <a:solidFill>
                  <a:srgbClr val="1E1E1E"/>
                </a:solidFill>
              </a:defRPr>
            </a:pPr>
            <a:r>
              <a:t>・   ラ・メゾン・デュ・ショコラ、高島屋大阪店10周年を記念して2026年6月17日（水）にリロケーションオープン | GISELe(ジゼル)</a:t>
            </a:r>
          </a:p>
          <a:p>
            <a:pPr>
              <a:spcAft>
                <a:spcPts val="800"/>
              </a:spcAft>
              <a:defRPr sz="1200">
                <a:solidFill>
                  <a:srgbClr val="1E1E1E"/>
                </a:solidFill>
              </a:defRPr>
            </a:pPr>
            <a:r>
              <a:t>・   高島屋大阪店10周年を記念して 2026年6月17日(水)にリロケーションオープン | ラ・メゾン・デュ・ショコラ・ジャポン株式会社 アットプレス</a:t>
            </a:r>
          </a:p>
          <a:p>
            <a:pPr>
              <a:spcAft>
                <a:spcPts val="800"/>
              </a:spcAft>
              <a:defRPr sz="1200">
                <a:solidFill>
                  <a:srgbClr val="1E1E1E"/>
                </a:solidFill>
              </a:defRPr>
            </a:pPr>
            <a:r>
              <a:t>・   株式会社いかりスーパーマーケット ショッピングサイト / TOPページ</a:t>
            </a:r>
          </a:p>
          <a:p>
            <a:pPr>
              <a:spcAft>
                <a:spcPts val="800"/>
              </a:spcAft>
              <a:defRPr sz="1200">
                <a:solidFill>
                  <a:srgbClr val="1E1E1E"/>
                </a:solidFill>
              </a:defRPr>
            </a:pPr>
            <a:r>
              <a:t>・   【吹田市】「ライフ緑地公園店」が2026年3月24日（火）についに待望のプレオープン！109台分の駐車場完備で便利</a:t>
            </a:r>
          </a:p>
          <a:p>
            <a:pPr>
              <a:spcAft>
                <a:spcPts val="800"/>
              </a:spcAft>
              <a:defRPr sz="1200">
                <a:solidFill>
                  <a:srgbClr val="1E1E1E"/>
                </a:solidFill>
              </a:defRPr>
            </a:pPr>
            <a:r>
              <a:t>・   近畿・四国流通特集：有力チェーンの対応策=いかりスーパーマーケット・行光社長 日本食糧新聞</a:t>
            </a:r>
          </a:p>
          <a:p>
            <a:pPr>
              <a:spcAft>
                <a:spcPts val="800"/>
              </a:spcAft>
              <a:defRPr sz="1200">
                <a:solidFill>
                  <a:srgbClr val="1E1E1E"/>
                </a:solidFill>
              </a:defRPr>
            </a:pPr>
            <a:r>
              <a:t>・   【大阪高島屋】西日本初出店ブランドのオープンや、高島屋限定商品の販売も！『2026 春の食料品フロアNEWS』 なんば経済新聞</a:t>
            </a:r>
          </a:p>
          <a:p>
            <a:pPr>
              <a:spcAft>
                <a:spcPts val="800"/>
              </a:spcAft>
              <a:defRPr sz="1200">
                <a:solidFill>
                  <a:srgbClr val="1E1E1E"/>
                </a:solidFill>
              </a:defRPr>
            </a:pPr>
            <a:r>
              <a:t>・   【続報！】「ライフ緑地公園店」が3月24日オープン予定！隣の「ニトリ江坂店」も着工開始@江坂町</a:t>
            </a:r>
          </a:p>
          <a:p>
            <a:pPr>
              <a:spcAft>
                <a:spcPts val="800"/>
              </a:spcAft>
              <a:defRPr sz="1200">
                <a:solidFill>
                  <a:srgbClr val="1E1E1E"/>
                </a:solidFill>
              </a:defRPr>
            </a:pPr>
            <a:r>
              <a:t>・   新御堂筋沿いの吹田市江坂町にできるスーパー「ライフ緑地公園店（仮）」のオープンは2026年春になるみたい／一方隣の「ニトリ」は2027年冬頃完成予定 | TNN豊中報道。２</a:t>
            </a:r>
          </a:p>
          <a:p>
            <a:pPr>
              <a:spcAft>
                <a:spcPts val="800"/>
              </a:spcAft>
              <a:defRPr sz="1200">
                <a:solidFill>
                  <a:srgbClr val="1E1E1E"/>
                </a:solidFill>
              </a:defRPr>
            </a:pPr>
            <a:r>
              <a:t>・   26年3月スーパー市況、強まる先行き不透明感、2月既存店は前年上回るも伸び鈍化 note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5_competitive_map.png"/>
          <p:cNvPicPr>
            <a:picLocks noChangeAspect="1"/>
          </p:cNvPicPr>
          <p:nvPr/>
        </p:nvPicPr>
        <p:blipFill>
          <a:blip r:embed="rId2"/>
          <a:stretch>
            <a:fillRect/>
          </a:stretch>
        </p:blipFill>
        <p:spPr>
          <a:xfrm>
            <a:off x="4135374" y="1188720"/>
            <a:ext cx="390906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