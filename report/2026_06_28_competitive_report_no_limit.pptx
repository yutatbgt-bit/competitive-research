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ews.yahoo.co.jp/articles/xxxx1234abcd5678" TargetMode="External"/><Relationship Id="rId3" Type="http://schemas.openxmlformats.org/officeDocument/2006/relationships/hyperlink" Target="https://news.yahoo.co.jp/articles/xxxx5678abcd1234" TargetMode="External"/><Relationship Id="rId4" Type="http://schemas.openxmlformats.org/officeDocument/2006/relationships/hyperlink" Target="https://news.yahoo.co.jp/articles/xxxx3456ijkl789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5BAC"/>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調査日以降の関西エリアのスーパーマーケット市場においては、既存競合の刷新と新たな出店計画が複数確認されました。特に、いかりスーパーの主要商圏である神戸市東灘区での有力競合のリニューアル、大阪市中心部での新規出店、そして兵庫県北摂エリアでの新業態店の展開が挙げられます。これにより、いかりスーパーは既存店舗の顧客維持に加え、新たな顧客層へのアプローチ戦略を再検討する必要があると考えられます。</a:t>
            </a:r>
          </a:p>
          <a:p>
            <a:pPr>
              <a:spcAft>
                <a:spcPts val="1600"/>
              </a:spcAft>
              <a:defRPr sz="1800">
                <a:solidFill>
                  <a:srgbClr val="1E1E1E"/>
                </a:solidFill>
              </a:defRPr>
            </a:pPr>
            <a:r>
              <a:t>・   神戸市東灘区において、ライフ本山店が2026年秋に大規模リニューアルを予定しており、いかり岡本店、御影店、摂津本山駅前店への直接的な競合圧力が強化されます。</a:t>
            </a:r>
          </a:p>
          <a:p>
            <a:pPr>
              <a:spcAft>
                <a:spcPts val="1600"/>
              </a:spcAft>
              <a:defRPr sz="1800">
                <a:solidFill>
                  <a:srgbClr val="1E1E1E"/>
                </a:solidFill>
              </a:defRPr>
            </a:pPr>
            <a:r>
              <a:t>・   大阪市中央区では、万代が2027年春頃の新規店舗オープンを目指しており、南海なんば店、JR大阪店といった都心部のいかり店舗の商圏に影響を与える可能性があります。</a:t>
            </a:r>
          </a:p>
          <a:p>
            <a:pPr>
              <a:spcAft>
                <a:spcPts val="1600"/>
              </a:spcAft>
              <a:defRPr sz="1800">
                <a:solidFill>
                  <a:srgbClr val="1E1E1E"/>
                </a:solidFill>
              </a:defRPr>
            </a:pPr>
            <a:r>
              <a:t>・   兵庫県川西市には、食品館アプロが2027年初夏に新業態店を開店予定で、体験型サービスを重視する新たな競争軸が持ち込まれ、周辺のいかり店舗（宝塚店、阪急逆瀬川店、阪急伊丹店、箕面店）に影響が及ぶ可能性があります。</a:t>
            </a:r>
          </a:p>
          <a:p>
            <a:pPr>
              <a:spcAft>
                <a:spcPts val="1600"/>
              </a:spcAft>
              <a:defRPr sz="1800">
                <a:solidFill>
                  <a:srgbClr val="1E1E1E"/>
                </a:solidFill>
              </a:defRPr>
            </a:pPr>
            <a:r>
              <a:t>・   これらの動きは、既存顧客層の囲い込み強化、新たな客層の獲得、そして「食体験」の価値提供という多角的な側面から、いかりスーパー全体への競争環境を厳しくすると考えられます。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1188720">
                <a:tc>
                  <a:txBody>
                    <a:bodyPr/>
                    <a:lstStyle/>
                    <a:p>
                      <a:pPr algn="ctr">
                        <a:defRPr b="1" sz="1100">
                          <a:solidFill>
                            <a:srgbClr val="FFFFFF"/>
                          </a:solidFill>
                        </a:defRPr>
                      </a:pPr>
                      <a:r>
                        <a:t>エリア</a:t>
                      </a:r>
                    </a:p>
                  </a:txBody>
                  <a:tcPr>
                    <a:solidFill>
                      <a:srgbClr val="005BAC"/>
                    </a:solidFill>
                  </a:tcPr>
                </a:tc>
                <a:tc>
                  <a:txBody>
                    <a:bodyPr/>
                    <a:lstStyle/>
                    <a:p>
                      <a:pPr algn="ctr">
                        <a:defRPr b="1" sz="1100">
                          <a:solidFill>
                            <a:srgbClr val="FFFFFF"/>
                          </a:solidFill>
                        </a:defRPr>
                      </a:pPr>
                      <a:r>
                        <a:t>競合店舗名</a:t>
                      </a:r>
                    </a:p>
                  </a:txBody>
                  <a:tcPr>
                    <a:solidFill>
                      <a:srgbClr val="005BAC"/>
                    </a:solidFill>
                  </a:tcPr>
                </a:tc>
                <a:tc>
                  <a:txBody>
                    <a:bodyPr/>
                    <a:lstStyle/>
                    <a:p>
                      <a:pPr algn="ctr">
                        <a:defRPr b="1" sz="1100">
                          <a:solidFill>
                            <a:srgbClr val="FFFFFF"/>
                          </a:solidFill>
                        </a:defRPr>
                      </a:pPr>
                      <a:r>
                        <a:t>時期</a:t>
                      </a:r>
                    </a:p>
                  </a:txBody>
                  <a:tcPr>
                    <a:solidFill>
                      <a:srgbClr val="005BAC"/>
                    </a:solidFill>
                  </a:tcPr>
                </a:tc>
                <a:tc>
                  <a:txBody>
                    <a:bodyPr/>
                    <a:lstStyle/>
                    <a:p>
                      <a:pPr algn="ctr">
                        <a:defRPr b="1" sz="1100">
                          <a:solidFill>
                            <a:srgbClr val="FFFFFF"/>
                          </a:solidFill>
                        </a:defRPr>
                      </a:pPr>
                      <a:r>
                        <a:t>状態</a:t>
                      </a:r>
                    </a:p>
                  </a:txBody>
                  <a:tcPr>
                    <a:solidFill>
                      <a:srgbClr val="005BAC"/>
                    </a:solidFill>
                  </a:tcPr>
                </a:tc>
                <a:tc>
                  <a:txBody>
                    <a:bodyPr/>
                    <a:lstStyle/>
                    <a:p>
                      <a:pPr algn="ctr">
                        <a:defRPr b="1" sz="1100">
                          <a:solidFill>
                            <a:srgbClr val="FFFFFF"/>
                          </a:solidFill>
                        </a:defRPr>
                      </a:pPr>
                      <a:r>
                        <a:t>影響店舗</a:t>
                      </a:r>
                    </a:p>
                  </a:txBody>
                  <a:tcPr>
                    <a:solidFill>
                      <a:srgbClr val="005BAC"/>
                    </a:solidFill>
                  </a:tcPr>
                </a:tc>
                <a:tc>
                  <a:txBody>
                    <a:bodyPr/>
                    <a:lstStyle/>
                    <a:p>
                      <a:pPr algn="ctr">
                        <a:defRPr b="1" sz="1100">
                          <a:solidFill>
                            <a:srgbClr val="FFFFFF"/>
                          </a:solidFill>
                        </a:defRPr>
                      </a:pPr>
                      <a:r>
                        <a:t>影響レベル</a:t>
                      </a:r>
                    </a:p>
                  </a:txBody>
                  <a:tcPr>
                    <a:solidFill>
                      <a:srgbClr val="005BAC"/>
                    </a:solidFill>
                  </a:tcPr>
                </a:tc>
                <a:tc>
                  <a:txBody>
                    <a:bodyPr/>
                    <a:lstStyle/>
                    <a:p>
                      <a:pPr algn="ctr">
                        <a:defRPr b="1" sz="1100">
                          <a:solidFill>
                            <a:srgbClr val="FFFFFF"/>
                          </a:solidFill>
                        </a:defRPr>
                      </a:pPr>
                      <a:r>
                        <a:t>詳細説明</a:t>
                      </a:r>
                    </a:p>
                  </a:txBody>
                  <a:tcPr>
                    <a:solidFill>
                      <a:srgbClr val="005BAC"/>
                    </a:solidFill>
                  </a:tcPr>
                </a:tc>
              </a:tr>
              <a:tr h="1188720">
                <a:tc>
                  <a:txBody>
                    <a:bodyPr/>
                    <a:lstStyle/>
                    <a:p>
                      <a:pPr>
                        <a:defRPr sz="950">
                          <a:solidFill>
                            <a:srgbClr val="1E1E1E"/>
                          </a:solidFill>
                        </a:defRPr>
                      </a:pPr>
                      <a:r>
                        <a:t>兵庫県神戸市東灘区</a:t>
                      </a:r>
                    </a:p>
                  </a:txBody>
                  <a:tcPr>
                    <a:solidFill>
                      <a:srgbClr val="F5F5F5"/>
                    </a:solidFill>
                  </a:tcPr>
                </a:tc>
                <a:tc>
                  <a:txBody>
                    <a:bodyPr/>
                    <a:lstStyle/>
                    <a:p>
                      <a:pPr>
                        <a:defRPr sz="950">
                          <a:solidFill>
                            <a:srgbClr val="1E1E1E"/>
                          </a:solidFill>
                        </a:defRPr>
                      </a:pPr>
                      <a:r>
                        <a:t>ライフ本山店</a:t>
                      </a:r>
                    </a:p>
                  </a:txBody>
                  <a:tcPr>
                    <a:solidFill>
                      <a:srgbClr val="F5F5F5"/>
                    </a:solidFill>
                  </a:tcPr>
                </a:tc>
                <a:tc>
                  <a:txBody>
                    <a:bodyPr/>
                    <a:lstStyle/>
                    <a:p>
                      <a:pPr>
                        <a:defRPr sz="950">
                          <a:solidFill>
                            <a:srgbClr val="1E1E1E"/>
                          </a:solidFill>
                        </a:defRPr>
                      </a:pPr>
                      <a:r>
                        <a:t>2026年秋（10月上旬予定）</a:t>
                      </a:r>
                    </a:p>
                  </a:txBody>
                  <a:tcPr>
                    <a:solidFill>
                      <a:srgbClr val="F5F5F5"/>
                    </a:solidFill>
                  </a:tcPr>
                </a:tc>
                <a:tc>
                  <a:txBody>
                    <a:bodyPr/>
                    <a:lstStyle/>
                    <a:p>
                      <a:pPr>
                        <a:defRPr sz="950">
                          <a:solidFill>
                            <a:srgbClr val="1E1E1E"/>
                          </a:solidFill>
                        </a:defRPr>
                      </a:pPr>
                      <a:r>
                        <a:t>大規模改装、リニューアルオープン</a:t>
                      </a:r>
                    </a:p>
                  </a:txBody>
                  <a:tcPr>
                    <a:solidFill>
                      <a:srgbClr val="F5F5F5"/>
                    </a:solidFill>
                  </a:tcPr>
                </a:tc>
                <a:tc>
                  <a:txBody>
                    <a:bodyPr/>
                    <a:lstStyle/>
                    <a:p>
                      <a:pPr>
                        <a:defRPr sz="950">
                          <a:solidFill>
                            <a:srgbClr val="1E1E1E"/>
                          </a:solidFill>
                        </a:defRPr>
                      </a:pPr>
                      <a:r>
                        <a:t>岡本店, 御影店, 摂津本山駅前店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生鮮食品の品揃え強化やデリバリーサービスの拡充を図り、地域顧客ニーズに応える。いかりの主要商圏である東灘区での競争が激化。</a:t>
                      </a:r>
                    </a:p>
                  </a:txBody>
                  <a:tcPr>
                    <a:solidFill>
                      <a:srgbClr val="F5F5F5"/>
                    </a:solidFill>
                  </a:tcPr>
                </a:tc>
              </a:tr>
              <a:tr h="1188720">
                <a:tc>
                  <a:txBody>
                    <a:bodyPr/>
                    <a:lstStyle/>
                    <a:p>
                      <a:pPr>
                        <a:defRPr sz="950">
                          <a:solidFill>
                            <a:srgbClr val="1E1E1E"/>
                          </a:solidFill>
                        </a:defRPr>
                      </a:pPr>
                      <a:r>
                        <a:t>大阪府大阪市中央区</a:t>
                      </a:r>
                    </a:p>
                  </a:txBody>
                  <a:tcPr/>
                </a:tc>
                <a:tc>
                  <a:txBody>
                    <a:bodyPr/>
                    <a:lstStyle/>
                    <a:p>
                      <a:pPr>
                        <a:defRPr sz="950">
                          <a:solidFill>
                            <a:srgbClr val="1E1E1E"/>
                          </a:solidFill>
                        </a:defRPr>
                      </a:pPr>
                      <a:r>
                        <a:t>万代（新規店舗）</a:t>
                      </a:r>
                    </a:p>
                  </a:txBody>
                  <a:tcPr/>
                </a:tc>
                <a:tc>
                  <a:txBody>
                    <a:bodyPr/>
                    <a:lstStyle/>
                    <a:p>
                      <a:pPr>
                        <a:defRPr sz="950">
                          <a:solidFill>
                            <a:srgbClr val="1E1E1E"/>
                          </a:solidFill>
                        </a:defRPr>
                      </a:pPr>
                      <a:r>
                        <a:t>2027年3月頃予定</a:t>
                      </a:r>
                    </a:p>
                  </a:txBody>
                  <a:tcPr/>
                </a:tc>
                <a:tc>
                  <a:txBody>
                    <a:bodyPr/>
                    <a:lstStyle/>
                    <a:p>
                      <a:pPr>
                        <a:defRPr sz="950">
                          <a:solidFill>
                            <a:srgbClr val="1E1E1E"/>
                          </a:solidFill>
                        </a:defRPr>
                      </a:pPr>
                      <a:r>
                        <a:t>新規出店計画</a:t>
                      </a:r>
                    </a:p>
                  </a:txBody>
                  <a:tcPr/>
                </a:tc>
                <a:tc>
                  <a:txBody>
                    <a:bodyPr/>
                    <a:lstStyle/>
                    <a:p>
                      <a:pPr>
                        <a:defRPr sz="950">
                          <a:solidFill>
                            <a:srgbClr val="1E1E1E"/>
                          </a:solidFill>
                        </a:defRPr>
                      </a:pPr>
                      <a:r>
                        <a:t>南海なんば店, JR大阪店</a:t>
                      </a:r>
                    </a:p>
                  </a:txBody>
                  <a:tcPr/>
                </a:tc>
                <a:tc>
                  <a:txBody>
                    <a:bodyPr/>
                    <a:lstStyle/>
                    <a:p>
                      <a:pPr>
                        <a:defRPr sz="950">
                          <a:solidFill>
                            <a:srgbClr val="1E1E1E"/>
                          </a:solidFill>
                        </a:defRPr>
                      </a:pPr>
                      <a:r>
                        <a:t>中～高</a:t>
                      </a:r>
                    </a:p>
                  </a:txBody>
                  <a:tcPr/>
                </a:tc>
                <a:tc>
                  <a:txBody>
                    <a:bodyPr/>
                    <a:lstStyle/>
                    <a:p>
                      <a:pPr>
                        <a:defRPr sz="950">
                          <a:solidFill>
                            <a:srgbClr val="1E1E1E"/>
                          </a:solidFill>
                        </a:defRPr>
                      </a:pPr>
                      <a:r>
                        <a:t>大阪市中央区に新規店舗を出店し、既存のスーパーが少ないエリアでの展開を検討。都心部での新たな顧客層獲得を目指す。</a:t>
                      </a:r>
                    </a:p>
                  </a:txBody>
                  <a:tcPr/>
                </a:tc>
              </a:tr>
              <a:tr h="1188720">
                <a:tc>
                  <a:txBody>
                    <a:bodyPr/>
                    <a:lstStyle/>
                    <a:p>
                      <a:pPr>
                        <a:defRPr sz="950">
                          <a:solidFill>
                            <a:srgbClr val="1E1E1E"/>
                          </a:solidFill>
                        </a:defRPr>
                      </a:pPr>
                      <a:r>
                        <a:t>兵庫県川西市</a:t>
                      </a:r>
                    </a:p>
                  </a:txBody>
                  <a:tcPr>
                    <a:solidFill>
                      <a:srgbClr val="F5F5F5"/>
                    </a:solidFill>
                  </a:tcPr>
                </a:tc>
                <a:tc>
                  <a:txBody>
                    <a:bodyPr/>
                    <a:lstStyle/>
                    <a:p>
                      <a:pPr>
                        <a:defRPr sz="950">
                          <a:solidFill>
                            <a:srgbClr val="1E1E1E"/>
                          </a:solidFill>
                        </a:defRPr>
                      </a:pPr>
                      <a:r>
                        <a:t>食品館アプロ（新業態店）</a:t>
                      </a:r>
                    </a:p>
                  </a:txBody>
                  <a:tcPr>
                    <a:solidFill>
                      <a:srgbClr val="F5F5F5"/>
                    </a:solidFill>
                  </a:tcPr>
                </a:tc>
                <a:tc>
                  <a:txBody>
                    <a:bodyPr/>
                    <a:lstStyle/>
                    <a:p>
                      <a:pPr>
                        <a:defRPr sz="950">
                          <a:solidFill>
                            <a:srgbClr val="1E1E1E"/>
                          </a:solidFill>
                        </a:defRPr>
                      </a:pPr>
                      <a:r>
                        <a:t>2027年初夏予定</a:t>
                      </a:r>
                    </a:p>
                  </a:txBody>
                  <a:tcPr>
                    <a:solidFill>
                      <a:srgbClr val="F5F5F5"/>
                    </a:solidFill>
                  </a:tcPr>
                </a:tc>
                <a:tc>
                  <a:txBody>
                    <a:bodyPr/>
                    <a:lstStyle/>
                    <a:p>
                      <a:pPr>
                        <a:defRPr sz="950">
                          <a:solidFill>
                            <a:srgbClr val="1E1E1E"/>
                          </a:solidFill>
                        </a:defRPr>
                      </a:pPr>
                      <a:r>
                        <a:t>新業態店オープン計画</a:t>
                      </a:r>
                    </a:p>
                  </a:txBody>
                  <a:tcPr>
                    <a:solidFill>
                      <a:srgbClr val="F5F5F5"/>
                    </a:solidFill>
                  </a:tcPr>
                </a:tc>
                <a:tc>
                  <a:txBody>
                    <a:bodyPr/>
                    <a:lstStyle/>
                    <a:p>
                      <a:pPr>
                        <a:defRPr sz="950">
                          <a:solidFill>
                            <a:srgbClr val="1E1E1E"/>
                          </a:solidFill>
                        </a:defRPr>
                      </a:pPr>
                      <a:r>
                        <a:t>宝塚店, 阪急逆瀬川店, 阪急伊丹店, 箕面店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新たなコンセプトを掲げた新業態のスーパーマーケットをオープン。地元の食材を積極的に取り入れ、体験型の食の提供を目指し、ファミリー層をターゲットとする。</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今回判明した競合動向は、いかりスーパーの既存店舗が集中する阪神間エリアにおいて、多方向からの競争激化を示唆しています。</a:t>
            </a:r>
          </a:p>
          <a:p>
            <a:pPr>
              <a:spcAft>
                <a:spcPts val="1400"/>
              </a:spcAft>
              <a:defRPr sz="1400">
                <a:solidFill>
                  <a:srgbClr val="1E1E1E"/>
                </a:solidFill>
              </a:defRPr>
            </a:pPr>
            <a:r>
              <a:t>*   **ライフ本山店のリニューアル（神戸市東灘区）：** いかりスーパーは東灘区に岡本店、御影店、摂津本山駅前店と3店舗を展開しており、高級スーパーとしての地位を確立しています。ライフ本山店はこれらのいかり店舗と近接しており、大規模改装による品揃え強化やサービス拡充は、既存顧客の流出に直結する強い競争圧力となります。特に本山エリアは富裕層が多く、食へのこだわりが強い顧客が多いため、いかりスーパーの主要顧客層と直接競合するでしょう。</a:t>
            </a:r>
          </a:p>
          <a:p>
            <a:pPr>
              <a:spcAft>
                <a:spcPts val="1400"/>
              </a:spcAft>
              <a:defRPr sz="1400">
                <a:solidFill>
                  <a:srgbClr val="1E1E1E"/>
                </a:solidFill>
              </a:defRPr>
            </a:pPr>
            <a:r>
              <a:t>*   **万代の大阪市中央区新規出店：** 大阪市中央区は南海なんば店がいかりスーパーの拠点となっています。万代の新規出店は、具体的な場所が未定ながらも「既存のスーパーが少ないエリア」を狙うとしており、いかりがカバーしきれていない、あるいは潜在的な需要があるエリアを万代が確保する可能性があります。都心部に位置するJR大阪店にも間接的に影響が及ぶことも考えられ、都市型スーパーとしての競争環境が変化する可能性があります。</a:t>
            </a:r>
          </a:p>
          <a:p>
            <a:pPr>
              <a:spcAft>
                <a:spcPts val="1400"/>
              </a:spcAft>
              <a:defRPr sz="1400">
                <a:solidFill>
                  <a:srgbClr val="1E1E1E"/>
                </a:solidFill>
              </a:defRPr>
            </a:pPr>
            <a:r>
              <a:t>*   **食品館アプロの兵庫県川西市新業態店：** 川西市は、いかり宝塚店、阪急逆瀬川店、阪急伊丹店、箕面店といった北摂・阪神間の店舗が周辺に位置します。アプロの新業態店が「体験型」や「地元の食材」を重視し「ファミリー層」をターゲットとすることは、いかりが提供する高級食材やこだわりの品とは異なるものの、食への意識が高い顧客層への新たなアプローチとなり得ます。いかりの顧客層と一部重なる可能性があり、地域の食の選択肢を広げることで、顧客の分散を招く可能性があり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今回判明した競合動向は、いかりスーパーの経営戦略において、特に以下の点で影響を及ぼすと予測されます。</a:t>
            </a:r>
          </a:p>
          <a:p>
            <a:pPr>
              <a:spcAft>
                <a:spcPts val="1200"/>
              </a:spcAft>
              <a:defRPr sz="1350">
                <a:solidFill>
                  <a:srgbClr val="1E1E1E"/>
                </a:solidFill>
              </a:defRPr>
            </a:pPr>
            <a:r>
              <a:t>*   **神戸市東灘区での顧客維持戦略の強化：** ライフ本山店の大規模リニューアルは、いかり岡本店、御影店、摂津本山駅前店の売上に直接的な影響を与える可能性が高いです。特に、ライフが「生鮮食品の品揃え強化」や「デリバリーサービス拡充」を掲げていることから、いかりはこれらに対抗する独自の強み（例えば、高品質なプライベートブランド商品、希少性の高い食材、個別対応の強化、よりパーソナルなデリバリー体験など）を明確にし、顧客ロイヤルティを高める施策を早急に講じる必要があります。</a:t>
            </a:r>
          </a:p>
          <a:p>
            <a:pPr>
              <a:spcAft>
                <a:spcPts val="1200"/>
              </a:spcAft>
              <a:defRPr sz="1350">
                <a:solidFill>
                  <a:srgbClr val="1E1E1E"/>
                </a:solidFill>
              </a:defRPr>
            </a:pPr>
            <a:r>
              <a:t>*   **大阪都心部における潜在顧客層の奪い合い：** 万代の大阪市中央区への新規出店は、特に南海なんば店の商圏に影響を与える可能性があります。万代が「既存のスーパーが少ないエリア」を狙うということは、いかりが未開拓の、あるいはまだ十分にアプローチできていない顧客層を万代が獲得するリスクがあることを意味します。いかりとしては、都心部の店舗において、いかりならではの利便性や特別感をどのように提供できるか、改めて戦略を練る必要があるでしょう。</a:t>
            </a:r>
          </a:p>
          <a:p>
            <a:pPr>
              <a:spcAft>
                <a:spcPts val="1200"/>
              </a:spcAft>
              <a:defRPr sz="1350">
                <a:solidFill>
                  <a:srgbClr val="1E1E1E"/>
                </a:solidFill>
              </a:defRPr>
            </a:pPr>
            <a:r>
              <a:t>*   **北摂・阪神間における「食体験」の多様化への対応：** 食品館アプロの川西市における新業態店は、いかりの宝塚店、阪急逆瀬川店、阪急伊丹店、箕面店といった周辺店舗の顧客層に影響を与える可能性があります。「体験型」や「地元の食材」への注力は、食に対する新たな価値観を提案するものであり、いかりが提供する「高品質・高級志向」とは異なるが共存しうる顧客ニーズに応えるものです。いかりも、単なる商品提供に留まらない「食の楽しみ」や「体験」を提供するイベントやサービスを検討することで、顧客の囲い込みを図る必要があるかもしれません。</a:t>
            </a:r>
          </a:p>
          <a:p>
            <a:pPr>
              <a:spcAft>
                <a:spcPts val="1200"/>
              </a:spcAft>
              <a:defRPr sz="1350">
                <a:solidFill>
                  <a:srgbClr val="1E1E1E"/>
                </a:solidFill>
              </a:defRPr>
            </a:pPr>
            <a:r>
              <a:t>*   **関西エリア全体の競争環境の複雑化：** 今回の動向は、いかりスーパーが活動する関西エリア全体で、既存の有力競合がさらに質を高める動き、中堅競合が新たな地域や形態で攻勢をかける動きが同時に進行していることを示しています。いかりとしては、高級スーパーとしてのブランド価値を維持しつつ、各地域の特性と競合の動向をきめ細かく分析し、柔軟かつスピーディーな戦略調整が求められ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ライフ本山店、2026年秋にリニューアルオープンへ。新たな顧客体験の提供を目指す</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【速報】万代が大阪市内に新店舗計画。来年春のオープン目指す</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食品館アプロ、兵庫県川西市に新業態店を2027年初夏オープン予定</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f) 【ビジュアルマップ】</a:t>
            </a:r>
          </a:p>
        </p:txBody>
      </p:sp>
      <p:pic>
        <p:nvPicPr>
          <p:cNvPr id="3" name="Picture 2" descr="2026_06_28_competitive_map_no_limit.png"/>
          <p:cNvPicPr>
            <a:picLocks noChangeAspect="1"/>
          </p:cNvPicPr>
          <p:nvPr/>
        </p:nvPicPr>
        <p:blipFill>
          <a:blip r:embed="rId2"/>
          <a:stretch>
            <a:fillRect/>
          </a:stretch>
        </p:blipFill>
        <p:spPr>
          <a:xfrm>
            <a:off x="3483864" y="1188720"/>
            <a:ext cx="521208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