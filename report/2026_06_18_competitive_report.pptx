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高級スーパーマーケットの競合環境において、新たな出店計画が複数判明した。特に、高品質・高価格帯市場での直接的な競争激化が見込まれる。</a:t>
            </a:r>
          </a:p>
          <a:p>
            <a:pPr>
              <a:spcAft>
                <a:spcPts val="1600"/>
              </a:spcAft>
              <a:defRPr sz="1800">
                <a:solidFill>
                  <a:srgbClr val="1E1E1E"/>
                </a:solidFill>
              </a:defRPr>
            </a:pPr>
            <a:r>
              <a:t>・   ヤマダストアーは、2027年春に兵庫県宝塚市に新店舗をオープンする計画であり、いかりスーパーの顧客層と重複する地域での競合が強まる。</a:t>
            </a:r>
          </a:p>
          <a:p>
            <a:pPr>
              <a:spcAft>
                <a:spcPts val="1600"/>
              </a:spcAft>
              <a:defRPr sz="1800">
                <a:solidFill>
                  <a:srgbClr val="1E1E1E"/>
                </a:solidFill>
              </a:defRPr>
            </a:pPr>
            <a:r>
              <a:t>・   成城石井は、本日2026年6月18日に大阪府堺市のイオンモール堺北花田店に新規出店し、都市部での高品質スーパー市場での競争がさらに激化する。</a:t>
            </a:r>
          </a:p>
          <a:p>
            <a:pPr>
              <a:spcAft>
                <a:spcPts val="1600"/>
              </a:spcAft>
              <a:defRPr sz="1800">
                <a:solidFill>
                  <a:srgbClr val="1E1E1E"/>
                </a:solidFill>
              </a:defRPr>
            </a:pPr>
            <a:r>
              <a:t>・   ディスカウントスーパーのオーケーは、2026年後半に大阪府内で2店舗の新規出店（高槻赤大路店、長吉店）を予定しており、2027年以降も関西エリアでの積極的な展開を継続する方針を示しており、広範な価格帯での競争圧力が上昇す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79248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792480">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792480">
                <a:tc>
                  <a:txBody>
                    <a:bodyPr/>
                    <a:lstStyle/>
                    <a:p>
                      <a:pPr>
                        <a:defRPr sz="950">
                          <a:solidFill>
                            <a:srgbClr val="1E1E1E"/>
                          </a:solidFill>
                        </a:defRPr>
                      </a:pPr>
                      <a:r>
                        <a:t>大阪府堺市北区</a:t>
                      </a:r>
                    </a:p>
                  </a:txBody>
                  <a:tcPr/>
                </a:tc>
                <a:tc>
                  <a:txBody>
                    <a:bodyPr/>
                    <a:lstStyle/>
                    <a:p>
                      <a:pPr>
                        <a:defRPr sz="950">
                          <a:solidFill>
                            <a:srgbClr val="1E1E1E"/>
                          </a:solidFill>
                        </a:defRPr>
                      </a:pPr>
                      <a:r>
                        <a:t>成城石井 イオンモール堺北花田店</a:t>
                      </a:r>
                    </a:p>
                  </a:txBody>
                  <a:tcPr/>
                </a:tc>
                <a:tc>
                  <a:txBody>
                    <a:bodyPr/>
                    <a:lstStyle/>
                    <a:p>
                      <a:pPr>
                        <a:defRPr sz="950">
                          <a:solidFill>
                            <a:srgbClr val="1E1E1E"/>
                          </a:solidFill>
                        </a:defRPr>
                      </a:pPr>
                      <a:r>
                        <a:t>2026年6月18日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Osaka Metro御堂筋線北花田駅直結のイオンモール堺北花田1階に約38坪の規模でオープン。惣菜、デザート、パン、グロサリーなど高品質商品を幅広く展開する。</a:t>
                      </a:r>
                    </a:p>
                  </a:txBody>
                  <a:tcPr/>
                </a:tc>
              </a:tr>
              <a:tr h="792480">
                <a:tc>
                  <a:txBody>
                    <a:bodyPr/>
                    <a:lstStyle/>
                    <a:p>
                      <a:pPr>
                        <a:defRPr sz="950">
                          <a:solidFill>
                            <a:srgbClr val="1E1E1E"/>
                          </a:solidFill>
                        </a:defRPr>
                      </a:pPr>
                      <a:r>
                        <a:t>大阪府高槻市</a:t>
                      </a:r>
                    </a:p>
                  </a:txBody>
                  <a:tcPr>
                    <a:solidFill>
                      <a:srgbClr val="F5F5F5"/>
                    </a:solidFill>
                  </a:tcPr>
                </a:tc>
                <a:tc>
                  <a:txBody>
                    <a:bodyPr/>
                    <a:lstStyle/>
                    <a:p>
                      <a:pPr>
                        <a:defRPr sz="950">
                          <a:solidFill>
                            <a:srgbClr val="1E1E1E"/>
                          </a:solidFill>
                        </a:defRPr>
                      </a:pPr>
                      <a:r>
                        <a:t>オーケー 高槻赤大路店</a:t>
                      </a:r>
                    </a:p>
                  </a:txBody>
                  <a:tcPr>
                    <a:solidFill>
                      <a:srgbClr val="F5F5F5"/>
                    </a:solidFill>
                  </a:tcPr>
                </a:tc>
                <a:tc>
                  <a:txBody>
                    <a:bodyPr/>
                    <a:lstStyle/>
                    <a:p>
                      <a:pPr>
                        <a:defRPr sz="950">
                          <a:solidFill>
                            <a:srgbClr val="1E1E1E"/>
                          </a:solidFill>
                        </a:defRPr>
                      </a:pPr>
                      <a:r>
                        <a:t>2026年8月下旬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オーケーは2026年度に大阪府内で計7店舗の出店を予定しており、その一環として8月下旬に高槻赤大路店をオープンする。</a:t>
                      </a:r>
                    </a:p>
                  </a:txBody>
                  <a:tcPr>
                    <a:solidFill>
                      <a:srgbClr val="F5F5F5"/>
                    </a:solidFill>
                  </a:tcPr>
                </a:tc>
              </a:tr>
              <a:tr h="792480">
                <a:tc>
                  <a:txBody>
                    <a:bodyPr/>
                    <a:lstStyle/>
                    <a:p>
                      <a:pPr>
                        <a:defRPr sz="950">
                          <a:solidFill>
                            <a:srgbClr val="1E1E1E"/>
                          </a:solidFill>
                        </a:defRPr>
                      </a:pPr>
                      <a:r>
                        <a:t>大阪府大阪市</a:t>
                      </a:r>
                    </a:p>
                  </a:txBody>
                  <a:tcPr/>
                </a:tc>
                <a:tc>
                  <a:txBody>
                    <a:bodyPr/>
                    <a:lstStyle/>
                    <a:p>
                      <a:pPr>
                        <a:defRPr sz="950">
                          <a:solidFill>
                            <a:srgbClr val="1E1E1E"/>
                          </a:solidFill>
                        </a:defRPr>
                      </a:pPr>
                      <a:r>
                        <a:t>オーケー 長吉店</a:t>
                      </a:r>
                    </a:p>
                  </a:txBody>
                  <a:tcPr/>
                </a:tc>
                <a:tc>
                  <a:txBody>
                    <a:bodyPr/>
                    <a:lstStyle/>
                    <a:p>
                      <a:pPr>
                        <a:defRPr sz="950">
                          <a:solidFill>
                            <a:srgbClr val="1E1E1E"/>
                          </a:solidFill>
                        </a:defRPr>
                      </a:pPr>
                      <a:r>
                        <a:t>2026年11月中旬</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2026年度の大阪府内での出店計画に含まれており、11月中旬にオープン予定。</a:t>
                      </a:r>
                    </a:p>
                  </a:txBody>
                  <a:tcPr/>
                </a:tc>
              </a:tr>
              <a:tr h="792480">
                <a:tc>
                  <a:txBody>
                    <a:bodyPr/>
                    <a:lstStyle/>
                    <a:p>
                      <a:pPr>
                        <a:defRPr sz="950">
                          <a:solidFill>
                            <a:srgbClr val="1E1E1E"/>
                          </a:solidFill>
                        </a:defRPr>
                      </a:pPr>
                      <a:r>
                        <a:t>兵庫県宝塚市</a:t>
                      </a:r>
                    </a:p>
                  </a:txBody>
                  <a:tcPr>
                    <a:solidFill>
                      <a:srgbClr val="F5F5F5"/>
                    </a:solidFill>
                  </a:tcPr>
                </a:tc>
                <a:tc>
                  <a:txBody>
                    <a:bodyPr/>
                    <a:lstStyle/>
                    <a:p>
                      <a:pPr>
                        <a:defRPr sz="950">
                          <a:solidFill>
                            <a:srgbClr val="1E1E1E"/>
                          </a:solidFill>
                        </a:defRPr>
                      </a:pPr>
                      <a:r>
                        <a:t>ヤマダストアー 宝塚店（仮称）</a:t>
                      </a:r>
                    </a:p>
                  </a:txBody>
                  <a:tcPr>
                    <a:solidFill>
                      <a:srgbClr val="F5F5F5"/>
                    </a:solidFill>
                  </a:tcPr>
                </a:tc>
                <a:tc>
                  <a:txBody>
                    <a:bodyPr/>
                    <a:lstStyle/>
                    <a:p>
                      <a:pPr>
                        <a:defRPr sz="950">
                          <a:solidFill>
                            <a:srgbClr val="1E1E1E"/>
                          </a:solidFill>
                        </a:defRPr>
                      </a:pPr>
                      <a:r>
                        <a:t>2027年春</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兵庫県宝塚市伊孑志4丁目のNTT社員寮跡地に、こだわりの高品質スーパーマーケットとしてオープン予定。</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本日（2026年6月18日）オープンした成城石井イオンモール堺北花田店は、いかりスーパーの既存店舗とはやや離れるものの、北花田駅直結という利便性の高い立地で、いかりスーパーがターゲットとする高品質志向の顧客層の一部を吸引する可能性がある。</a:t>
            </a:r>
          </a:p>
          <a:p>
            <a:pPr>
              <a:spcAft>
                <a:spcPts val="1400"/>
              </a:spcAft>
              <a:defRPr sz="1400">
                <a:solidFill>
                  <a:srgbClr val="1E1E1E"/>
                </a:solidFill>
              </a:defRPr>
            </a:pPr>
            <a:r>
              <a:t>*   2027年春に宝塚市に新規出店するヤマダストアー宝塚店は、いかりスーパーの宝塚エリア店舗（例: いかり宝塚店など）にとって直接的な競合となる。ヤマダストアーも高品質・こだわり商品を強みとするため、このエリアでの競争激化は避けられない。</a:t>
            </a:r>
          </a:p>
          <a:p>
            <a:pPr>
              <a:spcAft>
                <a:spcPts val="1400"/>
              </a:spcAft>
              <a:defRPr sz="1400">
                <a:solidFill>
                  <a:srgbClr val="1E1E1E"/>
                </a:solidFill>
              </a:defRPr>
            </a:pPr>
            <a:r>
              <a:t>*   オーケーの高槻赤大路店（2026年8月下旬）および長吉店（2026年11月中旬）の出店は、大阪府内におけるオーケーの店舗網をさらに拡大させるものであり、広範囲で価格競争を激化させる要因となり得る。いかりスーパーとは異なる価格帯の競合ではあるが、日常使いの需要を奪われる可能性があり、間接的な影響は大き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本日開業した「成城石井 イオンモール堺北花田店」の出店は、いかりスーパーの大阪市内南部、特に高級志向の顧客が多いエリアにおける競争環境を厳しくする。いかりスーパーの周辺店舗は、品揃えの独自性や、顧客体験のさらなる向上を通じて差別化を図る必要がある。</a:t>
            </a:r>
          </a:p>
          <a:p>
            <a:pPr>
              <a:spcAft>
                <a:spcPts val="1200"/>
              </a:spcAft>
              <a:defRPr sz="1350">
                <a:solidFill>
                  <a:srgbClr val="1E1E1E"/>
                </a:solidFill>
              </a:defRPr>
            </a:pPr>
            <a:r>
              <a:t>*   2027年春にオープン予定の「ヤマダストアー宝塚店」は、いかりスーパー宝塚店や周辺のいかり店舗にとって極めて大きな脅威となる。ヤマダストアーは「高品質・こだわり」を追求する点でいかりスーパーと類似しており、宝塚エリアにおける高級スーパー市場での直接的な顧客争奪戦が予想される。いかりスーパーは、地域に根ざした商品やサービス、コミュニティとの連携を一層強化し、顧客ロイヤルティを維持・向上させる戦略が求められる。</a:t>
            </a:r>
          </a:p>
          <a:p>
            <a:pPr>
              <a:spcAft>
                <a:spcPts val="1200"/>
              </a:spcAft>
              <a:defRPr sz="1350">
                <a:solidFill>
                  <a:srgbClr val="1E1E1E"/>
                </a:solidFill>
              </a:defRPr>
            </a:pPr>
            <a:r>
              <a:t>*   オーケーの大阪府内での継続的な出店（高槻赤大路店、長吉店）は、価格に敏感な顧客層の取り込みを加速させ、広範囲でスーパーマーケット市場全体の競争を激化させる。いかりスーパーは、高品質・高価格帯というポジショニングを再確認し、価格以外の価値（品揃え、サービス、店舗体験など）を明確に訴求することで、競合との差別化を強化する必要があ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オーケーnews｜4月5月で関西に4店舗を出店/計11店舗体制 流通スーパーニュース. (2026年4月16日).</a:t>
            </a:r>
          </a:p>
          <a:p>
            <a:pPr>
              <a:spcAft>
                <a:spcPts val="800"/>
              </a:spcAft>
            </a:pPr>
            <a:r>
              <a:rPr sz="1200">
                <a:solidFill>
                  <a:srgbClr val="1E1E1E"/>
                </a:solidFill>
              </a:rPr>
              <a:t>・ </a:t>
            </a:r>
            <a:r>
              <a:rPr sz="1200">
                <a:solidFill>
                  <a:srgbClr val="1E1E1E"/>
                </a:solidFill>
              </a:rPr>
              <a:t>  オーケーが25年兵庫に出す5店を公表 26年には大阪に7店出店 激流オンライン. (2024年12月24日).</a:t>
            </a:r>
          </a:p>
          <a:p>
            <a:pPr>
              <a:spcAft>
                <a:spcPts val="800"/>
              </a:spcAft>
            </a:pPr>
            <a:r>
              <a:rPr sz="1200">
                <a:solidFill>
                  <a:srgbClr val="1E1E1E"/>
                </a:solidFill>
              </a:rPr>
              <a:t>・ </a:t>
            </a:r>
            <a:r>
              <a:rPr sz="1200">
                <a:solidFill>
                  <a:srgbClr val="1E1E1E"/>
                </a:solidFill>
              </a:rPr>
              <a:t>  オーケーnews｜'26年度関西7店舗出店､4/15南津守店､4/22今川店オープン. (2026年2月24日).</a:t>
            </a:r>
          </a:p>
          <a:p>
            <a:pPr>
              <a:spcAft>
                <a:spcPts val="800"/>
              </a:spcAft>
            </a:pPr>
            <a:r>
              <a:rPr sz="1200">
                <a:solidFill>
                  <a:srgbClr val="1E1E1E"/>
                </a:solidFill>
              </a:rPr>
              <a:t>・ </a:t>
            </a:r>
            <a:r>
              <a:rPr sz="1200">
                <a:solidFill>
                  <a:srgbClr val="1E1E1E"/>
                </a:solidFill>
              </a:rPr>
              <a:t>  ディスカウント・スーパーマーケット「オーケー南津守店（関西8号店）」2026年4月15日(水)、 「オーケー今川店（関西9号店）」 2026年4月22日(水) 連続出店！ ～2026年は大阪府での展開を加速します！～. (2026年2月24日).</a:t>
            </a:r>
          </a:p>
          <a:p>
            <a:pPr>
              <a:spcAft>
                <a:spcPts val="800"/>
              </a:spcAft>
            </a:pPr>
            <a:r>
              <a:rPr sz="1200">
                <a:solidFill>
                  <a:srgbClr val="1E1E1E"/>
                </a:solidFill>
              </a:rPr>
              <a:t>・ </a:t>
            </a:r>
            <a:r>
              <a:rPr sz="1200">
                <a:solidFill>
                  <a:srgbClr val="1E1E1E"/>
                </a:solidFill>
              </a:rPr>
              <a:t>  オーケー／25年兵庫県5店舗、26年大阪府7店舗オープン \| 流通ニュース. (2024年12月23日).</a:t>
            </a:r>
          </a:p>
          <a:p>
            <a:pPr>
              <a:spcAft>
                <a:spcPts val="800"/>
              </a:spcAft>
            </a:pPr>
            <a:r>
              <a:rPr sz="1200">
                <a:solidFill>
                  <a:srgbClr val="1E1E1E"/>
                </a:solidFill>
              </a:rPr>
              <a:t>・ </a:t>
            </a:r>
            <a:r>
              <a:rPr sz="1200">
                <a:solidFill>
                  <a:srgbClr val="1E1E1E"/>
                </a:solidFill>
              </a:rPr>
              <a:t>  ディスカウント・スーパーマーケット「オーケー」 大阪府での展開を加速！5月に「大東新田西町店」「豊中穂積店」を連続出店 ～2026年度は大阪府内に計7店舗の出店を予定. (2026年4月14日).</a:t>
            </a:r>
          </a:p>
          <a:p>
            <a:pPr>
              <a:spcAft>
                <a:spcPts val="800"/>
              </a:spcAft>
            </a:pPr>
            <a:r>
              <a:rPr sz="1200">
                <a:solidFill>
                  <a:srgbClr val="1E1E1E"/>
                </a:solidFill>
              </a:rPr>
              <a:t>・ </a:t>
            </a:r>
            <a:r>
              <a:rPr sz="1200">
                <a:solidFill>
                  <a:srgbClr val="1E1E1E"/>
                </a:solidFill>
              </a:rPr>
              <a:t>  成城石井、大阪府堺市に「成城石井 イオンモール堺北花田店」6月18日オープン. (2026年6月17日).</a:t>
            </a:r>
          </a:p>
          <a:p>
            <a:pPr>
              <a:spcAft>
                <a:spcPts val="800"/>
              </a:spcAft>
            </a:pPr>
            <a:r>
              <a:rPr sz="1200">
                <a:solidFill>
                  <a:srgbClr val="1E1E1E"/>
                </a:solidFill>
              </a:rPr>
              <a:t>・ </a:t>
            </a:r>
            <a:r>
              <a:rPr sz="1200">
                <a:solidFill>
                  <a:srgbClr val="1E1E1E"/>
                </a:solidFill>
              </a:rPr>
              <a:t>  関西地方 \| 出店ウォッチ. (2026年6月7日).</a:t>
            </a:r>
          </a:p>
          <a:p>
            <a:pPr>
              <a:spcAft>
                <a:spcPts val="800"/>
              </a:spcAft>
            </a:pPr>
            <a:r>
              <a:rPr sz="1200">
                <a:solidFill>
                  <a:srgbClr val="1E1E1E"/>
                </a:solidFill>
              </a:rPr>
              <a:t>・ </a:t>
            </a:r>
            <a:r>
              <a:rPr sz="1200">
                <a:solidFill>
                  <a:srgbClr val="1E1E1E"/>
                </a:solidFill>
              </a:rPr>
              <a:t>  成城石井 イオンモール堺北花田店｣6/18オープン 流通スーパーニュース. (2026年6月11日).</a:t>
            </a:r>
          </a:p>
          <a:p>
            <a:pPr>
              <a:spcAft>
                <a:spcPts val="800"/>
              </a:spcAft>
            </a:pPr>
            <a:r>
              <a:rPr sz="1200">
                <a:solidFill>
                  <a:srgbClr val="1E1E1E"/>
                </a:solidFill>
              </a:rPr>
              <a:t>・ </a:t>
            </a:r>
            <a:r>
              <a:rPr sz="1200">
                <a:solidFill>
                  <a:srgbClr val="1E1E1E"/>
                </a:solidFill>
              </a:rPr>
              <a:t>  成城石井イオンモール堺北花田店、2026年6月18日開店－郊外型店舗の強化進める成城石井、さらなる狭小店展開 \| 都市商業研究所. (2026年6月17日).</a:t>
            </a:r>
          </a:p>
          <a:p>
            <a:pPr>
              <a:spcAft>
                <a:spcPts val="800"/>
              </a:spcAft>
            </a:pPr>
            <a:r>
              <a:rPr sz="1200">
                <a:solidFill>
                  <a:srgbClr val="1E1E1E"/>
                </a:solidFill>
              </a:rPr>
              <a:t>・ </a:t>
            </a:r>
            <a:r>
              <a:rPr sz="1200">
                <a:solidFill>
                  <a:srgbClr val="1E1E1E"/>
                </a:solidFill>
              </a:rPr>
              <a:t>  【堺市】「成城石井 イオンモール堺北花田店」が6月18日にオープン 御堂筋線・北花田駅至近のイオンモール1階に出店. (2026年6月15日).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