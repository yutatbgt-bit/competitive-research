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4628"/>
        </a:solidFill>
        <a:effectLst/>
      </p:bgPr>
    </p:bg>
    <p:spTree>
      <p:nvGrpSpPr>
        <p:cNvPr id="1" name=""/>
        <p:cNvGrpSpPr/>
        <p:nvPr/>
      </p:nvGrpSpPr>
      <p:grpSpPr/>
      <p:sp>
        <p:nvSpPr>
          <p:cNvPr id="2" name="TextBox 1"/>
          <p:cNvSpPr txBox="1"/>
          <p:nvPr/>
        </p:nvSpPr>
        <p:spPr>
          <a:xfrm>
            <a:off x="914400" y="2011680"/>
            <a:ext cx="10360152" cy="2286000"/>
          </a:xfrm>
          <a:prstGeom prst="rect">
            <a:avLst/>
          </a:prstGeom>
          <a:noFill/>
        </p:spPr>
        <p:txBody>
          <a:bodyPr wrap="square">
            <a:spAutoFit/>
          </a:bodyPr>
          <a:lstStyle/>
          <a:p>
            <a:pPr algn="ctr">
              <a:defRPr b="1" sz="4000">
                <a:solidFill>
                  <a:srgbClr val="D4AF37"/>
                </a:solidFill>
              </a:defRPr>
            </a:pPr>
            <a:r>
              <a:t>いかりスーパー周辺 競合環境調査レポート</a:t>
            </a:r>
          </a:p>
          <a:p>
            <a:pPr algn="ctr">
              <a:spcBef>
                <a:spcPts val="2000"/>
              </a:spcBef>
              <a:defRPr sz="2200">
                <a:solidFill>
                  <a:srgbClr val="FFFFFF"/>
                </a:solidFill>
              </a:defRPr>
            </a:pPr>
            <a:r>
              <a:t>2026年6月度 競合調査結果報告書</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4628"/>
                </a:solidFill>
              </a:defRPr>
            </a:pPr>
            <a:r>
              <a:t>a) 【結論】</a:t>
            </a:r>
          </a:p>
        </p:txBody>
      </p:sp>
      <p:sp>
        <p:nvSpPr>
          <p:cNvPr id="3" name="TextBox 2"/>
          <p:cNvSpPr txBox="1"/>
          <p:nvPr/>
        </p:nvSpPr>
        <p:spPr>
          <a:xfrm>
            <a:off x="685800" y="1371600"/>
            <a:ext cx="10817352" cy="4572000"/>
          </a:xfrm>
          <a:prstGeom prst="rect">
            <a:avLst/>
          </a:prstGeom>
          <a:noFill/>
        </p:spPr>
        <p:txBody>
          <a:bodyPr wrap="square">
            <a:spAutoFit/>
          </a:bodyPr>
          <a:lstStyle/>
          <a:p>
            <a:pPr>
              <a:spcAft>
                <a:spcPts val="1600"/>
              </a:spcAft>
              <a:defRPr sz="1800">
                <a:solidFill>
                  <a:srgbClr val="1E1E1E"/>
                </a:solidFill>
              </a:defRPr>
            </a:pPr>
            <a:r>
              <a:t>・   高級スーパーマーケットの競合環境において、新たな出店計画が複数判明した。特に、高品質・高価格帯市場での直接的な競争激化が見込まれる。</a:t>
            </a:r>
          </a:p>
          <a:p>
            <a:pPr>
              <a:spcAft>
                <a:spcPts val="1600"/>
              </a:spcAft>
              <a:defRPr sz="1800">
                <a:solidFill>
                  <a:srgbClr val="1E1E1E"/>
                </a:solidFill>
              </a:defRPr>
            </a:pPr>
            <a:r>
              <a:t>・   ヤマダストアーは、2027年春に兵庫県宝塚市に新店舗をオープンする計画であり、いかりスーパーの顧客層と重複する地域での競合が強まる。</a:t>
            </a:r>
          </a:p>
          <a:p>
            <a:pPr>
              <a:spcAft>
                <a:spcPts val="1600"/>
              </a:spcAft>
              <a:defRPr sz="1800">
                <a:solidFill>
                  <a:srgbClr val="1E1E1E"/>
                </a:solidFill>
              </a:defRPr>
            </a:pPr>
            <a:r>
              <a:t>・   成城石井は、本日2026年6月18日に大阪府堺市のイオンモール堺北花田店に新規出店し、都市部での高品質スーパー市場での競争がさらに激化する。</a:t>
            </a:r>
          </a:p>
          <a:p>
            <a:pPr>
              <a:spcAft>
                <a:spcPts val="1600"/>
              </a:spcAft>
              <a:defRPr sz="1800">
                <a:solidFill>
                  <a:srgbClr val="1E1E1E"/>
                </a:solidFill>
              </a:defRPr>
            </a:pPr>
            <a:r>
              <a:t>・   ディスカウントスーパーのオーケーは、2026年後半に大阪府内で2店舗の新規出店（高槻赤大路店、長吉店）を予定しており、2027年以降も関西エリアでの積極的な展開を継続する方針を示しており、広範な価格帯での競争圧力が上昇す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4628"/>
                </a:solidFill>
              </a:defRPr>
            </a:pPr>
            <a:r>
              <a:t>b) 【詳細】 (1ページ目)</a:t>
            </a:r>
          </a:p>
        </p:txBody>
      </p:sp>
      <p:graphicFrame>
        <p:nvGraphicFramePr>
          <p:cNvPr id="3" name="Table 2"/>
          <p:cNvGraphicFramePr>
            <a:graphicFrameLocks noGrp="1"/>
          </p:cNvGraphicFramePr>
          <p:nvPr/>
        </p:nvGraphicFramePr>
        <p:xfrm>
          <a:off x="685800" y="1280160"/>
          <a:ext cx="10817352" cy="4754880"/>
        </p:xfrm>
        <a:graphic>
          <a:graphicData uri="http://schemas.openxmlformats.org/drawingml/2006/table">
            <a:tbl>
              <a:tblPr firstRow="1" bandRow="1">
                <a:tableStyleId>{5C22544A-7EE6-4342-B048-85BDC9FD1C3A}</a:tableStyleId>
              </a:tblPr>
              <a:tblGrid>
                <a:gridCol w="914400"/>
                <a:gridCol w="2011680"/>
                <a:gridCol w="1188720"/>
                <a:gridCol w="914400"/>
                <a:gridCol w="1371600"/>
                <a:gridCol w="4416552"/>
              </a:tblGrid>
              <a:tr h="792480">
                <a:tc>
                  <a:txBody>
                    <a:bodyPr/>
                    <a:lstStyle/>
                    <a:p>
                      <a:pPr algn="ctr">
                        <a:defRPr b="1" sz="1100">
                          <a:solidFill>
                            <a:srgbClr val="FFFFFF"/>
                          </a:solidFill>
                        </a:defRPr>
                      </a:pPr>
                      <a:r>
                        <a:t>エリア</a:t>
                      </a:r>
                    </a:p>
                  </a:txBody>
                  <a:tcPr>
                    <a:solidFill>
                      <a:srgbClr val="004628"/>
                    </a:solidFill>
                  </a:tcPr>
                </a:tc>
                <a:tc>
                  <a:txBody>
                    <a:bodyPr/>
                    <a:lstStyle/>
                    <a:p>
                      <a:pPr algn="ctr">
                        <a:defRPr b="1" sz="1100">
                          <a:solidFill>
                            <a:srgbClr val="FFFFFF"/>
                          </a:solidFill>
                        </a:defRPr>
                      </a:pPr>
                      <a:r>
                        <a:t>競合店舗名</a:t>
                      </a:r>
                    </a:p>
                  </a:txBody>
                  <a:tcPr>
                    <a:solidFill>
                      <a:srgbClr val="004628"/>
                    </a:solidFill>
                  </a:tcPr>
                </a:tc>
                <a:tc>
                  <a:txBody>
                    <a:bodyPr/>
                    <a:lstStyle/>
                    <a:p>
                      <a:pPr algn="ctr">
                        <a:defRPr b="1" sz="1100">
                          <a:solidFill>
                            <a:srgbClr val="FFFFFF"/>
                          </a:solidFill>
                        </a:defRPr>
                      </a:pPr>
                      <a:r>
                        <a:t>時期</a:t>
                      </a:r>
                    </a:p>
                  </a:txBody>
                  <a:tcPr>
                    <a:solidFill>
                      <a:srgbClr val="004628"/>
                    </a:solidFill>
                  </a:tcPr>
                </a:tc>
                <a:tc>
                  <a:txBody>
                    <a:bodyPr/>
                    <a:lstStyle/>
                    <a:p>
                      <a:pPr algn="ctr">
                        <a:defRPr b="1" sz="1100">
                          <a:solidFill>
                            <a:srgbClr val="FFFFFF"/>
                          </a:solidFill>
                        </a:defRPr>
                      </a:pPr>
                      <a:r>
                        <a:t>状態</a:t>
                      </a:r>
                    </a:p>
                  </a:txBody>
                  <a:tcPr>
                    <a:solidFill>
                      <a:srgbClr val="004628"/>
                    </a:solidFill>
                  </a:tcPr>
                </a:tc>
                <a:tc>
                  <a:txBody>
                    <a:bodyPr/>
                    <a:lstStyle/>
                    <a:p>
                      <a:pPr algn="ctr">
                        <a:defRPr b="1" sz="1100">
                          <a:solidFill>
                            <a:srgbClr val="FFFFFF"/>
                          </a:solidFill>
                        </a:defRPr>
                      </a:pPr>
                      <a:r>
                        <a:t>影響レベル</a:t>
                      </a:r>
                    </a:p>
                  </a:txBody>
                  <a:tcPr>
                    <a:solidFill>
                      <a:srgbClr val="004628"/>
                    </a:solidFill>
                  </a:tcPr>
                </a:tc>
                <a:tc>
                  <a:txBody>
                    <a:bodyPr/>
                    <a:lstStyle/>
                    <a:p>
                      <a:pPr algn="ctr">
                        <a:defRPr b="1" sz="1100">
                          <a:solidFill>
                            <a:srgbClr val="FFFFFF"/>
                          </a:solidFill>
                        </a:defRPr>
                      </a:pPr>
                      <a:r>
                        <a:t>詳細説明</a:t>
                      </a:r>
                    </a:p>
                  </a:txBody>
                  <a:tcPr>
                    <a:solidFill>
                      <a:srgbClr val="004628"/>
                    </a:solidFill>
                  </a:tcPr>
                </a:tc>
              </a:tr>
              <a:tr h="792480">
                <a:tc>
                  <a:txBody>
                    <a:bodyPr/>
                    <a:lstStyle/>
                    <a:p>
                      <a:pPr>
                        <a:defRPr sz="950">
                          <a:solidFill>
                            <a:srgbClr val="1E1E1E"/>
                          </a:solidFill>
                        </a:defRPr>
                      </a:pPr>
                      <a:r>
                        <a:t>:---</a:t>
                      </a:r>
                    </a:p>
                  </a:txBody>
                  <a:tcPr>
                    <a:solidFill>
                      <a:srgbClr val="F5F5F5"/>
                    </a:solidFill>
                  </a:tcPr>
                </a:tc>
                <a:tc>
                  <a:txBody>
                    <a:bodyPr/>
                    <a:lstStyle/>
                    <a:p>
                      <a:pPr>
                        <a:defRPr sz="950">
                          <a:solidFill>
                            <a:srgbClr val="1E1E1E"/>
                          </a:solidFill>
                        </a:defRPr>
                      </a:pPr>
                      <a:r>
                        <a:t>:---</a:t>
                      </a:r>
                    </a:p>
                  </a:txBody>
                  <a:tcPr>
                    <a:solidFill>
                      <a:srgbClr val="F5F5F5"/>
                    </a:solidFill>
                  </a:tcPr>
                </a:tc>
                <a:tc>
                  <a:txBody>
                    <a:bodyPr/>
                    <a:lstStyle/>
                    <a:p>
                      <a:pPr>
                        <a:defRPr sz="950">
                          <a:solidFill>
                            <a:srgbClr val="1E1E1E"/>
                          </a:solidFill>
                        </a:defRPr>
                      </a:pPr>
                      <a:r>
                        <a:t>:---</a:t>
                      </a:r>
                    </a:p>
                  </a:txBody>
                  <a:tcPr>
                    <a:solidFill>
                      <a:srgbClr val="F5F5F5"/>
                    </a:solidFill>
                  </a:tcPr>
                </a:tc>
                <a:tc>
                  <a:txBody>
                    <a:bodyPr/>
                    <a:lstStyle/>
                    <a:p>
                      <a:pPr>
                        <a:defRPr sz="950">
                          <a:solidFill>
                            <a:srgbClr val="1E1E1E"/>
                          </a:solidFill>
                        </a:defRPr>
                      </a:pPr>
                      <a:r>
                        <a:t>:---</a:t>
                      </a:r>
                    </a:p>
                  </a:txBody>
                  <a:tcPr>
                    <a:solidFill>
                      <a:srgbClr val="F5F5F5"/>
                    </a:solidFill>
                  </a:tcPr>
                </a:tc>
                <a:tc>
                  <a:txBody>
                    <a:bodyPr/>
                    <a:lstStyle/>
                    <a:p>
                      <a:pPr>
                        <a:defRPr sz="950">
                          <a:solidFill>
                            <a:srgbClr val="1E1E1E"/>
                          </a:solidFill>
                        </a:defRPr>
                      </a:pPr>
                      <a:r>
                        <a:t>:---</a:t>
                      </a:r>
                    </a:p>
                  </a:txBody>
                  <a:tcPr>
                    <a:solidFill>
                      <a:srgbClr val="F5F5F5"/>
                    </a:solidFill>
                  </a:tcPr>
                </a:tc>
                <a:tc>
                  <a:txBody>
                    <a:bodyPr/>
                    <a:lstStyle/>
                    <a:p>
                      <a:pPr>
                        <a:defRPr sz="950">
                          <a:solidFill>
                            <a:srgbClr val="1E1E1E"/>
                          </a:solidFill>
                        </a:defRPr>
                      </a:pPr>
                      <a:r>
                        <a:t>:---</a:t>
                      </a:r>
                    </a:p>
                  </a:txBody>
                  <a:tcPr>
                    <a:solidFill>
                      <a:srgbClr val="F5F5F5"/>
                    </a:solidFill>
                  </a:tcPr>
                </a:tc>
              </a:tr>
              <a:tr h="792480">
                <a:tc>
                  <a:txBody>
                    <a:bodyPr/>
                    <a:lstStyle/>
                    <a:p>
                      <a:pPr>
                        <a:defRPr sz="950">
                          <a:solidFill>
                            <a:srgbClr val="1E1E1E"/>
                          </a:solidFill>
                        </a:defRPr>
                      </a:pPr>
                      <a:r>
                        <a:t>大阪府堺市北区</a:t>
                      </a:r>
                    </a:p>
                  </a:txBody>
                  <a:tcPr/>
                </a:tc>
                <a:tc>
                  <a:txBody>
                    <a:bodyPr/>
                    <a:lstStyle/>
                    <a:p>
                      <a:pPr>
                        <a:defRPr sz="950">
                          <a:solidFill>
                            <a:srgbClr val="1E1E1E"/>
                          </a:solidFill>
                        </a:defRPr>
                      </a:pPr>
                      <a:r>
                        <a:t>成城石井 イオンモール堺北花田店</a:t>
                      </a:r>
                    </a:p>
                  </a:txBody>
                  <a:tcPr/>
                </a:tc>
                <a:tc>
                  <a:txBody>
                    <a:bodyPr/>
                    <a:lstStyle/>
                    <a:p>
                      <a:pPr>
                        <a:defRPr sz="950">
                          <a:solidFill>
                            <a:srgbClr val="1E1E1E"/>
                          </a:solidFill>
                        </a:defRPr>
                      </a:pPr>
                      <a:r>
                        <a:t>2026年6月18日</a:t>
                      </a:r>
                    </a:p>
                  </a:txBody>
                  <a:tcPr/>
                </a:tc>
                <a:tc>
                  <a:txBody>
                    <a:bodyPr/>
                    <a:lstStyle/>
                    <a:p>
                      <a:pPr>
                        <a:defRPr sz="950">
                          <a:solidFill>
                            <a:srgbClr val="1E1E1E"/>
                          </a:solidFill>
                        </a:defRPr>
                      </a:pPr>
                      <a:r>
                        <a:t>新規出店</a:t>
                      </a:r>
                    </a:p>
                  </a:txBody>
                  <a:tcPr/>
                </a:tc>
                <a:tc>
                  <a:txBody>
                    <a:bodyPr/>
                    <a:lstStyle/>
                    <a:p>
                      <a:pPr>
                        <a:defRPr sz="950">
                          <a:solidFill>
                            <a:srgbClr val="1E1E1E"/>
                          </a:solidFill>
                        </a:defRPr>
                      </a:pPr>
                      <a:r>
                        <a:t>中</a:t>
                      </a:r>
                    </a:p>
                  </a:txBody>
                  <a:tcPr/>
                </a:tc>
                <a:tc>
                  <a:txBody>
                    <a:bodyPr/>
                    <a:lstStyle/>
                    <a:p>
                      <a:pPr>
                        <a:defRPr sz="950">
                          <a:solidFill>
                            <a:srgbClr val="1E1E1E"/>
                          </a:solidFill>
                        </a:defRPr>
                      </a:pPr>
                      <a:r>
                        <a:t>Osaka Metro御堂筋線北花田駅直結のイオンモール堺北花田1階に約38坪の規模でオープン。惣菜、デザート、パン、グロサリーなど高品質商品を幅広く展開する。</a:t>
                      </a:r>
                    </a:p>
                  </a:txBody>
                  <a:tcPr/>
                </a:tc>
              </a:tr>
              <a:tr h="792480">
                <a:tc>
                  <a:txBody>
                    <a:bodyPr/>
                    <a:lstStyle/>
                    <a:p>
                      <a:pPr>
                        <a:defRPr sz="950">
                          <a:solidFill>
                            <a:srgbClr val="1E1E1E"/>
                          </a:solidFill>
                        </a:defRPr>
                      </a:pPr>
                      <a:r>
                        <a:t>大阪府高槻市</a:t>
                      </a:r>
                    </a:p>
                  </a:txBody>
                  <a:tcPr>
                    <a:solidFill>
                      <a:srgbClr val="F5F5F5"/>
                    </a:solidFill>
                  </a:tcPr>
                </a:tc>
                <a:tc>
                  <a:txBody>
                    <a:bodyPr/>
                    <a:lstStyle/>
                    <a:p>
                      <a:pPr>
                        <a:defRPr sz="950">
                          <a:solidFill>
                            <a:srgbClr val="1E1E1E"/>
                          </a:solidFill>
                        </a:defRPr>
                      </a:pPr>
                      <a:r>
                        <a:t>オーケー 高槻赤大路店</a:t>
                      </a:r>
                    </a:p>
                  </a:txBody>
                  <a:tcPr>
                    <a:solidFill>
                      <a:srgbClr val="F5F5F5"/>
                    </a:solidFill>
                  </a:tcPr>
                </a:tc>
                <a:tc>
                  <a:txBody>
                    <a:bodyPr/>
                    <a:lstStyle/>
                    <a:p>
                      <a:pPr>
                        <a:defRPr sz="950">
                          <a:solidFill>
                            <a:srgbClr val="1E1E1E"/>
                          </a:solidFill>
                        </a:defRPr>
                      </a:pPr>
                      <a:r>
                        <a:t>2026年8月下旬</a:t>
                      </a:r>
                    </a:p>
                  </a:txBody>
                  <a:tcPr>
                    <a:solidFill>
                      <a:srgbClr val="F5F5F5"/>
                    </a:solidFill>
                  </a:tcPr>
                </a:tc>
                <a:tc>
                  <a:txBody>
                    <a:bodyPr/>
                    <a:lstStyle/>
                    <a:p>
                      <a:pPr>
                        <a:defRPr sz="950">
                          <a:solidFill>
                            <a:srgbClr val="1E1E1E"/>
                          </a:solidFill>
                        </a:defRPr>
                      </a:pPr>
                      <a:r>
                        <a:t>新規出店</a:t>
                      </a:r>
                    </a:p>
                  </a:txBody>
                  <a:tcPr>
                    <a:solidFill>
                      <a:srgbClr val="F5F5F5"/>
                    </a:solidFill>
                  </a:tcPr>
                </a:tc>
                <a:tc>
                  <a:txBody>
                    <a:bodyPr/>
                    <a:lstStyle/>
                    <a:p>
                      <a:pPr>
                        <a:defRPr sz="950">
                          <a:solidFill>
                            <a:srgbClr val="1E1E1E"/>
                          </a:solidFill>
                        </a:defRPr>
                      </a:pPr>
                      <a:r>
                        <a:t>中</a:t>
                      </a:r>
                    </a:p>
                  </a:txBody>
                  <a:tcPr>
                    <a:solidFill>
                      <a:srgbClr val="F5F5F5"/>
                    </a:solidFill>
                  </a:tcPr>
                </a:tc>
                <a:tc>
                  <a:txBody>
                    <a:bodyPr/>
                    <a:lstStyle/>
                    <a:p>
                      <a:pPr>
                        <a:defRPr sz="950">
                          <a:solidFill>
                            <a:srgbClr val="1E1E1E"/>
                          </a:solidFill>
                        </a:defRPr>
                      </a:pPr>
                      <a:r>
                        <a:t>オーケーは2026年度に大阪府内で計7店舗の出店を予定しており、その一環として8月下旬に高槻赤大路店をオープンする。</a:t>
                      </a:r>
                    </a:p>
                  </a:txBody>
                  <a:tcPr>
                    <a:solidFill>
                      <a:srgbClr val="F5F5F5"/>
                    </a:solidFill>
                  </a:tcPr>
                </a:tc>
              </a:tr>
              <a:tr h="792480">
                <a:tc>
                  <a:txBody>
                    <a:bodyPr/>
                    <a:lstStyle/>
                    <a:p>
                      <a:pPr>
                        <a:defRPr sz="950">
                          <a:solidFill>
                            <a:srgbClr val="1E1E1E"/>
                          </a:solidFill>
                        </a:defRPr>
                      </a:pPr>
                      <a:r>
                        <a:t>大阪府大阪市</a:t>
                      </a:r>
                    </a:p>
                  </a:txBody>
                  <a:tcPr/>
                </a:tc>
                <a:tc>
                  <a:txBody>
                    <a:bodyPr/>
                    <a:lstStyle/>
                    <a:p>
                      <a:pPr>
                        <a:defRPr sz="950">
                          <a:solidFill>
                            <a:srgbClr val="1E1E1E"/>
                          </a:solidFill>
                        </a:defRPr>
                      </a:pPr>
                      <a:r>
                        <a:t>オーケー 長吉店</a:t>
                      </a:r>
                    </a:p>
                  </a:txBody>
                  <a:tcPr/>
                </a:tc>
                <a:tc>
                  <a:txBody>
                    <a:bodyPr/>
                    <a:lstStyle/>
                    <a:p>
                      <a:pPr>
                        <a:defRPr sz="950">
                          <a:solidFill>
                            <a:srgbClr val="1E1E1E"/>
                          </a:solidFill>
                        </a:defRPr>
                      </a:pPr>
                      <a:r>
                        <a:t>2026年11月中旬</a:t>
                      </a:r>
                    </a:p>
                  </a:txBody>
                  <a:tcPr/>
                </a:tc>
                <a:tc>
                  <a:txBody>
                    <a:bodyPr/>
                    <a:lstStyle/>
                    <a:p>
                      <a:pPr>
                        <a:defRPr sz="950">
                          <a:solidFill>
                            <a:srgbClr val="1E1E1E"/>
                          </a:solidFill>
                        </a:defRPr>
                      </a:pPr>
                      <a:r>
                        <a:t>新規出店</a:t>
                      </a:r>
                    </a:p>
                  </a:txBody>
                  <a:tcPr/>
                </a:tc>
                <a:tc>
                  <a:txBody>
                    <a:bodyPr/>
                    <a:lstStyle/>
                    <a:p>
                      <a:pPr>
                        <a:defRPr sz="950">
                          <a:solidFill>
                            <a:srgbClr val="1E1E1E"/>
                          </a:solidFill>
                        </a:defRPr>
                      </a:pPr>
                      <a:r>
                        <a:t>中</a:t>
                      </a:r>
                    </a:p>
                  </a:txBody>
                  <a:tcPr/>
                </a:tc>
                <a:tc>
                  <a:txBody>
                    <a:bodyPr/>
                    <a:lstStyle/>
                    <a:p>
                      <a:pPr>
                        <a:defRPr sz="950">
                          <a:solidFill>
                            <a:srgbClr val="1E1E1E"/>
                          </a:solidFill>
                        </a:defRPr>
                      </a:pPr>
                      <a:r>
                        <a:t>2026年度の大阪府内での出店計画に含まれており、11月中旬にオープン予定。</a:t>
                      </a:r>
                    </a:p>
                  </a:txBody>
                  <a:tcPr/>
                </a:tc>
              </a:tr>
              <a:tr h="792480">
                <a:tc>
                  <a:txBody>
                    <a:bodyPr/>
                    <a:lstStyle/>
                    <a:p>
                      <a:pPr>
                        <a:defRPr sz="950">
                          <a:solidFill>
                            <a:srgbClr val="1E1E1E"/>
                          </a:solidFill>
                        </a:defRPr>
                      </a:pPr>
                      <a:r>
                        <a:t>兵庫県宝塚市</a:t>
                      </a:r>
                    </a:p>
                  </a:txBody>
                  <a:tcPr>
                    <a:solidFill>
                      <a:srgbClr val="F5F5F5"/>
                    </a:solidFill>
                  </a:tcPr>
                </a:tc>
                <a:tc>
                  <a:txBody>
                    <a:bodyPr/>
                    <a:lstStyle/>
                    <a:p>
                      <a:pPr>
                        <a:defRPr sz="950">
                          <a:solidFill>
                            <a:srgbClr val="1E1E1E"/>
                          </a:solidFill>
                        </a:defRPr>
                      </a:pPr>
                      <a:r>
                        <a:t>ヤマダストアー 宝塚店（仮称）</a:t>
                      </a:r>
                    </a:p>
                  </a:txBody>
                  <a:tcPr>
                    <a:solidFill>
                      <a:srgbClr val="F5F5F5"/>
                    </a:solidFill>
                  </a:tcPr>
                </a:tc>
                <a:tc>
                  <a:txBody>
                    <a:bodyPr/>
                    <a:lstStyle/>
                    <a:p>
                      <a:pPr>
                        <a:defRPr sz="950">
                          <a:solidFill>
                            <a:srgbClr val="1E1E1E"/>
                          </a:solidFill>
                        </a:defRPr>
                      </a:pPr>
                      <a:r>
                        <a:t>2027年春</a:t>
                      </a:r>
                    </a:p>
                  </a:txBody>
                  <a:tcPr>
                    <a:solidFill>
                      <a:srgbClr val="F5F5F5"/>
                    </a:solidFill>
                  </a:tcPr>
                </a:tc>
                <a:tc>
                  <a:txBody>
                    <a:bodyPr/>
                    <a:lstStyle/>
                    <a:p>
                      <a:pPr>
                        <a:defRPr sz="950">
                          <a:solidFill>
                            <a:srgbClr val="1E1E1E"/>
                          </a:solidFill>
                        </a:defRPr>
                      </a:pPr>
                      <a:r>
                        <a:t>新規出店</a:t>
                      </a:r>
                    </a:p>
                  </a:txBody>
                  <a:tcPr>
                    <a:solidFill>
                      <a:srgbClr val="F5F5F5"/>
                    </a:solidFill>
                  </a:tcPr>
                </a:tc>
                <a:tc>
                  <a:txBody>
                    <a:bodyPr/>
                    <a:lstStyle/>
                    <a:p>
                      <a:pPr>
                        <a:defRPr sz="950">
                          <a:solidFill>
                            <a:srgbClr val="1E1E1E"/>
                          </a:solidFill>
                        </a:defRPr>
                      </a:pPr>
                      <a:r>
                        <a:t>高</a:t>
                      </a:r>
                    </a:p>
                  </a:txBody>
                  <a:tcPr>
                    <a:solidFill>
                      <a:srgbClr val="F5F5F5"/>
                    </a:solidFill>
                  </a:tcPr>
                </a:tc>
                <a:tc>
                  <a:txBody>
                    <a:bodyPr/>
                    <a:lstStyle/>
                    <a:p>
                      <a:pPr>
                        <a:defRPr sz="950">
                          <a:solidFill>
                            <a:srgbClr val="1E1E1E"/>
                          </a:solidFill>
                        </a:defRPr>
                      </a:pPr>
                      <a:r>
                        <a:t>兵庫県宝塚市伊孑志4丁目のNTT社員寮跡地に、こだわりの高品質スーパーマーケットとしてオープン予定。</a:t>
                      </a:r>
                    </a:p>
                  </a:txBody>
                  <a:tcPr>
                    <a:solidFill>
                      <a:srgbClr val="F5F5F5"/>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4628"/>
                </a:solidFill>
              </a:defRPr>
            </a:pPr>
            <a:r>
              <a:t>c) 【地図的分析】</a:t>
            </a:r>
          </a:p>
        </p:txBody>
      </p:sp>
      <p:sp>
        <p:nvSpPr>
          <p:cNvPr id="3" name="TextBox 2"/>
          <p:cNvSpPr txBox="1"/>
          <p:nvPr/>
        </p:nvSpPr>
        <p:spPr>
          <a:xfrm>
            <a:off x="685800" y="1280160"/>
            <a:ext cx="10817352" cy="4846320"/>
          </a:xfrm>
          <a:prstGeom prst="rect">
            <a:avLst/>
          </a:prstGeom>
          <a:noFill/>
        </p:spPr>
        <p:txBody>
          <a:bodyPr wrap="square">
            <a:spAutoFit/>
          </a:bodyPr>
          <a:lstStyle/>
          <a:p>
            <a:pPr>
              <a:spcAft>
                <a:spcPts val="1400"/>
              </a:spcAft>
              <a:defRPr sz="1400">
                <a:solidFill>
                  <a:srgbClr val="1E1E1E"/>
                </a:solidFill>
              </a:defRPr>
            </a:pPr>
            <a:r>
              <a:t>*   本日（2026年6月18日）オープンした成城石井イオンモール堺北花田店は、いかりスーパーの既存店舗とはやや離れるものの、北花田駅直結という利便性の高い立地で、いかりスーパーがターゲットとする高品質志向の顧客層の一部を吸引する可能性がある。</a:t>
            </a:r>
          </a:p>
          <a:p>
            <a:pPr>
              <a:spcAft>
                <a:spcPts val="1400"/>
              </a:spcAft>
              <a:defRPr sz="1400">
                <a:solidFill>
                  <a:srgbClr val="1E1E1E"/>
                </a:solidFill>
              </a:defRPr>
            </a:pPr>
            <a:r>
              <a:t>*   2027年春に宝塚市に新規出店するヤマダストアー宝塚店は、いかりスーパーの宝塚エリア店舗（例: いかり宝塚店など）にとって直接的な競合となる。ヤマダストアーも高品質・こだわり商品を強みとするため、このエリアでの競争激化は避けられない。</a:t>
            </a:r>
          </a:p>
          <a:p>
            <a:pPr>
              <a:spcAft>
                <a:spcPts val="1400"/>
              </a:spcAft>
              <a:defRPr sz="1400">
                <a:solidFill>
                  <a:srgbClr val="1E1E1E"/>
                </a:solidFill>
              </a:defRPr>
            </a:pPr>
            <a:r>
              <a:t>*   オーケーの高槻赤大路店（2026年8月下旬）および長吉店（2026年11月中旬）の出店は、大阪府内におけるオーケーの店舗網をさらに拡大させるものであり、広範囲で価格競争を激化させる要因となり得る。いかりスーパーとは異なる価格帯の競合ではあるが、日常使いの需要を奪われる可能性があり、間接的な影響は大き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4628"/>
                </a:solidFill>
              </a:defRPr>
            </a:pPr>
            <a:r>
              <a:t>d) 【影響分析】</a:t>
            </a:r>
          </a:p>
        </p:txBody>
      </p:sp>
      <p:sp>
        <p:nvSpPr>
          <p:cNvPr id="3" name="TextBox 2"/>
          <p:cNvSpPr txBox="1"/>
          <p:nvPr/>
        </p:nvSpPr>
        <p:spPr>
          <a:xfrm>
            <a:off x="685800" y="1280160"/>
            <a:ext cx="10817352" cy="4846320"/>
          </a:xfrm>
          <a:prstGeom prst="rect">
            <a:avLst/>
          </a:prstGeom>
          <a:noFill/>
        </p:spPr>
        <p:txBody>
          <a:bodyPr wrap="square">
            <a:spAutoFit/>
          </a:bodyPr>
          <a:lstStyle/>
          <a:p>
            <a:pPr>
              <a:spcAft>
                <a:spcPts val="1200"/>
              </a:spcAft>
              <a:defRPr sz="1350">
                <a:solidFill>
                  <a:srgbClr val="1E1E1E"/>
                </a:solidFill>
              </a:defRPr>
            </a:pPr>
            <a:r>
              <a:t>*   本日開業した「成城石井 イオンモール堺北花田店」の出店は、いかりスーパーの大阪市内南部、特に高級志向の顧客が多いエリアにおける競争環境を厳しくする。いかりスーパーの周辺店舗は、品揃えの独自性や、顧客体験のさらなる向上を通じて差別化を図る必要がある。</a:t>
            </a:r>
          </a:p>
          <a:p>
            <a:pPr>
              <a:spcAft>
                <a:spcPts val="1200"/>
              </a:spcAft>
              <a:defRPr sz="1350">
                <a:solidFill>
                  <a:srgbClr val="1E1E1E"/>
                </a:solidFill>
              </a:defRPr>
            </a:pPr>
            <a:r>
              <a:t>*   2027年春にオープン予定の「ヤマダストアー宝塚店」は、いかりスーパー宝塚店や周辺のいかり店舗にとって極めて大きな脅威となる。ヤマダストアーは「高品質・こだわり」を追求する点でいかりスーパーと類似しており、宝塚エリアにおける高級スーパー市場での直接的な顧客争奪戦が予想される。いかりスーパーは、地域に根ざした商品やサービス、コミュニティとの連携を一層強化し、顧客ロイヤルティを維持・向上させる戦略が求められる。</a:t>
            </a:r>
          </a:p>
          <a:p>
            <a:pPr>
              <a:spcAft>
                <a:spcPts val="1200"/>
              </a:spcAft>
              <a:defRPr sz="1350">
                <a:solidFill>
                  <a:srgbClr val="1E1E1E"/>
                </a:solidFill>
              </a:defRPr>
            </a:pPr>
            <a:r>
              <a:t>*   オーケーの大阪府内での継続的な出店（高槻赤大路店、長吉店）は、価格に敏感な顧客層の取り込みを加速させ、広範囲でスーパーマーケット市場全体の競争を激化させる。いかりスーパーは、高品質・高価格帯というポジショニングを再確認し、価格以外の価値（品揃え、サービス、店舗体験など）を明確に訴求することで、競合との差別化を強化する必要がある。</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4628"/>
                </a:solidFill>
              </a:defRPr>
            </a:pPr>
            <a:r>
              <a:t>e) 【参照ソース】</a:t>
            </a:r>
          </a:p>
        </p:txBody>
      </p:sp>
      <p:sp>
        <p:nvSpPr>
          <p:cNvPr id="3" name="TextBox 2"/>
          <p:cNvSpPr txBox="1"/>
          <p:nvPr/>
        </p:nvSpPr>
        <p:spPr>
          <a:xfrm>
            <a:off x="685800" y="1280160"/>
            <a:ext cx="10817352" cy="4846320"/>
          </a:xfrm>
          <a:prstGeom prst="rect">
            <a:avLst/>
          </a:prstGeom>
          <a:noFill/>
        </p:spPr>
        <p:txBody>
          <a:bodyPr wrap="square">
            <a:spAutoFit/>
          </a:bodyPr>
          <a:lstStyle/>
          <a:p>
            <a:pPr>
              <a:spcAft>
                <a:spcPts val="800"/>
              </a:spcAft>
            </a:pPr>
            <a:r>
              <a:rPr sz="1200">
                <a:solidFill>
                  <a:srgbClr val="1E1E1E"/>
                </a:solidFill>
              </a:rPr>
              <a:t>・ </a:t>
            </a:r>
            <a:r>
              <a:rPr sz="1200">
                <a:solidFill>
                  <a:srgbClr val="1E1E1E"/>
                </a:solidFill>
              </a:rPr>
              <a:t>  オーケーnews｜4月5月で関西に4店舗を出店/計11店舗体制 流通スーパーニュース. (2026年4月16日).</a:t>
            </a:r>
          </a:p>
          <a:p>
            <a:pPr>
              <a:spcAft>
                <a:spcPts val="800"/>
              </a:spcAft>
            </a:pPr>
            <a:r>
              <a:rPr sz="1200">
                <a:solidFill>
                  <a:srgbClr val="1E1E1E"/>
                </a:solidFill>
              </a:rPr>
              <a:t>・ </a:t>
            </a:r>
            <a:r>
              <a:rPr sz="1200">
                <a:solidFill>
                  <a:srgbClr val="1E1E1E"/>
                </a:solidFill>
              </a:rPr>
              <a:t>  オーケーが25年兵庫に出す5店を公表 26年には大阪に7店出店 激流オンライン. (2024年12月24日).</a:t>
            </a:r>
          </a:p>
          <a:p>
            <a:pPr>
              <a:spcAft>
                <a:spcPts val="800"/>
              </a:spcAft>
            </a:pPr>
            <a:r>
              <a:rPr sz="1200">
                <a:solidFill>
                  <a:srgbClr val="1E1E1E"/>
                </a:solidFill>
              </a:rPr>
              <a:t>・ </a:t>
            </a:r>
            <a:r>
              <a:rPr sz="1200">
                <a:solidFill>
                  <a:srgbClr val="1E1E1E"/>
                </a:solidFill>
              </a:rPr>
              <a:t>  オーケーnews｜'26年度関西7店舗出店､4/15南津守店､4/22今川店オープン. (2026年2月24日).</a:t>
            </a:r>
          </a:p>
          <a:p>
            <a:pPr>
              <a:spcAft>
                <a:spcPts val="800"/>
              </a:spcAft>
            </a:pPr>
            <a:r>
              <a:rPr sz="1200">
                <a:solidFill>
                  <a:srgbClr val="1E1E1E"/>
                </a:solidFill>
              </a:rPr>
              <a:t>・ </a:t>
            </a:r>
            <a:r>
              <a:rPr sz="1200">
                <a:solidFill>
                  <a:srgbClr val="1E1E1E"/>
                </a:solidFill>
              </a:rPr>
              <a:t>  ディスカウント・スーパーマーケット「オーケー南津守店（関西8号店）」2026年4月15日(水)、 「オーケー今川店（関西9号店）」 2026年4月22日(水) 連続出店！ ～2026年は大阪府での展開を加速します！～. (2026年2月24日).</a:t>
            </a:r>
          </a:p>
          <a:p>
            <a:pPr>
              <a:spcAft>
                <a:spcPts val="800"/>
              </a:spcAft>
            </a:pPr>
            <a:r>
              <a:rPr sz="1200">
                <a:solidFill>
                  <a:srgbClr val="1E1E1E"/>
                </a:solidFill>
              </a:rPr>
              <a:t>・ </a:t>
            </a:r>
            <a:r>
              <a:rPr sz="1200">
                <a:solidFill>
                  <a:srgbClr val="1E1E1E"/>
                </a:solidFill>
              </a:rPr>
              <a:t>  オーケー／25年兵庫県5店舗、26年大阪府7店舗オープン \| 流通ニュース. (2024年12月23日).</a:t>
            </a:r>
          </a:p>
          <a:p>
            <a:pPr>
              <a:spcAft>
                <a:spcPts val="800"/>
              </a:spcAft>
            </a:pPr>
            <a:r>
              <a:rPr sz="1200">
                <a:solidFill>
                  <a:srgbClr val="1E1E1E"/>
                </a:solidFill>
              </a:rPr>
              <a:t>・ </a:t>
            </a:r>
            <a:r>
              <a:rPr sz="1200">
                <a:solidFill>
                  <a:srgbClr val="1E1E1E"/>
                </a:solidFill>
              </a:rPr>
              <a:t>  ディスカウント・スーパーマーケット「オーケー」 大阪府での展開を加速！5月に「大東新田西町店」「豊中穂積店」を連続出店 ～2026年度は大阪府内に計7店舗の出店を予定. (2026年4月14日).</a:t>
            </a:r>
          </a:p>
          <a:p>
            <a:pPr>
              <a:spcAft>
                <a:spcPts val="800"/>
              </a:spcAft>
            </a:pPr>
            <a:r>
              <a:rPr sz="1200">
                <a:solidFill>
                  <a:srgbClr val="1E1E1E"/>
                </a:solidFill>
              </a:rPr>
              <a:t>・ </a:t>
            </a:r>
            <a:r>
              <a:rPr sz="1200">
                <a:solidFill>
                  <a:srgbClr val="1E1E1E"/>
                </a:solidFill>
              </a:rPr>
              <a:t>  成城石井、大阪府堺市に「成城石井 イオンモール堺北花田店」6月18日オープン. (2026年6月17日).</a:t>
            </a:r>
          </a:p>
          <a:p>
            <a:pPr>
              <a:spcAft>
                <a:spcPts val="800"/>
              </a:spcAft>
            </a:pPr>
            <a:r>
              <a:rPr sz="1200">
                <a:solidFill>
                  <a:srgbClr val="1E1E1E"/>
                </a:solidFill>
              </a:rPr>
              <a:t>・ </a:t>
            </a:r>
            <a:r>
              <a:rPr sz="1200">
                <a:solidFill>
                  <a:srgbClr val="1E1E1E"/>
                </a:solidFill>
              </a:rPr>
              <a:t>  関西地方 \| 出店ウォッチ. (2026年6月7日).</a:t>
            </a:r>
          </a:p>
          <a:p>
            <a:pPr>
              <a:spcAft>
                <a:spcPts val="800"/>
              </a:spcAft>
            </a:pPr>
            <a:r>
              <a:rPr sz="1200">
                <a:solidFill>
                  <a:srgbClr val="1E1E1E"/>
                </a:solidFill>
              </a:rPr>
              <a:t>・ </a:t>
            </a:r>
            <a:r>
              <a:rPr sz="1200">
                <a:solidFill>
                  <a:srgbClr val="1E1E1E"/>
                </a:solidFill>
              </a:rPr>
              <a:t>  成城石井 イオンモール堺北花田店｣6/18オープン 流通スーパーニュース. (2026年6月11日).</a:t>
            </a:r>
          </a:p>
          <a:p>
            <a:pPr>
              <a:spcAft>
                <a:spcPts val="800"/>
              </a:spcAft>
            </a:pPr>
            <a:r>
              <a:rPr sz="1200">
                <a:solidFill>
                  <a:srgbClr val="1E1E1E"/>
                </a:solidFill>
              </a:rPr>
              <a:t>・ </a:t>
            </a:r>
            <a:r>
              <a:rPr sz="1200">
                <a:solidFill>
                  <a:srgbClr val="1E1E1E"/>
                </a:solidFill>
              </a:rPr>
              <a:t>  成城石井イオンモール堺北花田店、2026年6月18日開店－郊外型店舗の強化進める成城石井、さらなる狭小店展開 \| 都市商業研究所. (2026年6月17日).</a:t>
            </a:r>
          </a:p>
          <a:p>
            <a:pPr>
              <a:spcAft>
                <a:spcPts val="800"/>
              </a:spcAft>
            </a:pPr>
            <a:r>
              <a:rPr sz="1200">
                <a:solidFill>
                  <a:srgbClr val="1E1E1E"/>
                </a:solidFill>
              </a:rPr>
              <a:t>・ </a:t>
            </a:r>
            <a:r>
              <a:rPr sz="1200">
                <a:solidFill>
                  <a:srgbClr val="1E1E1E"/>
                </a:solidFill>
              </a:rPr>
              <a:t>  【堺市】「成城石井 イオンモール堺北花田店」が6月18日にオープン 御堂筋線・北花田駅至近のイオンモール1階に出店. (2026年6月15日).</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4628"/>
                </a:solidFill>
              </a:defRPr>
            </a:pPr>
            <a:r>
              <a:t>f) 【ビジュアルマップ】</a:t>
            </a:r>
          </a:p>
        </p:txBody>
      </p:sp>
      <p:pic>
        <p:nvPicPr>
          <p:cNvPr id="3" name="Picture 2" descr="2026_06_18_competitive_map.png"/>
          <p:cNvPicPr>
            <a:picLocks noChangeAspect="1"/>
          </p:cNvPicPr>
          <p:nvPr/>
        </p:nvPicPr>
        <p:blipFill>
          <a:blip r:embed="rId2"/>
          <a:stretch>
            <a:fillRect/>
          </a:stretch>
        </p:blipFill>
        <p:spPr>
          <a:xfrm>
            <a:off x="2180844" y="1188720"/>
            <a:ext cx="7818120" cy="52120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