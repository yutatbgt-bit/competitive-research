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vertexaisearch.cloud.google.com/grounding-api-redirect/AUZIYQEDe15yYJLSuW7FZmDVUEx39K6ve9c0Ibt4GjuuVTAqdrWPdJASqr2rUTmrFrm6w4_31G4EFKbbmmOz5r8N3IU6gqRXxxGPTxcJLzNRHq-bjTNMRMGtIrGLyojpV1fyRy1fhFAgZH5-XYGNxklzT-DShr-HgglzmnVgKg4=" TargetMode="External"/><Relationship Id="rId3" Type="http://schemas.openxmlformats.org/officeDocument/2006/relationships/hyperlink" Target="https://vertexaisearch.cloud.google.com/grounding-api-redirect/AUZIYQFDOHmqM14wIAFENFKTRAbf47voyZdqT1JazCQbmI6eHCf_9Mkv_Q3QovmnIjlC9BdkLeFLOTHe5VGJhY5ijHEz1m4aQ3HREUh3Cbr_kZBGXGNVaLKKIjMdgqIdTJy108q0c2pAjA2YqPD4hHVaSekO" TargetMode="External"/><Relationship Id="rId4" Type="http://schemas.openxmlformats.org/officeDocument/2006/relationships/hyperlink" Target="https://vertexaisearch.cloud.google.com/grounding-api-redirect/AUZIYQFcinGRFsU6O9sJgl-g_UKfZVh_HQMEyNt98XM1mEqRBBvRnttK2MW2riDBhRL7ufaPtIehDshCJT53KWhhEUS6x9HWIic97bh9VRf4CTO3C86RaIQNs3DwaBVdjGyER_cd98rGHBl-Zj9qZpJdUt9_q3II6A-94oIoNKumE3vwl6A_t8KFfSlNUMEx86SVZg370-Xs6QXa2g==" TargetMode="External"/><Relationship Id="rId5" Type="http://schemas.openxmlformats.org/officeDocument/2006/relationships/hyperlink" Target="https://vertexaisearch.cloud.google.com/grounding-api-redirect/AUZIYQEhK_etPBlGfxKaWpFeKy00W6ENE6T7sEKDK75Q-B_F9wbbyE-g6v4PX71kg-eI3GzSKPWcaG3RkV9EXThed-cc_BQYG-eF-_-wEDK0sDgY-lD_HQaUnZdU9yDYkLIALKR7v4SDbEa1hvk=" TargetMode="External"/><Relationship Id="rId6" Type="http://schemas.openxmlformats.org/officeDocument/2006/relationships/hyperlink" Target="https://vertexaisearch.cloud.google.com/grounding-api-redirect/AUZIYQEevXB91JFRuNsPUxf65VzuBe9LheTVYRM-2s-lW5t1vdXtSIqa9Z6Gr_0ImOVjudxqI5FdES03wZQ0PSNWGaJyPNBMmekHxxFqyerTG0tyoGF0v0Rtr42Ie7xjsae16x6-rH0x"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4628"/>
        </a:solidFill>
        <a:effectLst/>
      </p:bgPr>
    </p:bg>
    <p:spTree>
      <p:nvGrpSpPr>
        <p:cNvPr id="1" name=""/>
        <p:cNvGrpSpPr/>
        <p:nvPr/>
      </p:nvGrpSpPr>
      <p:grpSpPr/>
      <p:sp>
        <p:nvSpPr>
          <p:cNvPr id="2" name="TextBox 1"/>
          <p:cNvSpPr txBox="1"/>
          <p:nvPr/>
        </p:nvSpPr>
        <p:spPr>
          <a:xfrm>
            <a:off x="914400" y="2011680"/>
            <a:ext cx="10360152" cy="2286000"/>
          </a:xfrm>
          <a:prstGeom prst="rect">
            <a:avLst/>
          </a:prstGeom>
          <a:noFill/>
        </p:spPr>
        <p:txBody>
          <a:bodyPr wrap="square">
            <a:spAutoFit/>
          </a:bodyPr>
          <a:lstStyle/>
          <a:p>
            <a:pPr algn="ctr">
              <a:defRPr b="1" sz="4000">
                <a:solidFill>
                  <a:srgbClr val="D4AF37"/>
                </a:solidFill>
              </a:defRPr>
            </a:pPr>
            <a:r>
              <a:t>いかりスーパー周辺 競合環境調査レポート</a:t>
            </a:r>
          </a:p>
          <a:p>
            <a:pPr algn="ctr">
              <a:spcBef>
                <a:spcPts val="2000"/>
              </a:spcBef>
              <a:defRPr sz="2200">
                <a:solidFill>
                  <a:srgbClr val="FFFFFF"/>
                </a:solidFill>
              </a:defRPr>
            </a:pPr>
            <a:r>
              <a:t>2026年6月度 競合調査結果報告書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a) 【結論】</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1600"/>
              </a:spcAft>
              <a:defRPr sz="1800">
                <a:solidFill>
                  <a:srgbClr val="1E1E1E"/>
                </a:solidFill>
              </a:defRPr>
            </a:pPr>
            <a:r>
              <a:t>・   高級スーパーマーケットの競合環境において、いかりスーパーの顧客層と重複する可能性のあるエリアで、成城石井の新規出店が判明した。</a:t>
            </a:r>
          </a:p>
          <a:p>
            <a:pPr>
              <a:spcAft>
                <a:spcPts val="1600"/>
              </a:spcAft>
              <a:defRPr sz="1800">
                <a:solidFill>
                  <a:srgbClr val="1E1E1E"/>
                </a:solidFill>
              </a:defRPr>
            </a:pPr>
            <a:r>
              <a:t>・   成城石井は2026年6月18日に大阪府堺市にイオンモール堺北花田店をオープンし、いかりスーパーの既存店舗と競合する可能性がある。</a:t>
            </a:r>
          </a:p>
          <a:p>
            <a:pPr>
              <a:spcAft>
                <a:spcPts val="1600"/>
              </a:spcAft>
              <a:defRPr sz="1800">
                <a:solidFill>
                  <a:srgbClr val="1E1E1E"/>
                </a:solidFill>
              </a:defRPr>
            </a:pPr>
            <a:r>
              <a:t>・   ヤマダストアーは2026年冬に大阪梅田の大丸梅田店地下に新規出店を予定しており、都市部の高品質スーパー市場での競争が引き続き激化する見込みである。</a:t>
            </a:r>
          </a:p>
          <a:p>
            <a:pPr>
              <a:spcAft>
                <a:spcPts val="1600"/>
              </a:spcAft>
              <a:defRPr sz="1800">
                <a:solidFill>
                  <a:srgbClr val="1E1E1E"/>
                </a:solidFill>
              </a:defRPr>
            </a:pPr>
            <a:r>
              <a:t>・   阪急オアシスは豊中駅前店を2026年6月26日に「阪急OASISマルシェ豊中駅前店」としてリニューアルオープンするほか、服部西店が2026年7月7日から臨時休業（改装の可能性あり）を予定しており、これらリニューアル店舗が地域での競争力を高める可能性がある。</a:t>
            </a:r>
          </a:p>
          <a:p>
            <a:pPr>
              <a:spcAft>
                <a:spcPts val="1600"/>
              </a:spcAft>
              <a:defRPr sz="1800">
                <a:solidFill>
                  <a:srgbClr val="1E1E1E"/>
                </a:solidFill>
              </a:defRPr>
            </a:pPr>
            <a:r>
              <a:t>・   関西スーパー西郷店が2026年6月30日から臨時休業を予定しており、短期間ながら周辺エリアの顧客流動に影響を与える可能性がある。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b) 【詳細】 (1ページ目)</a:t>
            </a:r>
          </a:p>
        </p:txBody>
      </p:sp>
      <p:graphicFrame>
        <p:nvGraphicFramePr>
          <p:cNvPr id="3" name="Table 2"/>
          <p:cNvGraphicFramePr>
            <a:graphicFrameLocks noGrp="1"/>
          </p:cNvGraphicFramePr>
          <p:nvPr/>
        </p:nvGraphicFramePr>
        <p:xfrm>
          <a:off x="685800" y="1280160"/>
          <a:ext cx="10817352" cy="4754880"/>
        </p:xfrm>
        <a:graphic>
          <a:graphicData uri="http://schemas.openxmlformats.org/drawingml/2006/table">
            <a:tbl>
              <a:tblPr firstRow="1" bandRow="1">
                <a:tableStyleId>{5C22544A-7EE6-4342-B048-85BDC9FD1C3A}</a:tableStyleId>
              </a:tblPr>
              <a:tblGrid>
                <a:gridCol w="914400"/>
                <a:gridCol w="2011680"/>
                <a:gridCol w="1188720"/>
                <a:gridCol w="914400"/>
                <a:gridCol w="1371600"/>
                <a:gridCol w="4416552"/>
              </a:tblGrid>
              <a:tr h="679268">
                <a:tc>
                  <a:txBody>
                    <a:bodyPr/>
                    <a:lstStyle/>
                    <a:p>
                      <a:pPr algn="ctr">
                        <a:defRPr b="1" sz="1100">
                          <a:solidFill>
                            <a:srgbClr val="FFFFFF"/>
                          </a:solidFill>
                        </a:defRPr>
                      </a:pPr>
                      <a:r>
                        <a:t>エリア</a:t>
                      </a:r>
                    </a:p>
                  </a:txBody>
                  <a:tcPr>
                    <a:solidFill>
                      <a:srgbClr val="004628"/>
                    </a:solidFill>
                  </a:tcPr>
                </a:tc>
                <a:tc>
                  <a:txBody>
                    <a:bodyPr/>
                    <a:lstStyle/>
                    <a:p>
                      <a:pPr algn="ctr">
                        <a:defRPr b="1" sz="1100">
                          <a:solidFill>
                            <a:srgbClr val="FFFFFF"/>
                          </a:solidFill>
                        </a:defRPr>
                      </a:pPr>
                      <a:r>
                        <a:t>競合店舗名</a:t>
                      </a:r>
                    </a:p>
                  </a:txBody>
                  <a:tcPr>
                    <a:solidFill>
                      <a:srgbClr val="004628"/>
                    </a:solidFill>
                  </a:tcPr>
                </a:tc>
                <a:tc>
                  <a:txBody>
                    <a:bodyPr/>
                    <a:lstStyle/>
                    <a:p>
                      <a:pPr algn="ctr">
                        <a:defRPr b="1" sz="1100">
                          <a:solidFill>
                            <a:srgbClr val="FFFFFF"/>
                          </a:solidFill>
                        </a:defRPr>
                      </a:pPr>
                      <a:r>
                        <a:t>時期</a:t>
                      </a:r>
                    </a:p>
                  </a:txBody>
                  <a:tcPr>
                    <a:solidFill>
                      <a:srgbClr val="004628"/>
                    </a:solidFill>
                  </a:tcPr>
                </a:tc>
                <a:tc>
                  <a:txBody>
                    <a:bodyPr/>
                    <a:lstStyle/>
                    <a:p>
                      <a:pPr algn="ctr">
                        <a:defRPr b="1" sz="1100">
                          <a:solidFill>
                            <a:srgbClr val="FFFFFF"/>
                          </a:solidFill>
                        </a:defRPr>
                      </a:pPr>
                      <a:r>
                        <a:t>状態</a:t>
                      </a:r>
                    </a:p>
                  </a:txBody>
                  <a:tcPr>
                    <a:solidFill>
                      <a:srgbClr val="004628"/>
                    </a:solidFill>
                  </a:tcPr>
                </a:tc>
                <a:tc>
                  <a:txBody>
                    <a:bodyPr/>
                    <a:lstStyle/>
                    <a:p>
                      <a:pPr algn="ctr">
                        <a:defRPr b="1" sz="1100">
                          <a:solidFill>
                            <a:srgbClr val="FFFFFF"/>
                          </a:solidFill>
                        </a:defRPr>
                      </a:pPr>
                      <a:r>
                        <a:t>影響レベル</a:t>
                      </a:r>
                    </a:p>
                  </a:txBody>
                  <a:tcPr>
                    <a:solidFill>
                      <a:srgbClr val="004628"/>
                    </a:solidFill>
                  </a:tcPr>
                </a:tc>
                <a:tc>
                  <a:txBody>
                    <a:bodyPr/>
                    <a:lstStyle/>
                    <a:p>
                      <a:pPr algn="ctr">
                        <a:defRPr b="1" sz="1100">
                          <a:solidFill>
                            <a:srgbClr val="FFFFFF"/>
                          </a:solidFill>
                        </a:defRPr>
                      </a:pPr>
                      <a:r>
                        <a:t>詳細説明</a:t>
                      </a:r>
                    </a:p>
                  </a:txBody>
                  <a:tcPr>
                    <a:solidFill>
                      <a:srgbClr val="004628"/>
                    </a:solidFill>
                  </a:tcPr>
                </a:tc>
              </a:tr>
              <a:tr h="679268">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c>
                  <a:txBody>
                    <a:bodyPr/>
                    <a:lstStyle/>
                    <a:p>
                      <a:pPr>
                        <a:defRPr sz="950">
                          <a:solidFill>
                            <a:srgbClr val="1E1E1E"/>
                          </a:solidFill>
                        </a:defRPr>
                      </a:pPr>
                      <a:r>
                        <a:t>:---</a:t>
                      </a:r>
                    </a:p>
                  </a:txBody>
                  <a:tcPr>
                    <a:solidFill>
                      <a:srgbClr val="F5F5F5"/>
                    </a:solidFill>
                  </a:tcPr>
                </a:tc>
              </a:tr>
              <a:tr h="679268">
                <a:tc>
                  <a:txBody>
                    <a:bodyPr/>
                    <a:lstStyle/>
                    <a:p>
                      <a:pPr>
                        <a:defRPr sz="950">
                          <a:solidFill>
                            <a:srgbClr val="1E1E1E"/>
                          </a:solidFill>
                        </a:defRPr>
                      </a:pPr>
                      <a:r>
                        <a:t>大阪府堺市北区</a:t>
                      </a:r>
                    </a:p>
                  </a:txBody>
                  <a:tcPr/>
                </a:tc>
                <a:tc>
                  <a:txBody>
                    <a:bodyPr/>
                    <a:lstStyle/>
                    <a:p>
                      <a:pPr>
                        <a:defRPr sz="950">
                          <a:solidFill>
                            <a:srgbClr val="1E1E1E"/>
                          </a:solidFill>
                        </a:defRPr>
                      </a:pPr>
                      <a:r>
                        <a:t>成城石井 イオンモール堺北花田店</a:t>
                      </a:r>
                    </a:p>
                  </a:txBody>
                  <a:tcPr/>
                </a:tc>
                <a:tc>
                  <a:txBody>
                    <a:bodyPr/>
                    <a:lstStyle/>
                    <a:p>
                      <a:pPr>
                        <a:defRPr sz="950">
                          <a:solidFill>
                            <a:srgbClr val="1E1E1E"/>
                          </a:solidFill>
                        </a:defRPr>
                      </a:pPr>
                      <a:r>
                        <a:t>2026年6月18日</a:t>
                      </a:r>
                    </a:p>
                  </a:txBody>
                  <a:tcPr/>
                </a:tc>
                <a:tc>
                  <a:txBody>
                    <a:bodyPr/>
                    <a:lstStyle/>
                    <a:p>
                      <a:pPr>
                        <a:defRPr sz="950">
                          <a:solidFill>
                            <a:srgbClr val="1E1E1E"/>
                          </a:solidFill>
                        </a:defRPr>
                      </a:pPr>
                      <a:r>
                        <a:t>新規出店</a:t>
                      </a:r>
                    </a:p>
                  </a:txBody>
                  <a:tcPr/>
                </a:tc>
                <a:tc>
                  <a:txBody>
                    <a:bodyPr/>
                    <a:lstStyle/>
                    <a:p>
                      <a:pPr>
                        <a:defRPr sz="950">
                          <a:solidFill>
                            <a:srgbClr val="1E1E1E"/>
                          </a:solidFill>
                        </a:defRPr>
                      </a:pPr>
                      <a:r>
                        <a:t>中</a:t>
                      </a:r>
                    </a:p>
                  </a:txBody>
                  <a:tcPr/>
                </a:tc>
                <a:tc>
                  <a:txBody>
                    <a:bodyPr/>
                    <a:lstStyle/>
                    <a:p>
                      <a:pPr>
                        <a:defRPr sz="950">
                          <a:solidFill>
                            <a:srgbClr val="1E1E1E"/>
                          </a:solidFill>
                        </a:defRPr>
                      </a:pPr>
                      <a:r>
                        <a:t>Osaka Metro御堂筋線「北花田駅」近くのショッピングセンター「イオンモール堺北花田」1階にオープン。売場面積は約38坪で、惣菜やデザート、パン、グロサリー、酒類など幅広い商品を取りそろえる。</a:t>
                      </a:r>
                    </a:p>
                  </a:txBody>
                  <a:tcPr/>
                </a:tc>
              </a:tr>
              <a:tr h="679268">
                <a:tc>
                  <a:txBody>
                    <a:bodyPr/>
                    <a:lstStyle/>
                    <a:p>
                      <a:pPr>
                        <a:defRPr sz="950">
                          <a:solidFill>
                            <a:srgbClr val="1E1E1E"/>
                          </a:solidFill>
                        </a:defRPr>
                      </a:pPr>
                      <a:r>
                        <a:t>大阪府大阪市北区</a:t>
                      </a:r>
                    </a:p>
                  </a:txBody>
                  <a:tcPr>
                    <a:solidFill>
                      <a:srgbClr val="F5F5F5"/>
                    </a:solidFill>
                  </a:tcPr>
                </a:tc>
                <a:tc>
                  <a:txBody>
                    <a:bodyPr/>
                    <a:lstStyle/>
                    <a:p>
                      <a:pPr>
                        <a:defRPr sz="950">
                          <a:solidFill>
                            <a:srgbClr val="1E1E1E"/>
                          </a:solidFill>
                        </a:defRPr>
                      </a:pPr>
                      <a:r>
                        <a:t>ヤマダストアー 大阪梅田店（大丸梅田店B2階）</a:t>
                      </a:r>
                    </a:p>
                  </a:txBody>
                  <a:tcPr>
                    <a:solidFill>
                      <a:srgbClr val="F5F5F5"/>
                    </a:solidFill>
                  </a:tcPr>
                </a:tc>
                <a:tc>
                  <a:txBody>
                    <a:bodyPr/>
                    <a:lstStyle/>
                    <a:p>
                      <a:pPr>
                        <a:defRPr sz="950">
                          <a:solidFill>
                            <a:srgbClr val="1E1E1E"/>
                          </a:solidFill>
                        </a:defRPr>
                      </a:pPr>
                      <a:r>
                        <a:t>2026年冬</a:t>
                      </a:r>
                    </a:p>
                  </a:txBody>
                  <a:tcPr>
                    <a:solidFill>
                      <a:srgbClr val="F5F5F5"/>
                    </a:solidFill>
                  </a:tcPr>
                </a:tc>
                <a:tc>
                  <a:txBody>
                    <a:bodyPr/>
                    <a:lstStyle/>
                    <a:p>
                      <a:pPr>
                        <a:defRPr sz="950">
                          <a:solidFill>
                            <a:srgbClr val="1E1E1E"/>
                          </a:solidFill>
                        </a:defRPr>
                      </a:pPr>
                      <a:r>
                        <a:t>新規出店</a:t>
                      </a:r>
                    </a:p>
                  </a:txBody>
                  <a:tcPr>
                    <a:solidFill>
                      <a:srgbClr val="F5F5F5"/>
                    </a:solidFill>
                  </a:tcPr>
                </a:tc>
                <a:tc>
                  <a:txBody>
                    <a:bodyPr/>
                    <a:lstStyle/>
                    <a:p>
                      <a:pPr>
                        <a:defRPr sz="950">
                          <a:solidFill>
                            <a:srgbClr val="1E1E1E"/>
                          </a:solidFill>
                        </a:defRPr>
                      </a:pPr>
                      <a:r>
                        <a:t>高</a:t>
                      </a:r>
                    </a:p>
                  </a:txBody>
                  <a:tcPr>
                    <a:solidFill>
                      <a:srgbClr val="F5F5F5"/>
                    </a:solidFill>
                  </a:tcPr>
                </a:tc>
                <a:tc>
                  <a:txBody>
                    <a:bodyPr/>
                    <a:lstStyle/>
                    <a:p>
                      <a:pPr>
                        <a:defRPr sz="950">
                          <a:solidFill>
                            <a:srgbClr val="1E1E1E"/>
                          </a:solidFill>
                        </a:defRPr>
                      </a:pPr>
                      <a:r>
                        <a:t>兵庫県を中心に高品質・こだわり商品を展開するヤマダストアーが、JR大阪駅直結の大丸梅田店の地下食品フロアにオープン予定。</a:t>
                      </a:r>
                    </a:p>
                  </a:txBody>
                  <a:tcPr>
                    <a:solidFill>
                      <a:srgbClr val="F5F5F5"/>
                    </a:solidFill>
                  </a:tcPr>
                </a:tc>
              </a:tr>
              <a:tr h="679268">
                <a:tc>
                  <a:txBody>
                    <a:bodyPr/>
                    <a:lstStyle/>
                    <a:p>
                      <a:pPr>
                        <a:defRPr sz="950">
                          <a:solidFill>
                            <a:srgbClr val="1E1E1E"/>
                          </a:solidFill>
                        </a:defRPr>
                      </a:pPr>
                      <a:r>
                        <a:t>大阪府豊中市</a:t>
                      </a:r>
                    </a:p>
                  </a:txBody>
                  <a:tcPr/>
                </a:tc>
                <a:tc>
                  <a:txBody>
                    <a:bodyPr/>
                    <a:lstStyle/>
                    <a:p>
                      <a:pPr>
                        <a:defRPr sz="950">
                          <a:solidFill>
                            <a:srgbClr val="1E1E1E"/>
                          </a:solidFill>
                        </a:defRPr>
                      </a:pPr>
                      <a:r>
                        <a:t>阪急OASISマルシェ豊中駅前店</a:t>
                      </a:r>
                    </a:p>
                  </a:txBody>
                  <a:tcPr/>
                </a:tc>
                <a:tc>
                  <a:txBody>
                    <a:bodyPr/>
                    <a:lstStyle/>
                    <a:p>
                      <a:pPr>
                        <a:defRPr sz="950">
                          <a:solidFill>
                            <a:srgbClr val="1E1E1E"/>
                          </a:solidFill>
                        </a:defRPr>
                      </a:pPr>
                      <a:r>
                        <a:t>2026年6月26日</a:t>
                      </a:r>
                    </a:p>
                  </a:txBody>
                  <a:tcPr/>
                </a:tc>
                <a:tc>
                  <a:txBody>
                    <a:bodyPr/>
                    <a:lstStyle/>
                    <a:p>
                      <a:pPr>
                        <a:defRPr sz="950">
                          <a:solidFill>
                            <a:srgbClr val="1E1E1E"/>
                          </a:solidFill>
                        </a:defRPr>
                      </a:pPr>
                      <a:r>
                        <a:t>リニューアルオープン</a:t>
                      </a:r>
                    </a:p>
                  </a:txBody>
                  <a:tcPr/>
                </a:tc>
                <a:tc>
                  <a:txBody>
                    <a:bodyPr/>
                    <a:lstStyle/>
                    <a:p>
                      <a:pPr>
                        <a:defRPr sz="950">
                          <a:solidFill>
                            <a:srgbClr val="1E1E1E"/>
                          </a:solidFill>
                        </a:defRPr>
                      </a:pPr>
                      <a:r>
                        <a:t>中</a:t>
                      </a:r>
                    </a:p>
                  </a:txBody>
                  <a:tcPr/>
                </a:tc>
                <a:tc>
                  <a:txBody>
                    <a:bodyPr/>
                    <a:lstStyle/>
                    <a:p>
                      <a:pPr>
                        <a:defRPr sz="950">
                          <a:solidFill>
                            <a:srgbClr val="1E1E1E"/>
                          </a:solidFill>
                        </a:defRPr>
                      </a:pPr>
                      <a:r>
                        <a:t>阪急オアシス豊中駅前店が6月15日18時に一時休業し、6月26日に「価値訴求型」と「価格訴求型」を融合した「阪急OASISマルシェ豊中駅前店」としてリニューアルオープンする。</a:t>
                      </a:r>
                    </a:p>
                  </a:txBody>
                  <a:tcPr/>
                </a:tc>
              </a:tr>
              <a:tr h="679268">
                <a:tc>
                  <a:txBody>
                    <a:bodyPr/>
                    <a:lstStyle/>
                    <a:p>
                      <a:pPr>
                        <a:defRPr sz="950">
                          <a:solidFill>
                            <a:srgbClr val="1E1E1E"/>
                          </a:solidFill>
                        </a:defRPr>
                      </a:pPr>
                      <a:r>
                        <a:t>大阪府豊中市</a:t>
                      </a:r>
                    </a:p>
                  </a:txBody>
                  <a:tcPr>
                    <a:solidFill>
                      <a:srgbClr val="F5F5F5"/>
                    </a:solidFill>
                  </a:tcPr>
                </a:tc>
                <a:tc>
                  <a:txBody>
                    <a:bodyPr/>
                    <a:lstStyle/>
                    <a:p>
                      <a:pPr>
                        <a:defRPr sz="950">
                          <a:solidFill>
                            <a:srgbClr val="1E1E1E"/>
                          </a:solidFill>
                        </a:defRPr>
                      </a:pPr>
                      <a:r>
                        <a:t>阪急オアシス 服部西店</a:t>
                      </a:r>
                    </a:p>
                  </a:txBody>
                  <a:tcPr>
                    <a:solidFill>
                      <a:srgbClr val="F5F5F5"/>
                    </a:solidFill>
                  </a:tcPr>
                </a:tc>
                <a:tc>
                  <a:txBody>
                    <a:bodyPr/>
                    <a:lstStyle/>
                    <a:p>
                      <a:pPr>
                        <a:defRPr sz="950">
                          <a:solidFill>
                            <a:srgbClr val="1E1E1E"/>
                          </a:solidFill>
                        </a:defRPr>
                      </a:pPr>
                      <a:r>
                        <a:t>2026年7月7日～7月16日</a:t>
                      </a:r>
                    </a:p>
                  </a:txBody>
                  <a:tcPr>
                    <a:solidFill>
                      <a:srgbClr val="F5F5F5"/>
                    </a:solidFill>
                  </a:tcPr>
                </a:tc>
                <a:tc>
                  <a:txBody>
                    <a:bodyPr/>
                    <a:lstStyle/>
                    <a:p>
                      <a:pPr>
                        <a:defRPr sz="950">
                          <a:solidFill>
                            <a:srgbClr val="1E1E1E"/>
                          </a:solidFill>
                        </a:defRPr>
                      </a:pPr>
                      <a:r>
                        <a:t>臨時休業（改装の可能性あり）</a:t>
                      </a:r>
                    </a:p>
                  </a:txBody>
                  <a:tcPr>
                    <a:solidFill>
                      <a:srgbClr val="F5F5F5"/>
                    </a:solidFill>
                  </a:tcPr>
                </a:tc>
                <a:tc>
                  <a:txBody>
                    <a:bodyPr/>
                    <a:lstStyle/>
                    <a:p>
                      <a:pPr>
                        <a:defRPr sz="950">
                          <a:solidFill>
                            <a:srgbClr val="1E1E1E"/>
                          </a:solidFill>
                        </a:defRPr>
                      </a:pPr>
                      <a:r>
                        <a:t>低</a:t>
                      </a:r>
                    </a:p>
                  </a:txBody>
                  <a:tcPr>
                    <a:solidFill>
                      <a:srgbClr val="F5F5F5"/>
                    </a:solidFill>
                  </a:tcPr>
                </a:tc>
                <a:tc>
                  <a:txBody>
                    <a:bodyPr/>
                    <a:lstStyle/>
                    <a:p>
                      <a:pPr>
                        <a:defRPr sz="950">
                          <a:solidFill>
                            <a:srgbClr val="1E1E1E"/>
                          </a:solidFill>
                        </a:defRPr>
                      </a:pPr>
                      <a:r>
                        <a:t>阪急オアシス服部西店が設備点検・改装のため臨時休業予定。</a:t>
                      </a:r>
                    </a:p>
                  </a:txBody>
                  <a:tcPr>
                    <a:solidFill>
                      <a:srgbClr val="F5F5F5"/>
                    </a:solidFill>
                  </a:tcPr>
                </a:tc>
              </a:tr>
              <a:tr h="679272">
                <a:tc>
                  <a:txBody>
                    <a:bodyPr/>
                    <a:lstStyle/>
                    <a:p>
                      <a:pPr>
                        <a:defRPr sz="950">
                          <a:solidFill>
                            <a:srgbClr val="1E1E1E"/>
                          </a:solidFill>
                        </a:defRPr>
                      </a:pPr>
                      <a:r>
                        <a:t>兵庫県神戸市灘区</a:t>
                      </a:r>
                    </a:p>
                  </a:txBody>
                  <a:tcPr/>
                </a:tc>
                <a:tc>
                  <a:txBody>
                    <a:bodyPr/>
                    <a:lstStyle/>
                    <a:p>
                      <a:pPr>
                        <a:defRPr sz="950">
                          <a:solidFill>
                            <a:srgbClr val="1E1E1E"/>
                          </a:solidFill>
                        </a:defRPr>
                      </a:pPr>
                      <a:r>
                        <a:t>関西スーパー 西郷店</a:t>
                      </a:r>
                    </a:p>
                  </a:txBody>
                  <a:tcPr/>
                </a:tc>
                <a:tc>
                  <a:txBody>
                    <a:bodyPr/>
                    <a:lstStyle/>
                    <a:p>
                      <a:pPr>
                        <a:defRPr sz="950">
                          <a:solidFill>
                            <a:srgbClr val="1E1E1E"/>
                          </a:solidFill>
                        </a:defRPr>
                      </a:pPr>
                      <a:r>
                        <a:t>2026年6月30日～7月2日</a:t>
                      </a:r>
                    </a:p>
                  </a:txBody>
                  <a:tcPr/>
                </a:tc>
                <a:tc>
                  <a:txBody>
                    <a:bodyPr/>
                    <a:lstStyle/>
                    <a:p>
                      <a:pPr>
                        <a:defRPr sz="950">
                          <a:solidFill>
                            <a:srgbClr val="1E1E1E"/>
                          </a:solidFill>
                        </a:defRPr>
                      </a:pPr>
                      <a:r>
                        <a:t>臨時休業</a:t>
                      </a:r>
                    </a:p>
                  </a:txBody>
                  <a:tcPr/>
                </a:tc>
                <a:tc>
                  <a:txBody>
                    <a:bodyPr/>
                    <a:lstStyle/>
                    <a:p>
                      <a:pPr>
                        <a:defRPr sz="950">
                          <a:solidFill>
                            <a:srgbClr val="1E1E1E"/>
                          </a:solidFill>
                        </a:defRPr>
                      </a:pPr>
                      <a:r>
                        <a:t>低</a:t>
                      </a:r>
                    </a:p>
                  </a:txBody>
                  <a:tcPr/>
                </a:tc>
                <a:tc>
                  <a:txBody>
                    <a:bodyPr/>
                    <a:lstStyle/>
                    <a:p/>
                  </a:txBody>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c) 【地図的分析】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400"/>
              </a:spcAft>
              <a:defRPr sz="1400">
                <a:solidFill>
                  <a:srgbClr val="1E1E1E"/>
                </a:solidFill>
              </a:defRPr>
            </a:pPr>
            <a:r>
              <a:t>*   成城石井イオンモール堺北花田店は、Osaka Metro御堂筋線北花田駅に直結するイオンモール内への出店であり、いかりスーパーの既存店舗が近隣にない場合でも、広域からの集客が見込まれる商業施設への出店であるため、いかりスーパーの品質志向の顧客層との競合が発生する可能性がある。</a:t>
            </a:r>
          </a:p>
          <a:p>
            <a:pPr>
              <a:spcAft>
                <a:spcPts val="1400"/>
              </a:spcAft>
              <a:defRPr sz="1400">
                <a:solidFill>
                  <a:srgbClr val="1E1E1E"/>
                </a:solidFill>
              </a:defRPr>
            </a:pPr>
            <a:r>
              <a:t>*   ヤマダストアー大阪梅田店は、大阪駅直結という非常に高い利便性を持つ商業施設内に出店するため、いかりJR大阪駅店や近隣の梅田エリアのいかり店舗にとって、高品質志向の顧客層を巡る直接的な競合となる。</a:t>
            </a:r>
          </a:p>
          <a:p>
            <a:pPr>
              <a:spcAft>
                <a:spcPts val="1400"/>
              </a:spcAft>
              <a:defRPr sz="1400">
                <a:solidFill>
                  <a:srgbClr val="1E1E1E"/>
                </a:solidFill>
              </a:defRPr>
            </a:pPr>
            <a:r>
              <a:t>*   阪急OASISマルシェ豊中駅前店のリニューアルは、いかりスーパー豊中店と同一地域での競争力を強化するものであり、特に「マルシェ」タイプへの転換は品揃えや店舗体験の差別化を試みるものと推測される。</a:t>
            </a:r>
          </a:p>
          <a:p>
            <a:pPr>
              <a:spcAft>
                <a:spcPts val="1400"/>
              </a:spcAft>
              <a:defRPr sz="1400">
                <a:solidFill>
                  <a:srgbClr val="1E1E1E"/>
                </a:solidFill>
              </a:defRPr>
            </a:pPr>
            <a:r>
              <a:t>*   阪急オアシス服部西店および関西スーパー西郷店の臨時休業は一時的なものではあるが、周辺のいかりスーパー店舗への短期的な顧客流入や、休業後のリニューアル内容によっては中長期的な競合環境の変化に繋がる可能性があ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d) 【影響分析】</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1200"/>
              </a:spcAft>
              <a:defRPr sz="1350">
                <a:solidFill>
                  <a:srgbClr val="1E1E1E"/>
                </a:solidFill>
              </a:defRPr>
            </a:pPr>
            <a:r>
              <a:t>*   成城石井イオンモール堺北花田店の新規出店は、いかりスーパーが展開する大阪府内の店舗、特に郊外立地で高品質商品を求める顧客層に対して新たな選択肢を提供する。成城石井のブランド力と商品構成は、いかりスーパーと同様に「上質」「こだわり」を求める顧客層をターゲットとしており、品揃えの独自性やサービス強化による差別化が求められる。</a:t>
            </a:r>
          </a:p>
          <a:p>
            <a:pPr>
              <a:spcAft>
                <a:spcPts val="1200"/>
              </a:spcAft>
              <a:defRPr sz="1350">
                <a:solidFill>
                  <a:srgbClr val="1E1E1E"/>
                </a:solidFill>
              </a:defRPr>
            </a:pPr>
            <a:r>
              <a:t>*   ヤマダストアー大阪梅田店の大丸梅田店地下への出店は、いかりJR大阪駅店およびいかり大丸梅田店（仮称）にとって直接的な脅威となる。ヤマダストアーも高品質・こだわり商品を展開しており、百貨店内の高級食品フロアという立地で、いかりスーパーと同様の顧客層をターゲットとするため、品揃えの独自性や、ギフト需要への対応、特別な顧客体験の提供など、一層の差別化戦略が求められる。</a:t>
            </a:r>
          </a:p>
          <a:p>
            <a:pPr>
              <a:spcAft>
                <a:spcPts val="1200"/>
              </a:spcAft>
              <a:defRPr sz="1350">
                <a:solidFill>
                  <a:srgbClr val="1E1E1E"/>
                </a:solidFill>
              </a:defRPr>
            </a:pPr>
            <a:r>
              <a:t>*   阪急OASISマルシェ豊中駅前店のリニューアルは、いかりスーパー豊中店にとって競争激化の要因となる。阪急オアシスが「価値訴求型」と「価格訴求型」のハイブリッド型店舗を目指すことで、いかりスーパーの持つ高品質ブランドイメージと、日常使いの利便性を両立させようとする動きに対応するため、いかりスーパーは独自の顧客体験や地域密着型サービスをさらに強化し、顧客ロイヤルティを維持・向上させる必要がある。</a:t>
            </a:r>
          </a:p>
          <a:p>
            <a:pPr>
              <a:spcAft>
                <a:spcPts val="1200"/>
              </a:spcAft>
              <a:defRPr sz="1350">
                <a:solidFill>
                  <a:srgbClr val="1E1E1E"/>
                </a:solidFill>
              </a:defRPr>
            </a:pPr>
            <a:r>
              <a:t>*   阪急オアシス服部西店および関西スーパー西郷店の臨時休業は短期間ではあるが、その間に周辺のいかりスーパー店舗への顧客の流動が生じる可能性がある。特に改装後の再オープンにおいては、いかりスーパーは改めて自店舗の魅力や強みを顧客に訴求し、流出した顧客の再獲得に努める必要があ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e) 【参照ソース】</a:t>
            </a:r>
          </a:p>
        </p:txBody>
      </p:sp>
      <p:sp>
        <p:nvSpPr>
          <p:cNvPr id="3" name="TextBox 2"/>
          <p:cNvSpPr txBox="1"/>
          <p:nvPr/>
        </p:nvSpPr>
        <p:spPr>
          <a:xfrm>
            <a:off x="685800" y="1280160"/>
            <a:ext cx="10817352" cy="4846320"/>
          </a:xfrm>
          <a:prstGeom prst="rect">
            <a:avLst/>
          </a:prstGeom>
          <a:noFill/>
        </p:spPr>
        <p:txBody>
          <a:bodyPr wrap="square">
            <a:spAutoFit/>
          </a:bodyPr>
          <a:lstStyle/>
          <a:p>
            <a:pPr>
              <a:spcAft>
                <a:spcPts val="800"/>
              </a:spcAft>
            </a:pPr>
            <a:r>
              <a:rPr sz="1200">
                <a:solidFill>
                  <a:srgbClr val="1E1E1E"/>
                </a:solidFill>
              </a:rPr>
              <a:t>・ </a:t>
            </a:r>
            <a:r>
              <a:rPr sz="1200">
                <a:solidFill>
                  <a:srgbClr val="1E1E1E"/>
                </a:solidFill>
              </a:rPr>
              <a:t>  </a:t>
            </a:r>
            <a:r>
              <a:rPr sz="1200" u="sng">
                <a:solidFill>
                  <a:srgbClr val="0066CC"/>
                </a:solidFill>
                <a:hlinkClick r:id="rId2"/>
              </a:rPr>
              <a:t>兵庫:「ヤマダストアー」大阪進出、大丸梅田店「デパ地下」に店舗では最大級の規模でオープン…生鮮食品・店内調理品も 読売新聞</a:t>
            </a:r>
          </a:p>
          <a:p>
            <a:pPr>
              <a:spcAft>
                <a:spcPts val="800"/>
              </a:spcAft>
            </a:pPr>
            <a:r>
              <a:rPr sz="1200">
                <a:solidFill>
                  <a:srgbClr val="1E1E1E"/>
                </a:solidFill>
              </a:rPr>
              <a:t>・ </a:t>
            </a:r>
            <a:r>
              <a:rPr sz="1200">
                <a:solidFill>
                  <a:srgbClr val="1E1E1E"/>
                </a:solidFill>
              </a:rPr>
              <a:t>  </a:t>
            </a:r>
            <a:r>
              <a:rPr sz="1200" u="sng">
                <a:solidFill>
                  <a:srgbClr val="0066CC"/>
                </a:solidFill>
                <a:hlinkClick r:id="rId3"/>
              </a:rPr>
              <a:t>【大阪に初出店】兵庫で人気のスーパー「ヤマダストアー」が梅田のデパ地下に登場 リビングWeb</a:t>
            </a:r>
          </a:p>
          <a:p>
            <a:pPr>
              <a:spcAft>
                <a:spcPts val="800"/>
              </a:spcAft>
            </a:pPr>
            <a:r>
              <a:rPr sz="1200">
                <a:solidFill>
                  <a:srgbClr val="1E1E1E"/>
                </a:solidFill>
              </a:rPr>
              <a:t>・ </a:t>
            </a:r>
            <a:r>
              <a:rPr sz="1200">
                <a:solidFill>
                  <a:srgbClr val="1E1E1E"/>
                </a:solidFill>
              </a:rPr>
              <a:t>  </a:t>
            </a:r>
            <a:r>
              <a:rPr sz="1200" u="sng">
                <a:solidFill>
                  <a:srgbClr val="0066CC"/>
                </a:solidFill>
                <a:hlinkClick r:id="rId4"/>
              </a:rPr>
              <a:t>ヤマダストアー Wikipedia</a:t>
            </a:r>
          </a:p>
          <a:p>
            <a:pPr>
              <a:spcAft>
                <a:spcPts val="800"/>
              </a:spcAft>
            </a:pPr>
            <a:r>
              <a:rPr sz="1200">
                <a:solidFill>
                  <a:srgbClr val="1E1E1E"/>
                </a:solidFill>
              </a:rPr>
              <a:t>・ </a:t>
            </a:r>
            <a:r>
              <a:rPr sz="1200">
                <a:solidFill>
                  <a:srgbClr val="1E1E1E"/>
                </a:solidFill>
              </a:rPr>
              <a:t>  </a:t>
            </a:r>
            <a:r>
              <a:rPr sz="1200" u="sng">
                <a:solidFill>
                  <a:srgbClr val="0066CC"/>
                </a:solidFill>
                <a:hlinkClick r:id="rId5"/>
              </a:rPr>
              <a:t>6月26日（金）「阪急OASISマルシェ豊中駅前店」としてリニューアルオープン！ | エトレとよなか</a:t>
            </a:r>
          </a:p>
          <a:p>
            <a:pPr>
              <a:spcAft>
                <a:spcPts val="800"/>
              </a:spcAft>
            </a:pPr>
            <a:r>
              <a:rPr sz="1200">
                <a:solidFill>
                  <a:srgbClr val="1E1E1E"/>
                </a:solidFill>
              </a:rPr>
              <a:t>・ </a:t>
            </a:r>
            <a:r>
              <a:rPr sz="1200">
                <a:solidFill>
                  <a:srgbClr val="1E1E1E"/>
                </a:solidFill>
              </a:rPr>
              <a:t>  </a:t>
            </a:r>
            <a:r>
              <a:rPr sz="1200" u="sng">
                <a:solidFill>
                  <a:srgbClr val="0066CC"/>
                </a:solidFill>
                <a:hlinkClick r:id="rId6"/>
              </a:rPr>
              <a:t>成城石井、大阪府堺市に「成城石井 イオンモール堺北花田店」6月18日オープン</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57200"/>
            <a:ext cx="10817352" cy="731520"/>
          </a:xfrm>
          <a:prstGeom prst="rect">
            <a:avLst/>
          </a:prstGeom>
          <a:noFill/>
        </p:spPr>
        <p:txBody>
          <a:bodyPr wrap="square">
            <a:spAutoFit/>
          </a:bodyPr>
          <a:lstStyle/>
          <a:p>
            <a:pPr>
              <a:defRPr b="1" sz="2800">
                <a:solidFill>
                  <a:srgbClr val="004628"/>
                </a:solidFill>
              </a:defRPr>
            </a:pPr>
            <a:r>
              <a:t>f) 【ビジュアルマップ】</a:t>
            </a:r>
          </a:p>
        </p:txBody>
      </p:sp>
      <p:pic>
        <p:nvPicPr>
          <p:cNvPr id="3" name="Picture 2" descr="2026_06_18_competitive_map.png"/>
          <p:cNvPicPr>
            <a:picLocks noChangeAspect="1"/>
          </p:cNvPicPr>
          <p:nvPr/>
        </p:nvPicPr>
        <p:blipFill>
          <a:blip r:embed="rId2"/>
          <a:stretch>
            <a:fillRect/>
          </a:stretch>
        </p:blipFill>
        <p:spPr>
          <a:xfrm>
            <a:off x="2180844" y="1188720"/>
            <a:ext cx="7818120"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