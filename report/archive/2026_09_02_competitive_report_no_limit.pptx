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vertexaisearch.cloud.google.com/grounding-api-redirect/AUZIYQHlUj-W95qHsHb47aTUjdSroIDJ47DthAT6dmsgFZ1JUVGD7MgUNHIZ6sdd5foEzh_sClY_sn_GeGrZTT5y9Q9_kHTL37vQAs6zgPrFsm1qSesXkjTkWxm_4ci63S5eOCC_b73twoZYja4" TargetMode="External"/><Relationship Id="rId3" Type="http://schemas.openxmlformats.org/officeDocument/2006/relationships/hyperlink" Target="https://vertexaisearch.cloud.google.com/grounding-api-redirect/AUZIYQFGnJPMO3cGLnLtGlyesfPsurUoEcuj1afJnZ_TlCjZdm94d2O5V_T-ZJHTHhEF8rcIeoWcCJI1sRqhEJJNhSlxulqX2i238oc605HhsmJbNly8lJ2C_kKMyQ0H4RwXYASmJIRpqg==" TargetMode="External"/><Relationship Id="rId4" Type="http://schemas.openxmlformats.org/officeDocument/2006/relationships/hyperlink" Target="https://vertexaisearch.cloud.google.com/grounding-api-redirect/AUZIYQF7xclWBdZSrtY1X4hRjf50Xpx7ktbFjCEf636-6BWKCn6ZsdNSs2Ab7VkfLX_TqETXr0G1ZsqEngCl9YzqQXB4RRKPoxiBNAxWZ9NsSxzKq-tqw7SuCjNWTO6oDn4ul4MZwWFuCAm0HQ==" TargetMode="External"/><Relationship Id="rId5" Type="http://schemas.openxmlformats.org/officeDocument/2006/relationships/hyperlink" Target="https://vertexaisearch.cloud.google.com/grounding-api-redirect/AUZIYQFhJEDqJuQMKRLytOoagH2rLm0aQ1mvvGdLh2o9G8x_uMcGOkI-2vXjCbBwgER1cAkYvXvxovgwKtN5lYt6AplYXNN3rthQYeQqjrW9g6uvDzcnPg==" TargetMode="External"/><Relationship Id="rId6" Type="http://schemas.openxmlformats.org/officeDocument/2006/relationships/hyperlink" Target="https://vertexaisearch.cloud.google.com/grounding-api-redirect/AUZIYQHVtiLhv2ShLcycuoqBtrociCO4VLEUDJRuQdwHNkBVjFSuctEMD67wLeRD4ihFt0z6VHs6NRhIoRHdj7-CuOTORjPyTAc23HpPgwDe1pfE7jV1KRPz4zcUf-41jNXC vlmEca4EHIPCQW5SvzavA==" TargetMode="External"/><Relationship Id="rId7" Type="http://schemas.openxmlformats.org/officeDocument/2006/relationships/hyperlink" Target="https://vertexaisearch.cloud.google.com/grounding-api-redirect/AUZIYQG0KnFPll7ZrtwZ8gslPbYFXHhy0xkoGgujwfpZRBd4sdQV3-jOeQPUc-f58p-h5JqFfqXZH6BDj_Ihb-P_Ke70LkC_VDKOjzVdwDBJBZ1CmzxKOR8J3JhUDDdKPjLPNAc_r-RV2oujWA==" TargetMode="External"/><Relationship Id="rId8" Type="http://schemas.openxmlformats.org/officeDocument/2006/relationships/hyperlink" Target="https://vertexaisearch.cloud.google.com/grounding-api-redirect/AUZIYQGGfTw6ePVZ7g6bjekkASg56oUHYZXG22nCGlNmVAAT1vJ3UOfe8VDR6z0ftIyNuNW7bmM1nbtesr_6com_7jR4TXkEaFW2MqGRG5A6UwWh_54_yLjtQTo0dzVmKecgwYSQNCLJ" TargetMode="External"/><Relationship Id="rId9" Type="http://schemas.openxmlformats.org/officeDocument/2006/relationships/hyperlink" Target="https://vertexaisearch.cloud.google.com/grounding-api-redirect/AUZIYQHQBhJLp7Hyy-q5cN_0845TwepS0oVdLM0zseeu56CVVq5ecNI5OUlhEdQSYgmLZEb_QcVlB5am-W0YewqhzsyGWpCGEnyvKFfPnO1z9q8P2RpcFErgoqYa38qKPtfCJ-iz" TargetMode="External"/><Relationship Id="rId10" Type="http://schemas.openxmlformats.org/officeDocument/2006/relationships/hyperlink" Target="https://vertexaisearch.cloud.google.com/grounding-api-redirect/AUZIYQHFj-SnxVHsYE2TXKGaX_fbWtDKaw9FPSliglxP-gOE6kZnsR_PvWtZ6P7gZ_CkAvDwCu2SpdqGB6fGe3Sbb8bL0NTmpbFiV4FCwHoXhHKjxNCNIvQSSSt7bQ==" TargetMode="External"/><Relationship Id="rId11" Type="http://schemas.openxmlformats.org/officeDocument/2006/relationships/hyperlink" Target="https://vertexaisearch.cloud.google.com/grounding-api-redirect/AUZIYQE47wJjoVuReugeIeY_PhXPLvDgJqPlRt33Fd45UIZXIPCGW9SDelxWIO_ICy4lwusw2qdTxq9EZryQszbern7UQnPEOiZYM0Mq_zXRvBWhE57JPHpdj3tuZeD7TFeXk_uTCei8"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5BAC"/>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2026年09月02日以降の関西エリアのスーパーマーケット市場において、以下の競合動向が新たに確認されました。</a:t>
            </a:r>
          </a:p>
          <a:p>
            <a:pPr>
              <a:spcAft>
                <a:spcPts val="1600"/>
              </a:spcAft>
              <a:defRPr sz="1800">
                <a:solidFill>
                  <a:srgbClr val="1E1E1E"/>
                </a:solidFill>
              </a:defRPr>
            </a:pPr>
            <a:r>
              <a:t>・   ディスカウントスーパーのオーケーが大阪府高槻市に「高槻赤大路店」を9月1日にオープンし、さらに10月下旬には大阪市平野区に「長吉店」の開業を予定しており、大阪府内でのオーケーの出店攻勢が継続しています。</a:t>
            </a:r>
          </a:p>
          <a:p>
            <a:pPr>
              <a:spcAft>
                <a:spcPts val="1600"/>
              </a:spcAft>
              <a:defRPr sz="1800">
                <a:solidFill>
                  <a:srgbClr val="1E1E1E"/>
                </a:solidFill>
              </a:defRPr>
            </a:pPr>
            <a:r>
              <a:t>・   ディスカウントスーパーのサンディが、大阪府吹田市、大阪市都島区、兵庫県芦屋市、神戸市、宝塚市で計5店舗の新規オープンを9月と10月に予定しており、広範なエリアでの低価格帯スーパーの競争が激化する見込みです。</a:t>
            </a:r>
          </a:p>
          <a:p>
            <a:pPr>
              <a:spcAft>
                <a:spcPts val="1600"/>
              </a:spcAft>
              <a:defRPr sz="1800">
                <a:solidFill>
                  <a:srgbClr val="1E1E1E"/>
                </a:solidFill>
              </a:defRPr>
            </a:pPr>
            <a:r>
              <a:t>・   阪急オアシスは、兵庫県川辺郡猪名川町に「阪急オアシスマルシェ日生中央店」を9月1日にリニューアルオープンし、価値訴求型の店舗フォーマットへの転換を進めています。また、兵庫県神戸市の「石屋川店」が9月に臨時休業、関西スーパーは大阪府の「旭ヶ丘店」と「日下店」が9月、10月に臨時休業・改装オープンを予定しており、既存店の強化・業態転換の動きが見られます。</a:t>
            </a:r>
          </a:p>
          <a:p>
            <a:pPr>
              <a:spcAft>
                <a:spcPts val="1600"/>
              </a:spcAft>
              <a:defRPr sz="1800">
                <a:solidFill>
                  <a:srgbClr val="1E1E1E"/>
                </a:solidFill>
              </a:defRPr>
            </a:pPr>
            <a:r>
              <a:t>・   関西スーパーは大阪市東淀川区の「瑞光店」で9月1日にネットスーパーのサービスを開始し、デジタルチャネルの強化を図っています。</a:t>
            </a:r>
          </a:p>
          <a:p>
            <a:pPr>
              <a:spcAft>
                <a:spcPts val="1600"/>
              </a:spcAft>
              <a:defRPr sz="1800">
                <a:solidFill>
                  <a:srgbClr val="1E1E1E"/>
                </a:solidFill>
              </a:defRPr>
            </a:pPr>
            <a:r>
              <a:t>・   兵庫県神戸市垂水区に複合再開発ビル「プラウドタワー神戸垂水」および商業エリア「ミルタ（Milta）」が2026年秋より順次開業予定で、新たな商業施設の動向が注目されます。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679268">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679268">
                <a:tc>
                  <a:txBody>
                    <a:bodyPr/>
                    <a:lstStyle/>
                    <a:p>
                      <a:pPr>
                        <a:defRPr sz="950">
                          <a:solidFill>
                            <a:srgbClr val="1E1E1E"/>
                          </a:solidFill>
                        </a:defRPr>
                      </a:pPr>
                      <a:r>
                        <a:t>大阪府高槻市</a:t>
                      </a:r>
                    </a:p>
                  </a:txBody>
                  <a:tcPr>
                    <a:solidFill>
                      <a:srgbClr val="F5F5F5"/>
                    </a:solidFill>
                  </a:tcPr>
                </a:tc>
                <a:tc>
                  <a:txBody>
                    <a:bodyPr/>
                    <a:lstStyle/>
                    <a:p>
                      <a:pPr>
                        <a:defRPr sz="950">
                          <a:solidFill>
                            <a:srgbClr val="1E1E1E"/>
                          </a:solidFill>
                        </a:defRPr>
                      </a:pPr>
                      <a:r>
                        <a:t>オーケー高槻赤大路店</a:t>
                      </a:r>
                    </a:p>
                  </a:txBody>
                  <a:tcPr>
                    <a:solidFill>
                      <a:srgbClr val="F5F5F5"/>
                    </a:solidFill>
                  </a:tcPr>
                </a:tc>
                <a:tc>
                  <a:txBody>
                    <a:bodyPr/>
                    <a:lstStyle/>
                    <a:p>
                      <a:pPr>
                        <a:defRPr sz="950">
                          <a:solidFill>
                            <a:srgbClr val="1E1E1E"/>
                          </a:solidFill>
                        </a:defRPr>
                      </a:pPr>
                      <a:r>
                        <a:t>2026年9月1日</a:t>
                      </a:r>
                    </a:p>
                  </a:txBody>
                  <a:tcPr>
                    <a:solidFill>
                      <a:srgbClr val="F5F5F5"/>
                    </a:solidFill>
                  </a:tcPr>
                </a:tc>
                <a:tc>
                  <a:txBody>
                    <a:bodyPr/>
                    <a:lstStyle/>
                    <a:p>
                      <a:pPr>
                        <a:defRPr sz="950">
                          <a:solidFill>
                            <a:srgbClr val="1E1E1E"/>
                          </a:solidFill>
                        </a:defRPr>
                      </a:pPr>
                      <a:r>
                        <a:t>新規オープン</a:t>
                      </a:r>
                    </a:p>
                  </a:txBody>
                  <a:tcPr>
                    <a:solidFill>
                      <a:srgbClr val="F5F5F5"/>
                    </a:solidFill>
                  </a:tcPr>
                </a:tc>
                <a:tc>
                  <a:txBody>
                    <a:bodyPr/>
                    <a:lstStyle/>
                    <a:p>
                      <a:pPr>
                        <a:defRPr sz="950">
                          <a:solidFill>
                            <a:srgbClr val="1E1E1E"/>
                          </a:solidFill>
                        </a:defRPr>
                      </a:pPr>
                      <a:r>
                        <a:t>高槻店</a:t>
                      </a:r>
                    </a:p>
                  </a:txBody>
                  <a:tcPr>
                    <a:solidFill>
                      <a:srgbClr val="F5F5F5"/>
                    </a:solidFill>
                  </a:tcPr>
                </a:tc>
                <a:tc>
                  <a:txBody>
                    <a:bodyPr/>
                    <a:lstStyle/>
                    <a:p>
                      <a:pPr>
                        <a:defRPr sz="950">
                          <a:solidFill>
                            <a:srgbClr val="1E1E1E"/>
                          </a:solidFill>
                        </a:defRPr>
                      </a:pPr>
                      <a:r>
                        <a:t>中程度</a:t>
                      </a:r>
                    </a:p>
                  </a:txBody>
                  <a:tcPr>
                    <a:solidFill>
                      <a:srgbClr val="F5F5F5"/>
                    </a:solidFill>
                  </a:tcPr>
                </a:tc>
                <a:tc>
                  <a:txBody>
                    <a:bodyPr/>
                    <a:lstStyle/>
                    <a:p>
                      <a:pPr>
                        <a:defRPr sz="950">
                          <a:solidFill>
                            <a:srgbClr val="1E1E1E"/>
                          </a:solidFill>
                        </a:defRPr>
                      </a:pPr>
                      <a:r>
                        <a:t>ディスカウントスーパー「オーケー」が国道171号線沿いにオープン。周辺に住宅街が広がるほか、有力チェーンがひしめく激戦区への出店となります。</a:t>
                      </a:r>
                    </a:p>
                  </a:txBody>
                  <a:tcPr>
                    <a:solidFill>
                      <a:srgbClr val="F5F5F5"/>
                    </a:solidFill>
                  </a:tcPr>
                </a:tc>
              </a:tr>
              <a:tr h="679268">
                <a:tc>
                  <a:txBody>
                    <a:bodyPr/>
                    <a:lstStyle/>
                    <a:p>
                      <a:pPr>
                        <a:defRPr sz="950">
                          <a:solidFill>
                            <a:srgbClr val="1E1E1E"/>
                          </a:solidFill>
                        </a:defRPr>
                      </a:pPr>
                      <a:r>
                        <a:t>大阪市平野区</a:t>
                      </a:r>
                    </a:p>
                  </a:txBody>
                  <a:tcPr/>
                </a:tc>
                <a:tc>
                  <a:txBody>
                    <a:bodyPr/>
                    <a:lstStyle/>
                    <a:p>
                      <a:pPr>
                        <a:defRPr sz="950">
                          <a:solidFill>
                            <a:srgbClr val="1E1E1E"/>
                          </a:solidFill>
                        </a:defRPr>
                      </a:pPr>
                      <a:r>
                        <a:t>オーケー長吉店</a:t>
                      </a:r>
                    </a:p>
                  </a:txBody>
                  <a:tcPr/>
                </a:tc>
                <a:tc>
                  <a:txBody>
                    <a:bodyPr/>
                    <a:lstStyle/>
                    <a:p>
                      <a:pPr>
                        <a:defRPr sz="950">
                          <a:solidFill>
                            <a:srgbClr val="1E1E1E"/>
                          </a:solidFill>
                        </a:defRPr>
                      </a:pPr>
                      <a:r>
                        <a:t>2026年10月下旬</a:t>
                      </a:r>
                    </a:p>
                  </a:txBody>
                  <a:tcPr/>
                </a:tc>
                <a:tc>
                  <a:txBody>
                    <a:bodyPr/>
                    <a:lstStyle/>
                    <a:p>
                      <a:pPr>
                        <a:defRPr sz="950">
                          <a:solidFill>
                            <a:srgbClr val="1E1E1E"/>
                          </a:solidFill>
                        </a:defRPr>
                      </a:pPr>
                      <a:r>
                        <a:t>新規オープン</a:t>
                      </a:r>
                    </a:p>
                  </a:txBody>
                  <a:tcPr/>
                </a:tc>
                <a:tc>
                  <a:txBody>
                    <a:bodyPr/>
                    <a:lstStyle/>
                    <a:p>
                      <a:pPr>
                        <a:defRPr sz="950">
                          <a:solidFill>
                            <a:srgbClr val="1E1E1E"/>
                          </a:solidFill>
                        </a:defRPr>
                      </a:pPr>
                      <a:r>
                        <a:t>南海なんば店</a:t>
                      </a:r>
                    </a:p>
                  </a:txBody>
                  <a:tcPr/>
                </a:tc>
                <a:tc>
                  <a:txBody>
                    <a:bodyPr/>
                    <a:lstStyle/>
                    <a:p>
                      <a:pPr>
                        <a:defRPr sz="950">
                          <a:solidFill>
                            <a:srgbClr val="1E1E1E"/>
                          </a:solidFill>
                        </a:defRPr>
                      </a:pPr>
                      <a:r>
                        <a:t>低〜中程度</a:t>
                      </a:r>
                    </a:p>
                  </a:txBody>
                  <a:tcPr/>
                </a:tc>
                <a:tc>
                  <a:txBody>
                    <a:bodyPr/>
                    <a:lstStyle/>
                    <a:p>
                      <a:pPr>
                        <a:defRPr sz="950">
                          <a:solidFill>
                            <a:srgbClr val="1E1E1E"/>
                          </a:solidFill>
                        </a:defRPr>
                      </a:pPr>
                      <a:r>
                        <a:t>オーケーが大阪市平野区に出店予定。広範囲の顧客に影響を与える可能性があります。</a:t>
                      </a:r>
                    </a:p>
                  </a:txBody>
                  <a:tcPr/>
                </a:tc>
              </a:tr>
              <a:tr h="679268">
                <a:tc>
                  <a:txBody>
                    <a:bodyPr/>
                    <a:lstStyle/>
                    <a:p>
                      <a:pPr>
                        <a:defRPr sz="950">
                          <a:solidFill>
                            <a:srgbClr val="1E1E1E"/>
                          </a:solidFill>
                        </a:defRPr>
                      </a:pPr>
                      <a:r>
                        <a:t>大阪府吹田市</a:t>
                      </a:r>
                    </a:p>
                  </a:txBody>
                  <a:tcPr>
                    <a:solidFill>
                      <a:srgbClr val="F5F5F5"/>
                    </a:solidFill>
                  </a:tcPr>
                </a:tc>
                <a:tc>
                  <a:txBody>
                    <a:bodyPr/>
                    <a:lstStyle/>
                    <a:p>
                      <a:pPr>
                        <a:defRPr sz="950">
                          <a:solidFill>
                            <a:srgbClr val="1E1E1E"/>
                          </a:solidFill>
                        </a:defRPr>
                      </a:pPr>
                      <a:r>
                        <a:t>サンディ吹田五月が丘店</a:t>
                      </a:r>
                    </a:p>
                  </a:txBody>
                  <a:tcPr>
                    <a:solidFill>
                      <a:srgbClr val="F5F5F5"/>
                    </a:solidFill>
                  </a:tcPr>
                </a:tc>
                <a:tc>
                  <a:txBody>
                    <a:bodyPr/>
                    <a:lstStyle/>
                    <a:p>
                      <a:pPr>
                        <a:defRPr sz="950">
                          <a:solidFill>
                            <a:srgbClr val="1E1E1E"/>
                          </a:solidFill>
                        </a:defRPr>
                      </a:pPr>
                      <a:r>
                        <a:t>2026年9月3日</a:t>
                      </a:r>
                    </a:p>
                  </a:txBody>
                  <a:tcPr>
                    <a:solidFill>
                      <a:srgbClr val="F5F5F5"/>
                    </a:solidFill>
                  </a:tcPr>
                </a:tc>
                <a:tc>
                  <a:txBody>
                    <a:bodyPr/>
                    <a:lstStyle/>
                    <a:p>
                      <a:pPr>
                        <a:defRPr sz="950">
                          <a:solidFill>
                            <a:srgbClr val="1E1E1E"/>
                          </a:solidFill>
                        </a:defRPr>
                      </a:pPr>
                      <a:r>
                        <a:t>新規オープン</a:t>
                      </a:r>
                    </a:p>
                  </a:txBody>
                  <a:tcPr>
                    <a:solidFill>
                      <a:srgbClr val="F5F5F5"/>
                    </a:solidFill>
                  </a:tcPr>
                </a:tc>
                <a:tc>
                  <a:txBody>
                    <a:bodyPr/>
                    <a:lstStyle/>
                    <a:p>
                      <a:pPr>
                        <a:defRPr sz="950">
                          <a:solidFill>
                            <a:srgbClr val="1E1E1E"/>
                          </a:solidFill>
                        </a:defRPr>
                      </a:pPr>
                      <a:r>
                        <a:t>王子店, 豊中店, 箕面店</a:t>
                      </a:r>
                    </a:p>
                  </a:txBody>
                  <a:tcPr>
                    <a:solidFill>
                      <a:srgbClr val="F5F5F5"/>
                    </a:solidFill>
                  </a:tcPr>
                </a:tc>
                <a:tc>
                  <a:txBody>
                    <a:bodyPr/>
                    <a:lstStyle/>
                    <a:p>
                      <a:pPr>
                        <a:defRPr sz="950">
                          <a:solidFill>
                            <a:srgbClr val="1E1E1E"/>
                          </a:solidFill>
                        </a:defRPr>
                      </a:pPr>
                      <a:r>
                        <a:t>中程度</a:t>
                      </a:r>
                    </a:p>
                  </a:txBody>
                  <a:tcPr>
                    <a:solidFill>
                      <a:srgbClr val="F5F5F5"/>
                    </a:solidFill>
                  </a:tcPr>
                </a:tc>
                <a:tc>
                  <a:txBody>
                    <a:bodyPr/>
                    <a:lstStyle/>
                    <a:p>
                      <a:pPr>
                        <a:defRPr sz="950">
                          <a:solidFill>
                            <a:srgbClr val="1E1E1E"/>
                          </a:solidFill>
                        </a:defRPr>
                      </a:pPr>
                      <a:r>
                        <a:t>ディスカウントスーパー「サンディ」が吹田市に新規オープン。周辺エリアの顧客獲得競争に影響を与えます。</a:t>
                      </a:r>
                    </a:p>
                  </a:txBody>
                  <a:tcPr>
                    <a:solidFill>
                      <a:srgbClr val="F5F5F5"/>
                    </a:solidFill>
                  </a:tcPr>
                </a:tc>
              </a:tr>
              <a:tr h="679268">
                <a:tc>
                  <a:txBody>
                    <a:bodyPr/>
                    <a:lstStyle/>
                    <a:p>
                      <a:pPr>
                        <a:defRPr sz="950">
                          <a:solidFill>
                            <a:srgbClr val="1E1E1E"/>
                          </a:solidFill>
                        </a:defRPr>
                      </a:pPr>
                      <a:r>
                        <a:t>大阪市都島区</a:t>
                      </a:r>
                    </a:p>
                  </a:txBody>
                  <a:tcPr/>
                </a:tc>
                <a:tc>
                  <a:txBody>
                    <a:bodyPr/>
                    <a:lstStyle/>
                    <a:p>
                      <a:pPr>
                        <a:defRPr sz="950">
                          <a:solidFill>
                            <a:srgbClr val="1E1E1E"/>
                          </a:solidFill>
                        </a:defRPr>
                      </a:pPr>
                      <a:r>
                        <a:t>サンディ都島北通店</a:t>
                      </a:r>
                    </a:p>
                  </a:txBody>
                  <a:tcPr/>
                </a:tc>
                <a:tc>
                  <a:txBody>
                    <a:bodyPr/>
                    <a:lstStyle/>
                    <a:p>
                      <a:pPr>
                        <a:defRPr sz="950">
                          <a:solidFill>
                            <a:srgbClr val="1E1E1E"/>
                          </a:solidFill>
                        </a:defRPr>
                      </a:pPr>
                      <a:r>
                        <a:t>2026年9月10日</a:t>
                      </a:r>
                    </a:p>
                  </a:txBody>
                  <a:tcPr/>
                </a:tc>
                <a:tc>
                  <a:txBody>
                    <a:bodyPr/>
                    <a:lstStyle/>
                    <a:p>
                      <a:pPr>
                        <a:defRPr sz="950">
                          <a:solidFill>
                            <a:srgbClr val="1E1E1E"/>
                          </a:solidFill>
                        </a:defRPr>
                      </a:pPr>
                      <a:r>
                        <a:t>新規オープン</a:t>
                      </a:r>
                    </a:p>
                  </a:txBody>
                  <a:tcPr/>
                </a:tc>
                <a:tc>
                  <a:txBody>
                    <a:bodyPr/>
                    <a:lstStyle/>
                    <a:p>
                      <a:pPr>
                        <a:defRPr sz="950">
                          <a:solidFill>
                            <a:srgbClr val="1E1E1E"/>
                          </a:solidFill>
                        </a:defRPr>
                      </a:pPr>
                      <a:r>
                        <a:t>JR大阪店</a:t>
                      </a:r>
                    </a:p>
                  </a:txBody>
                  <a:tcPr/>
                </a:tc>
                <a:tc>
                  <a:txBody>
                    <a:bodyPr/>
                    <a:lstStyle/>
                    <a:p>
                      <a:pPr>
                        <a:defRPr sz="950">
                          <a:solidFill>
                            <a:srgbClr val="1E1E1E"/>
                          </a:solidFill>
                        </a:defRPr>
                      </a:pPr>
                      <a:r>
                        <a:t>中程度</a:t>
                      </a:r>
                    </a:p>
                  </a:txBody>
                  <a:tcPr/>
                </a:tc>
                <a:tc>
                  <a:txBody>
                    <a:bodyPr/>
                    <a:lstStyle/>
                    <a:p>
                      <a:pPr>
                        <a:defRPr sz="950">
                          <a:solidFill>
                            <a:srgbClr val="1E1E1E"/>
                          </a:solidFill>
                        </a:defRPr>
                      </a:pPr>
                      <a:r>
                        <a:t>ディスカウントスーパー「サンディ」が大阪市都島区に新規オープン。大阪市中心部近郊の顧客流動に影響を与える可能性があります。</a:t>
                      </a:r>
                    </a:p>
                  </a:txBody>
                  <a:tcPr/>
                </a:tc>
              </a:tr>
              <a:tr h="679268">
                <a:tc>
                  <a:txBody>
                    <a:bodyPr/>
                    <a:lstStyle/>
                    <a:p>
                      <a:pPr>
                        <a:defRPr sz="950">
                          <a:solidFill>
                            <a:srgbClr val="1E1E1E"/>
                          </a:solidFill>
                        </a:defRPr>
                      </a:pPr>
                      <a:r>
                        <a:t>兵庫県芦屋市</a:t>
                      </a:r>
                    </a:p>
                  </a:txBody>
                  <a:tcPr>
                    <a:solidFill>
                      <a:srgbClr val="F5F5F5"/>
                    </a:solidFill>
                  </a:tcPr>
                </a:tc>
                <a:tc>
                  <a:txBody>
                    <a:bodyPr/>
                    <a:lstStyle/>
                    <a:p>
                      <a:pPr>
                        <a:defRPr sz="950">
                          <a:solidFill>
                            <a:srgbClr val="1E1E1E"/>
                          </a:solidFill>
                        </a:defRPr>
                      </a:pPr>
                      <a:r>
                        <a:t>サンディ芦屋店</a:t>
                      </a:r>
                    </a:p>
                  </a:txBody>
                  <a:tcPr>
                    <a:solidFill>
                      <a:srgbClr val="F5F5F5"/>
                    </a:solidFill>
                  </a:tcPr>
                </a:tc>
                <a:tc>
                  <a:txBody>
                    <a:bodyPr/>
                    <a:lstStyle/>
                    <a:p>
                      <a:pPr>
                        <a:defRPr sz="950">
                          <a:solidFill>
                            <a:srgbClr val="1E1E1E"/>
                          </a:solidFill>
                        </a:defRPr>
                      </a:pPr>
                      <a:r>
                        <a:t>2026年9月17日</a:t>
                      </a:r>
                    </a:p>
                  </a:txBody>
                  <a:tcPr>
                    <a:solidFill>
                      <a:srgbClr val="F5F5F5"/>
                    </a:solidFill>
                  </a:tcPr>
                </a:tc>
                <a:tc>
                  <a:txBody>
                    <a:bodyPr/>
                    <a:lstStyle/>
                    <a:p>
                      <a:pPr>
                        <a:defRPr sz="950">
                          <a:solidFill>
                            <a:srgbClr val="1E1E1E"/>
                          </a:solidFill>
                        </a:defRPr>
                      </a:pPr>
                      <a:r>
                        <a:t>新規オープン</a:t>
                      </a:r>
                    </a:p>
                  </a:txBody>
                  <a:tcPr>
                    <a:solidFill>
                      <a:srgbClr val="F5F5F5"/>
                    </a:solidFill>
                  </a:tcPr>
                </a:tc>
                <a:tc>
                  <a:txBody>
                    <a:bodyPr/>
                    <a:lstStyle/>
                    <a:p>
                      <a:pPr>
                        <a:defRPr sz="950">
                          <a:solidFill>
                            <a:srgbClr val="1E1E1E"/>
                          </a:solidFill>
                        </a:defRPr>
                      </a:pPr>
                      <a:r>
                        <a:t>芦屋店</a:t>
                      </a:r>
                    </a:p>
                  </a:txBody>
                  <a:tcPr>
                    <a:solidFill>
                      <a:srgbClr val="F5F5F5"/>
                    </a:solidFill>
                  </a:tcPr>
                </a:tc>
                <a:tc>
                  <a:txBody>
                    <a:bodyPr/>
                    <a:lstStyle/>
                    <a:p>
                      <a:pPr>
                        <a:defRPr sz="950">
                          <a:solidFill>
                            <a:srgbClr val="1E1E1E"/>
                          </a:solidFill>
                        </a:defRPr>
                      </a:pPr>
                      <a:r>
                        <a:t>中程度</a:t>
                      </a:r>
                    </a:p>
                  </a:txBody>
                  <a:tcPr>
                    <a:solidFill>
                      <a:srgbClr val="F5F5F5"/>
                    </a:solidFill>
                  </a:tcPr>
                </a:tc>
                <a:tc>
                  <a:txBody>
                    <a:bodyPr/>
                    <a:lstStyle/>
                    <a:p>
                      <a:pPr>
                        <a:defRPr sz="950">
                          <a:solidFill>
                            <a:srgbClr val="1E1E1E"/>
                          </a:solidFill>
                        </a:defRPr>
                      </a:pPr>
                      <a:r>
                        <a:t>ディスカウントスーパー「サンディ」が芦屋市に新規オープン。近隣の競合環境に変化をもたらします。</a:t>
                      </a:r>
                    </a:p>
                  </a:txBody>
                  <a:tcPr>
                    <a:solidFill>
                      <a:srgbClr val="F5F5F5"/>
                    </a:solidFill>
                  </a:tcPr>
                </a:tc>
              </a:tr>
              <a:tr h="679272">
                <a:tc>
                  <a:txBody>
                    <a:bodyPr/>
                    <a:lstStyle/>
                    <a:p>
                      <a:pPr>
                        <a:defRPr sz="950">
                          <a:solidFill>
                            <a:srgbClr val="1E1E1E"/>
                          </a:solidFill>
                        </a:defRPr>
                      </a:pPr>
                      <a:r>
                        <a:t>兵庫県神戸市</a:t>
                      </a:r>
                    </a:p>
                  </a:txBody>
                  <a:tcPr/>
                </a:tc>
                <a:tc>
                  <a:txBody>
                    <a:bodyPr/>
                    <a:lstStyle/>
                    <a:p>
                      <a:pPr>
                        <a:defRPr sz="950">
                          <a:solidFill>
                            <a:srgbClr val="1E1E1E"/>
                          </a:solidFill>
                        </a:defRPr>
                      </a:pPr>
                      <a:r>
                        <a:t>サンディ御影店</a:t>
                      </a:r>
                    </a:p>
                  </a:txBody>
                  <a:tcPr/>
                </a:tc>
                <a:tc>
                  <a:txBody>
                    <a:bodyPr/>
                    <a:lstStyle/>
                    <a:p>
                      <a:pPr>
                        <a:defRPr sz="950">
                          <a:solidFill>
                            <a:srgbClr val="1E1E1E"/>
                          </a:solidFill>
                        </a:defRPr>
                      </a:pPr>
                      <a:r>
                        <a:t>2026年9月24日</a:t>
                      </a:r>
                    </a:p>
                  </a:txBody>
                  <a:tcPr/>
                </a:tc>
                <a:tc>
                  <a:txBody>
                    <a:bodyPr/>
                    <a:lstStyle/>
                    <a:p>
                      <a:pPr>
                        <a:defRPr sz="950">
                          <a:solidFill>
                            <a:srgbClr val="1E1E1E"/>
                          </a:solidFill>
                        </a:defRPr>
                      </a:pPr>
                      <a:r>
                        <a:t>新規オープン</a:t>
                      </a:r>
                    </a:p>
                  </a:txBody>
                  <a:tcPr/>
                </a:tc>
                <a:tc>
                  <a:txBody>
                    <a:bodyPr/>
                    <a:lstStyle/>
                    <a:p>
                      <a:pPr>
                        <a:defRPr sz="950">
                          <a:solidFill>
                            <a:srgbClr val="1E1E1E"/>
                          </a:solidFill>
                        </a:defRPr>
                      </a:pPr>
                      <a:r>
                        <a:t>御影店, 摂津本山駅前店, 六甲店, 岡本店</a:t>
                      </a:r>
                    </a:p>
                  </a:txBody>
                  <a:tcPr/>
                </a:tc>
                <a:tc>
                  <a:txBody>
                    <a:bodyPr/>
                    <a:lstStyle/>
                    <a:p>
                      <a:pPr>
                        <a:defRPr sz="950">
                          <a:solidFill>
                            <a:srgbClr val="1E1E1E"/>
                          </a:solidFill>
                        </a:defRPr>
                      </a:pPr>
                      <a:r>
                        <a:t>中程度</a:t>
                      </a:r>
                    </a:p>
                  </a:txBody>
                  <a:tcPr/>
                </a:tc>
                <a:tc>
                  <a:txBody>
                    <a:bodyPr/>
                    <a:lstStyle/>
                    <a:p>
                      <a:pPr>
                        <a:defRPr sz="950">
                          <a:solidFill>
                            <a:srgbClr val="1E1E1E"/>
                          </a:solidFill>
                        </a:defRPr>
                      </a:pPr>
                      <a:r>
                        <a:t>ディスカウントスーパー「サンディ」が神戸市御影に新規オープン。東灘区周辺の顧客獲得競争が活発化します。</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(2ページ目)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679268">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679268">
                <a:tc>
                  <a:txBody>
                    <a:bodyPr/>
                    <a:lstStyle/>
                    <a:p>
                      <a:pPr>
                        <a:defRPr sz="950">
                          <a:solidFill>
                            <a:srgbClr val="1E1E1E"/>
                          </a:solidFill>
                        </a:defRPr>
                      </a:pPr>
                      <a:r>
                        <a:t>兵庫県宝塚市</a:t>
                      </a:r>
                    </a:p>
                  </a:txBody>
                  <a:tcPr>
                    <a:solidFill>
                      <a:srgbClr val="F5F5F5"/>
                    </a:solidFill>
                  </a:tcPr>
                </a:tc>
                <a:tc>
                  <a:txBody>
                    <a:bodyPr/>
                    <a:lstStyle/>
                    <a:p>
                      <a:pPr>
                        <a:defRPr sz="950">
                          <a:solidFill>
                            <a:srgbClr val="1E1E1E"/>
                          </a:solidFill>
                        </a:defRPr>
                      </a:pPr>
                      <a:r>
                        <a:t>サンディ宝塚南店</a:t>
                      </a:r>
                    </a:p>
                  </a:txBody>
                  <a:tcPr>
                    <a:solidFill>
                      <a:srgbClr val="F5F5F5"/>
                    </a:solidFill>
                  </a:tcPr>
                </a:tc>
                <a:tc>
                  <a:txBody>
                    <a:bodyPr/>
                    <a:lstStyle/>
                    <a:p>
                      <a:pPr>
                        <a:defRPr sz="950">
                          <a:solidFill>
                            <a:srgbClr val="1E1E1E"/>
                          </a:solidFill>
                        </a:defRPr>
                      </a:pPr>
                      <a:r>
                        <a:t>2026年10月1日</a:t>
                      </a:r>
                    </a:p>
                  </a:txBody>
                  <a:tcPr>
                    <a:solidFill>
                      <a:srgbClr val="F5F5F5"/>
                    </a:solidFill>
                  </a:tcPr>
                </a:tc>
                <a:tc>
                  <a:txBody>
                    <a:bodyPr/>
                    <a:lstStyle/>
                    <a:p>
                      <a:pPr>
                        <a:defRPr sz="950">
                          <a:solidFill>
                            <a:srgbClr val="1E1E1E"/>
                          </a:solidFill>
                        </a:defRPr>
                      </a:pPr>
                      <a:r>
                        <a:t>新規オープン</a:t>
                      </a:r>
                    </a:p>
                  </a:txBody>
                  <a:tcPr>
                    <a:solidFill>
                      <a:srgbClr val="F5F5F5"/>
                    </a:solidFill>
                  </a:tcPr>
                </a:tc>
                <a:tc>
                  <a:txBody>
                    <a:bodyPr/>
                    <a:lstStyle/>
                    <a:p>
                      <a:pPr>
                        <a:defRPr sz="950">
                          <a:solidFill>
                            <a:srgbClr val="1E1E1E"/>
                          </a:solidFill>
                        </a:defRPr>
                      </a:pPr>
                      <a:r>
                        <a:t>宝塚店, 阪急逆瀬川店</a:t>
                      </a:r>
                    </a:p>
                  </a:txBody>
                  <a:tcPr>
                    <a:solidFill>
                      <a:srgbClr val="F5F5F5"/>
                    </a:solidFill>
                  </a:tcPr>
                </a:tc>
                <a:tc>
                  <a:txBody>
                    <a:bodyPr/>
                    <a:lstStyle/>
                    <a:p>
                      <a:pPr>
                        <a:defRPr sz="950">
                          <a:solidFill>
                            <a:srgbClr val="1E1E1E"/>
                          </a:solidFill>
                        </a:defRPr>
                      </a:pPr>
                      <a:r>
                        <a:t>中程度</a:t>
                      </a:r>
                    </a:p>
                  </a:txBody>
                  <a:tcPr>
                    <a:solidFill>
                      <a:srgbClr val="F5F5F5"/>
                    </a:solidFill>
                  </a:tcPr>
                </a:tc>
                <a:tc>
                  <a:txBody>
                    <a:bodyPr/>
                    <a:lstStyle/>
                    <a:p>
                      <a:pPr>
                        <a:defRPr sz="950">
                          <a:solidFill>
                            <a:srgbClr val="1E1E1E"/>
                          </a:solidFill>
                        </a:defRPr>
                      </a:pPr>
                      <a:r>
                        <a:t>ディスカウントスーパー「サンディ」が宝塚市に新規オープン。宝塚エリアの競合環境に影響を与えます。</a:t>
                      </a:r>
                    </a:p>
                  </a:txBody>
                  <a:tcPr>
                    <a:solidFill>
                      <a:srgbClr val="F5F5F5"/>
                    </a:solidFill>
                  </a:tcPr>
                </a:tc>
              </a:tr>
              <a:tr h="679268">
                <a:tc>
                  <a:txBody>
                    <a:bodyPr/>
                    <a:lstStyle/>
                    <a:p>
                      <a:pPr>
                        <a:defRPr sz="950">
                          <a:solidFill>
                            <a:srgbClr val="1E1E1E"/>
                          </a:solidFill>
                        </a:defRPr>
                      </a:pPr>
                      <a:r>
                        <a:t>兵庫県川辺郡猪名川町</a:t>
                      </a:r>
                    </a:p>
                  </a:txBody>
                  <a:tcPr/>
                </a:tc>
                <a:tc>
                  <a:txBody>
                    <a:bodyPr/>
                    <a:lstStyle/>
                    <a:p>
                      <a:pPr>
                        <a:defRPr sz="950">
                          <a:solidFill>
                            <a:srgbClr val="1E1E1E"/>
                          </a:solidFill>
                        </a:defRPr>
                      </a:pPr>
                      <a:r>
                        <a:t>阪急オアシスマルシェ日生中央店</a:t>
                      </a:r>
                    </a:p>
                  </a:txBody>
                  <a:tcPr/>
                </a:tc>
                <a:tc>
                  <a:txBody>
                    <a:bodyPr/>
                    <a:lstStyle/>
                    <a:p>
                      <a:pPr>
                        <a:defRPr sz="950">
                          <a:solidFill>
                            <a:srgbClr val="1E1E1E"/>
                          </a:solidFill>
                        </a:defRPr>
                      </a:pPr>
                      <a:r>
                        <a:t>2026年9月1日</a:t>
                      </a:r>
                    </a:p>
                  </a:txBody>
                  <a:tcPr/>
                </a:tc>
                <a:tc>
                  <a:txBody>
                    <a:bodyPr/>
                    <a:lstStyle/>
                    <a:p>
                      <a:pPr>
                        <a:defRPr sz="950">
                          <a:solidFill>
                            <a:srgbClr val="1E1E1E"/>
                          </a:solidFill>
                        </a:defRPr>
                      </a:pPr>
                      <a:r>
                        <a:t>リニューアルオープン</a:t>
                      </a:r>
                    </a:p>
                  </a:txBody>
                  <a:tcPr/>
                </a:tc>
                <a:tc>
                  <a:txBody>
                    <a:bodyPr/>
                    <a:lstStyle/>
                    <a:p>
                      <a:pPr>
                        <a:defRPr sz="950">
                          <a:solidFill>
                            <a:srgbClr val="1E1E1E"/>
                          </a:solidFill>
                        </a:defRPr>
                      </a:pPr>
                      <a:r>
                        <a:t>宝塚店, 阪急逆瀬川店, 箕面店</a:t>
                      </a:r>
                    </a:p>
                  </a:txBody>
                  <a:tcPr/>
                </a:tc>
                <a:tc>
                  <a:txBody>
                    <a:bodyPr/>
                    <a:lstStyle/>
                    <a:p>
                      <a:pPr>
                        <a:defRPr sz="950">
                          <a:solidFill>
                            <a:srgbClr val="1E1E1E"/>
                          </a:solidFill>
                        </a:defRPr>
                      </a:pPr>
                      <a:r>
                        <a:t>中程度</a:t>
                      </a:r>
                    </a:p>
                  </a:txBody>
                  <a:tcPr/>
                </a:tc>
                <a:tc>
                  <a:txBody>
                    <a:bodyPr/>
                    <a:lstStyle/>
                    <a:p>
                      <a:pPr>
                        <a:defRPr sz="950">
                          <a:solidFill>
                            <a:srgbClr val="1E1E1E"/>
                          </a:solidFill>
                        </a:defRPr>
                      </a:pPr>
                      <a:r>
                        <a:t>阪急オアシスが「価値訴求型」の「マルシェ」タイプに業態転換。鮮度・品質・専門性を高めた店舗としてリニューアルオープンしました。</a:t>
                      </a:r>
                    </a:p>
                  </a:txBody>
                  <a:tcPr/>
                </a:tc>
              </a:tr>
              <a:tr h="679268">
                <a:tc>
                  <a:txBody>
                    <a:bodyPr/>
                    <a:lstStyle/>
                    <a:p>
                      <a:pPr>
                        <a:defRPr sz="950">
                          <a:solidFill>
                            <a:srgbClr val="1E1E1E"/>
                          </a:solidFill>
                        </a:defRPr>
                      </a:pPr>
                      <a:r>
                        <a:t>兵庫県神戸市灘区</a:t>
                      </a:r>
                    </a:p>
                  </a:txBody>
                  <a:tcPr>
                    <a:solidFill>
                      <a:srgbClr val="F5F5F5"/>
                    </a:solidFill>
                  </a:tcPr>
                </a:tc>
                <a:tc>
                  <a:txBody>
                    <a:bodyPr/>
                    <a:lstStyle/>
                    <a:p>
                      <a:pPr>
                        <a:defRPr sz="950">
                          <a:solidFill>
                            <a:srgbClr val="1E1E1E"/>
                          </a:solidFill>
                        </a:defRPr>
                      </a:pPr>
                      <a:r>
                        <a:t>阪急オアシス石屋川店</a:t>
                      </a:r>
                    </a:p>
                  </a:txBody>
                  <a:tcPr>
                    <a:solidFill>
                      <a:srgbClr val="F5F5F5"/>
                    </a:solidFill>
                  </a:tcPr>
                </a:tc>
                <a:tc>
                  <a:txBody>
                    <a:bodyPr/>
                    <a:lstStyle/>
                    <a:p>
                      <a:pPr>
                        <a:defRPr sz="950">
                          <a:solidFill>
                            <a:srgbClr val="1E1E1E"/>
                          </a:solidFill>
                        </a:defRPr>
                      </a:pPr>
                      <a:r>
                        <a:t>2026年9月8日〜9月17日</a:t>
                      </a:r>
                    </a:p>
                  </a:txBody>
                  <a:tcPr>
                    <a:solidFill>
                      <a:srgbClr val="F5F5F5"/>
                    </a:solidFill>
                  </a:tcPr>
                </a:tc>
                <a:tc>
                  <a:txBody>
                    <a:bodyPr/>
                    <a:lstStyle/>
                    <a:p>
                      <a:pPr>
                        <a:defRPr sz="950">
                          <a:solidFill>
                            <a:srgbClr val="1E1E1E"/>
                          </a:solidFill>
                        </a:defRPr>
                      </a:pPr>
                      <a:r>
                        <a:t>臨時休業</a:t>
                      </a:r>
                    </a:p>
                  </a:txBody>
                  <a:tcPr>
                    <a:solidFill>
                      <a:srgbClr val="F5F5F5"/>
                    </a:solidFill>
                  </a:tcPr>
                </a:tc>
                <a:tc>
                  <a:txBody>
                    <a:bodyPr/>
                    <a:lstStyle/>
                    <a:p>
                      <a:pPr>
                        <a:defRPr sz="950">
                          <a:solidFill>
                            <a:srgbClr val="1E1E1E"/>
                          </a:solidFill>
                        </a:defRPr>
                      </a:pPr>
                      <a:r>
                        <a:t>御影店, 六甲店, 摂津本山駅前店</a:t>
                      </a:r>
                    </a:p>
                  </a:txBody>
                  <a:tcPr>
                    <a:solidFill>
                      <a:srgbClr val="F5F5F5"/>
                    </a:solidFill>
                  </a:tcPr>
                </a:tc>
                <a:tc>
                  <a:txBody>
                    <a:bodyPr/>
                    <a:lstStyle/>
                    <a:p>
                      <a:pPr>
                        <a:defRPr sz="950">
                          <a:solidFill>
                            <a:srgbClr val="1E1E1E"/>
                          </a:solidFill>
                        </a:defRPr>
                      </a:pPr>
                      <a:r>
                        <a:t>低程度</a:t>
                      </a:r>
                    </a:p>
                  </a:txBody>
                  <a:tcPr>
                    <a:solidFill>
                      <a:srgbClr val="F5F5F5"/>
                    </a:solidFill>
                  </a:tcPr>
                </a:tc>
                <a:tc>
                  <a:txBody>
                    <a:bodyPr/>
                    <a:lstStyle/>
                    <a:p>
                      <a:pPr>
                        <a:defRPr sz="950">
                          <a:solidFill>
                            <a:srgbClr val="1E1E1E"/>
                          </a:solidFill>
                        </a:defRPr>
                      </a:pPr>
                      <a:r>
                        <a:t>店舗の改装またはメンテナンスのため臨時休業となります。</a:t>
                      </a:r>
                    </a:p>
                  </a:txBody>
                  <a:tcPr>
                    <a:solidFill>
                      <a:srgbClr val="F5F5F5"/>
                    </a:solidFill>
                  </a:tcPr>
                </a:tc>
              </a:tr>
              <a:tr h="679268">
                <a:tc>
                  <a:txBody>
                    <a:bodyPr/>
                    <a:lstStyle/>
                    <a:p>
                      <a:pPr>
                        <a:defRPr sz="950">
                          <a:solidFill>
                            <a:srgbClr val="1E1E1E"/>
                          </a:solidFill>
                        </a:defRPr>
                      </a:pPr>
                      <a:r>
                        <a:t>大阪府</a:t>
                      </a:r>
                    </a:p>
                  </a:txBody>
                  <a:tcPr/>
                </a:tc>
                <a:tc>
                  <a:txBody>
                    <a:bodyPr/>
                    <a:lstStyle/>
                    <a:p>
                      <a:pPr>
                        <a:defRPr sz="950">
                          <a:solidFill>
                            <a:srgbClr val="1E1E1E"/>
                          </a:solidFill>
                        </a:defRPr>
                      </a:pPr>
                      <a:r>
                        <a:t>関西スーパー旭ヶ丘店</a:t>
                      </a:r>
                    </a:p>
                  </a:txBody>
                  <a:tcPr/>
                </a:tc>
                <a:tc>
                  <a:txBody>
                    <a:bodyPr/>
                    <a:lstStyle/>
                    <a:p>
                      <a:pPr>
                        <a:defRPr sz="950">
                          <a:solidFill>
                            <a:srgbClr val="1E1E1E"/>
                          </a:solidFill>
                        </a:defRPr>
                      </a:pPr>
                      <a:r>
                        <a:t>2026年9月30日〜10月2日</a:t>
                      </a:r>
                    </a:p>
                  </a:txBody>
                  <a:tcPr/>
                </a:tc>
                <a:tc>
                  <a:txBody>
                    <a:bodyPr/>
                    <a:lstStyle/>
                    <a:p>
                      <a:pPr>
                        <a:defRPr sz="950">
                          <a:solidFill>
                            <a:srgbClr val="1E1E1E"/>
                          </a:solidFill>
                        </a:defRPr>
                      </a:pPr>
                      <a:r>
                        <a:t>臨時休業</a:t>
                      </a:r>
                    </a:p>
                  </a:txBody>
                  <a:tcPr/>
                </a:tc>
                <a:tc>
                  <a:txBody>
                    <a:bodyPr/>
                    <a:lstStyle/>
                    <a:p>
                      <a:pPr>
                        <a:defRPr sz="950">
                          <a:solidFill>
                            <a:srgbClr val="1E1E1E"/>
                          </a:solidFill>
                        </a:defRPr>
                      </a:pPr>
                      <a:r>
                        <a:t>関西全域</a:t>
                      </a:r>
                    </a:p>
                  </a:txBody>
                  <a:tcPr/>
                </a:tc>
                <a:tc>
                  <a:txBody>
                    <a:bodyPr/>
                    <a:lstStyle/>
                    <a:p>
                      <a:pPr>
                        <a:defRPr sz="950">
                          <a:solidFill>
                            <a:srgbClr val="1E1E1E"/>
                          </a:solidFill>
                        </a:defRPr>
                      </a:pPr>
                      <a:r>
                        <a:t>低程度</a:t>
                      </a:r>
                    </a:p>
                  </a:txBody>
                  <a:tcPr/>
                </a:tc>
                <a:tc>
                  <a:txBody>
                    <a:bodyPr/>
                    <a:lstStyle/>
                    <a:p>
                      <a:pPr>
                        <a:defRPr sz="950">
                          <a:solidFill>
                            <a:srgbClr val="1E1E1E"/>
                          </a:solidFill>
                        </a:defRPr>
                      </a:pPr>
                      <a:r>
                        <a:t>改装またはメンテナンスのため臨時休業となります。</a:t>
                      </a:r>
                    </a:p>
                  </a:txBody>
                  <a:tcPr/>
                </a:tc>
              </a:tr>
              <a:tr h="679268">
                <a:tc>
                  <a:txBody>
                    <a:bodyPr/>
                    <a:lstStyle/>
                    <a:p>
                      <a:pPr>
                        <a:defRPr sz="950">
                          <a:solidFill>
                            <a:srgbClr val="1E1E1E"/>
                          </a:solidFill>
                        </a:defRPr>
                      </a:pPr>
                      <a:r>
                        <a:t>大阪市東淀川区</a:t>
                      </a:r>
                    </a:p>
                  </a:txBody>
                  <a:tcPr>
                    <a:solidFill>
                      <a:srgbClr val="F5F5F5"/>
                    </a:solidFill>
                  </a:tcPr>
                </a:tc>
                <a:tc>
                  <a:txBody>
                    <a:bodyPr/>
                    <a:lstStyle/>
                    <a:p>
                      <a:pPr>
                        <a:defRPr sz="950">
                          <a:solidFill>
                            <a:srgbClr val="1E1E1E"/>
                          </a:solidFill>
                        </a:defRPr>
                      </a:pPr>
                      <a:r>
                        <a:t>関西スーパー瑞光店</a:t>
                      </a:r>
                    </a:p>
                  </a:txBody>
                  <a:tcPr>
                    <a:solidFill>
                      <a:srgbClr val="F5F5F5"/>
                    </a:solidFill>
                  </a:tcPr>
                </a:tc>
                <a:tc>
                  <a:txBody>
                    <a:bodyPr/>
                    <a:lstStyle/>
                    <a:p>
                      <a:pPr>
                        <a:defRPr sz="950">
                          <a:solidFill>
                            <a:srgbClr val="1E1E1E"/>
                          </a:solidFill>
                        </a:defRPr>
                      </a:pPr>
                      <a:r>
                        <a:t>2026年9月1日</a:t>
                      </a:r>
                    </a:p>
                  </a:txBody>
                  <a:tcPr>
                    <a:solidFill>
                      <a:srgbClr val="F5F5F5"/>
                    </a:solidFill>
                  </a:tcPr>
                </a:tc>
                <a:tc>
                  <a:txBody>
                    <a:bodyPr/>
                    <a:lstStyle/>
                    <a:p>
                      <a:pPr>
                        <a:defRPr sz="950">
                          <a:solidFill>
                            <a:srgbClr val="1E1E1E"/>
                          </a:solidFill>
                        </a:defRPr>
                      </a:pPr>
                      <a:r>
                        <a:t>ネットスーパー開業</a:t>
                      </a:r>
                    </a:p>
                  </a:txBody>
                  <a:tcPr>
                    <a:solidFill>
                      <a:srgbClr val="F5F5F5"/>
                    </a:solidFill>
                  </a:tcPr>
                </a:tc>
                <a:tc>
                  <a:txBody>
                    <a:bodyPr/>
                    <a:lstStyle/>
                    <a:p>
                      <a:pPr>
                        <a:defRPr sz="950">
                          <a:solidFill>
                            <a:srgbClr val="1E1E1E"/>
                          </a:solidFill>
                        </a:defRPr>
                      </a:pPr>
                      <a:r>
                        <a:t>JR大阪店, 豊中店, 王子店</a:t>
                      </a:r>
                    </a:p>
                  </a:txBody>
                  <a:tcPr>
                    <a:solidFill>
                      <a:srgbClr val="F5F5F5"/>
                    </a:solidFill>
                  </a:tcPr>
                </a:tc>
                <a:tc>
                  <a:txBody>
                    <a:bodyPr/>
                    <a:lstStyle/>
                    <a:p>
                      <a:pPr>
                        <a:defRPr sz="950">
                          <a:solidFill>
                            <a:srgbClr val="1E1E1E"/>
                          </a:solidFill>
                        </a:defRPr>
                      </a:pPr>
                      <a:r>
                        <a:t>低〜中程度</a:t>
                      </a:r>
                    </a:p>
                  </a:txBody>
                  <a:tcPr>
                    <a:solidFill>
                      <a:srgbClr val="F5F5F5"/>
                    </a:solidFill>
                  </a:tcPr>
                </a:tc>
                <a:tc>
                  <a:txBody>
                    <a:bodyPr/>
                    <a:lstStyle/>
                    <a:p>
                      <a:pPr>
                        <a:defRPr sz="950">
                          <a:solidFill>
                            <a:srgbClr val="1E1E1E"/>
                          </a:solidFill>
                        </a:defRPr>
                      </a:pPr>
                      <a:r>
                        <a:t>ネットスーパーのサービスを開始し、デジタルチャネルを通じた顧客獲得を目指します。</a:t>
                      </a:r>
                    </a:p>
                  </a:txBody>
                  <a:tcPr>
                    <a:solidFill>
                      <a:srgbClr val="F5F5F5"/>
                    </a:solidFill>
                  </a:tcPr>
                </a:tc>
              </a:tr>
              <a:tr h="679272">
                <a:tc>
                  <a:txBody>
                    <a:bodyPr/>
                    <a:lstStyle/>
                    <a:p>
                      <a:pPr>
                        <a:defRPr sz="950">
                          <a:solidFill>
                            <a:srgbClr val="1E1E1E"/>
                          </a:solidFill>
                        </a:defRPr>
                      </a:pPr>
                      <a:r>
                        <a:t>大阪府東大阪市</a:t>
                      </a:r>
                    </a:p>
                  </a:txBody>
                  <a:tcPr/>
                </a:tc>
                <a:tc>
                  <a:txBody>
                    <a:bodyPr/>
                    <a:lstStyle/>
                    <a:p>
                      <a:pPr>
                        <a:defRPr sz="950">
                          <a:solidFill>
                            <a:srgbClr val="1E1E1E"/>
                          </a:solidFill>
                        </a:defRPr>
                      </a:pPr>
                      <a:r>
                        <a:t>関西スーパー日下店</a:t>
                      </a:r>
                    </a:p>
                  </a:txBody>
                  <a:tcPr/>
                </a:tc>
                <a:tc>
                  <a:txBody>
                    <a:bodyPr/>
                    <a:lstStyle/>
                    <a:p>
                      <a:pPr>
                        <a:defRPr sz="950">
                          <a:solidFill>
                            <a:srgbClr val="1E1E1E"/>
                          </a:solidFill>
                        </a:defRPr>
                      </a:pPr>
                      <a:r>
                        <a:t>2026年9月12日 (9/9〜9/11臨時休業)</a:t>
                      </a:r>
                    </a:p>
                  </a:txBody>
                  <a:tcPr/>
                </a:tc>
                <a:tc>
                  <a:txBody>
                    <a:bodyPr/>
                    <a:lstStyle/>
                    <a:p>
                      <a:pPr>
                        <a:defRPr sz="950">
                          <a:solidFill>
                            <a:srgbClr val="1E1E1E"/>
                          </a:solidFill>
                        </a:defRPr>
                      </a:pPr>
                      <a:r>
                        <a:t>リニューアルオープン</a:t>
                      </a:r>
                    </a:p>
                  </a:txBody>
                  <a:tcPr/>
                </a:tc>
                <a:tc>
                  <a:txBody>
                    <a:bodyPr/>
                    <a:lstStyle/>
                    <a:p>
                      <a:pPr>
                        <a:defRPr sz="950">
                          <a:solidFill>
                            <a:srgbClr val="1E1E1E"/>
                          </a:solidFill>
                        </a:defRPr>
                      </a:pPr>
                      <a:r>
                        <a:t>JR大阪店, 南海なんば店</a:t>
                      </a:r>
                    </a:p>
                  </a:txBody>
                  <a:tcPr/>
                </a:tc>
                <a:tc>
                  <a:txBody>
                    <a:bodyPr/>
                    <a:lstStyle/>
                    <a:p>
                      <a:pPr>
                        <a:defRPr sz="950">
                          <a:solidFill>
                            <a:srgbClr val="1E1E1E"/>
                          </a:solidFill>
                        </a:defRPr>
                      </a:pPr>
                      <a:r>
                        <a:t>中程度</a:t>
                      </a:r>
                    </a:p>
                  </a:txBody>
                  <a:tcPr/>
                </a:tc>
                <a:tc>
                  <a:txBody>
                    <a:bodyPr/>
                    <a:lstStyle/>
                    <a:p>
                      <a:pPr>
                        <a:defRPr sz="950">
                          <a:solidFill>
                            <a:srgbClr val="1E1E1E"/>
                          </a:solidFill>
                        </a:defRPr>
                      </a:pPr>
                      <a:r>
                        <a:t>店舗がリニューアルオープンし、より魅力的な店舗として競争力を高める可能性があります。</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(3ページ目)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1584960">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1584960">
                <a:tc>
                  <a:txBody>
                    <a:bodyPr/>
                    <a:lstStyle/>
                    <a:p>
                      <a:pPr>
                        <a:defRPr sz="950">
                          <a:solidFill>
                            <a:srgbClr val="1E1E1E"/>
                          </a:solidFill>
                        </a:defRPr>
                      </a:pPr>
                      <a:r>
                        <a:t>大阪府和泉市</a:t>
                      </a:r>
                    </a:p>
                  </a:txBody>
                  <a:tcPr>
                    <a:solidFill>
                      <a:srgbClr val="F5F5F5"/>
                    </a:solidFill>
                  </a:tcPr>
                </a:tc>
                <a:tc>
                  <a:txBody>
                    <a:bodyPr/>
                    <a:lstStyle/>
                    <a:p>
                      <a:pPr>
                        <a:defRPr sz="950">
                          <a:solidFill>
                            <a:srgbClr val="1E1E1E"/>
                          </a:solidFill>
                        </a:defRPr>
                      </a:pPr>
                      <a:r>
                        <a:t>万代 アクロスプラザ和泉観音寺店</a:t>
                      </a:r>
                    </a:p>
                  </a:txBody>
                  <a:tcPr>
                    <a:solidFill>
                      <a:srgbClr val="F5F5F5"/>
                    </a:solidFill>
                  </a:tcPr>
                </a:tc>
                <a:tc>
                  <a:txBody>
                    <a:bodyPr/>
                    <a:lstStyle/>
                    <a:p>
                      <a:pPr>
                        <a:defRPr sz="950">
                          <a:solidFill>
                            <a:srgbClr val="1E1E1E"/>
                          </a:solidFill>
                        </a:defRPr>
                      </a:pPr>
                      <a:r>
                        <a:t>2026年11月</a:t>
                      </a:r>
                    </a:p>
                  </a:txBody>
                  <a:tcPr>
                    <a:solidFill>
                      <a:srgbClr val="F5F5F5"/>
                    </a:solidFill>
                  </a:tcPr>
                </a:tc>
                <a:tc>
                  <a:txBody>
                    <a:bodyPr/>
                    <a:lstStyle/>
                    <a:p>
                      <a:pPr>
                        <a:defRPr sz="950">
                          <a:solidFill>
                            <a:srgbClr val="1E1E1E"/>
                          </a:solidFill>
                        </a:defRPr>
                      </a:pPr>
                      <a:r>
                        <a:t>新規オープン</a:t>
                      </a:r>
                    </a:p>
                  </a:txBody>
                  <a:tcPr>
                    <a:solidFill>
                      <a:srgbClr val="F5F5F5"/>
                    </a:solidFill>
                  </a:tcPr>
                </a:tc>
                <a:tc>
                  <a:txBody>
                    <a:bodyPr/>
                    <a:lstStyle/>
                    <a:p>
                      <a:pPr>
                        <a:defRPr sz="950">
                          <a:solidFill>
                            <a:srgbClr val="1E1E1E"/>
                          </a:solidFill>
                        </a:defRPr>
                      </a:pPr>
                      <a:r>
                        <a:t>南海なんば店</a:t>
                      </a:r>
                    </a:p>
                  </a:txBody>
                  <a:tcPr>
                    <a:solidFill>
                      <a:srgbClr val="F5F5F5"/>
                    </a:solidFill>
                  </a:tcPr>
                </a:tc>
                <a:tc>
                  <a:txBody>
                    <a:bodyPr/>
                    <a:lstStyle/>
                    <a:p>
                      <a:pPr>
                        <a:defRPr sz="950">
                          <a:solidFill>
                            <a:srgbClr val="1E1E1E"/>
                          </a:solidFill>
                        </a:defRPr>
                      </a:pPr>
                      <a:r>
                        <a:t>中程度</a:t>
                      </a:r>
                    </a:p>
                  </a:txBody>
                  <a:tcPr>
                    <a:solidFill>
                      <a:srgbClr val="F5F5F5"/>
                    </a:solidFill>
                  </a:tcPr>
                </a:tc>
                <a:tc>
                  <a:txBody>
                    <a:bodyPr/>
                    <a:lstStyle/>
                    <a:p>
                      <a:pPr>
                        <a:defRPr sz="950">
                          <a:solidFill>
                            <a:srgbClr val="1E1E1E"/>
                          </a:solidFill>
                        </a:defRPr>
                      </a:pPr>
                      <a:r>
                        <a:t>大和ハウスリアルティマネジメントが開発する複合施設「アクロスプラザ和泉観音寺」内に万代が出店予定です。大規模店舗であり、南大阪エリアの競争環境に影響を与える可能性があります。</a:t>
                      </a:r>
                    </a:p>
                  </a:txBody>
                  <a:tcPr>
                    <a:solidFill>
                      <a:srgbClr val="F5F5F5"/>
                    </a:solidFill>
                  </a:tcPr>
                </a:tc>
              </a:tr>
              <a:tr h="1584960">
                <a:tc>
                  <a:txBody>
                    <a:bodyPr/>
                    <a:lstStyle/>
                    <a:p>
                      <a:pPr>
                        <a:defRPr sz="950">
                          <a:solidFill>
                            <a:srgbClr val="1E1E1E"/>
                          </a:solidFill>
                        </a:defRPr>
                      </a:pPr>
                      <a:r>
                        <a:t>兵庫県神戸市垂水区</a:t>
                      </a:r>
                    </a:p>
                  </a:txBody>
                  <a:tcPr/>
                </a:tc>
                <a:tc>
                  <a:txBody>
                    <a:bodyPr/>
                    <a:lstStyle/>
                    <a:p>
                      <a:pPr>
                        <a:defRPr sz="950">
                          <a:solidFill>
                            <a:srgbClr val="1E1E1E"/>
                          </a:solidFill>
                        </a:defRPr>
                      </a:pPr>
                      <a:r>
                        <a:t>Milta ミルタ プラウドタワー神戸垂水</a:t>
                      </a:r>
                    </a:p>
                  </a:txBody>
                  <a:tcPr/>
                </a:tc>
                <a:tc>
                  <a:txBody>
                    <a:bodyPr/>
                    <a:lstStyle/>
                    <a:p>
                      <a:pPr>
                        <a:defRPr sz="950">
                          <a:solidFill>
                            <a:srgbClr val="1E1E1E"/>
                          </a:solidFill>
                        </a:defRPr>
                      </a:pPr>
                      <a:r>
                        <a:t>2026年秋以降順次</a:t>
                      </a:r>
                    </a:p>
                  </a:txBody>
                  <a:tcPr/>
                </a:tc>
                <a:tc>
                  <a:txBody>
                    <a:bodyPr/>
                    <a:lstStyle/>
                    <a:p>
                      <a:pPr>
                        <a:defRPr sz="950">
                          <a:solidFill>
                            <a:srgbClr val="1E1E1E"/>
                          </a:solidFill>
                        </a:defRPr>
                      </a:pPr>
                      <a:r>
                        <a:t>商業施設開業</a:t>
                      </a:r>
                    </a:p>
                  </a:txBody>
                  <a:tcPr/>
                </a:tc>
                <a:tc>
                  <a:txBody>
                    <a:bodyPr/>
                    <a:lstStyle/>
                    <a:p>
                      <a:pPr>
                        <a:defRPr sz="950">
                          <a:solidFill>
                            <a:srgbClr val="1E1E1E"/>
                          </a:solidFill>
                        </a:defRPr>
                      </a:pPr>
                      <a:r>
                        <a:t>神戸三宮店, 御影店, 六甲店, 岡本店</a:t>
                      </a:r>
                    </a:p>
                  </a:txBody>
                  <a:tcPr/>
                </a:tc>
                <a:tc>
                  <a:txBody>
                    <a:bodyPr/>
                    <a:lstStyle/>
                    <a:p>
                      <a:pPr>
                        <a:defRPr sz="950">
                          <a:solidFill>
                            <a:srgbClr val="1E1E1E"/>
                          </a:solidFill>
                        </a:defRPr>
                      </a:pPr>
                      <a:r>
                        <a:t>中程度</a:t>
                      </a:r>
                    </a:p>
                  </a:txBody>
                  <a:tcPr/>
                </a:tc>
                <a:tc>
                  <a:txBody>
                    <a:bodyPr/>
                    <a:lstStyle/>
                    <a:p>
                      <a:pPr>
                        <a:defRPr sz="950">
                          <a:solidFill>
                            <a:srgbClr val="1E1E1E"/>
                          </a:solidFill>
                        </a:defRPr>
                      </a:pPr>
                      <a:r>
                        <a:t>JR・山陽垂水駅前に複合再開発ビル内の商業エリアが開業予定で、食品スーパーを含む店舗が出店する可能性があります。</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今回の調査では、広範囲なエリアでの新規出店やリニューアルが確認されました。特に、オーケーは高槻市と大阪市平野区、サンディは吹田市、都島区、芦屋市、神戸市御影、宝塚市といった多様なエリアで出店を強化しており、いかりスーパーの既存店舗にとって競合が局所的かつ広域的に増えることを示しています。</a:t>
            </a:r>
          </a:p>
          <a:p>
            <a:pPr>
              <a:spcAft>
                <a:spcPts val="1400"/>
              </a:spcAft>
              <a:defRPr sz="1400">
                <a:solidFill>
                  <a:srgbClr val="1E1E1E"/>
                </a:solidFill>
              </a:defRPr>
            </a:pPr>
            <a:r>
              <a:t>*   **オーケー高槻赤大路店**の開店は、いかり高槻店と直接競合する立地であり、価格競争が激化する可能性があります。</a:t>
            </a:r>
          </a:p>
          <a:p>
            <a:pPr>
              <a:spcAft>
                <a:spcPts val="1400"/>
              </a:spcAft>
              <a:defRPr sz="1400">
                <a:solidFill>
                  <a:srgbClr val="1E1E1E"/>
                </a:solidFill>
              </a:defRPr>
            </a:pPr>
            <a:r>
              <a:t>*   **サンディ吹田五月が丘店**は、いかり王子店、豊中店、箕面店といった北摂エリアの店舗に近接しており、低価格帯での競争が強まることが予想されます。</a:t>
            </a:r>
          </a:p>
          <a:p>
            <a:pPr>
              <a:spcAft>
                <a:spcPts val="1400"/>
              </a:spcAft>
              <a:defRPr sz="1400">
                <a:solidFill>
                  <a:srgbClr val="1E1E1E"/>
                </a:solidFill>
              </a:defRPr>
            </a:pPr>
            <a:r>
              <a:t>*   **サンディ芦屋店、御影店**の開店は、いかり芦屋店、御影店、摂津本山駅前店、六甲店、岡本店などの高級住宅地エリアにおける競合を激化させる可能性があります。</a:t>
            </a:r>
          </a:p>
          <a:p>
            <a:pPr>
              <a:spcAft>
                <a:spcPts val="1400"/>
              </a:spcAft>
              <a:defRPr sz="1400">
                <a:solidFill>
                  <a:srgbClr val="1E1E1E"/>
                </a:solidFill>
              </a:defRPr>
            </a:pPr>
            <a:r>
              <a:t>*   **阪急オアシスマルシェ日生中央店**のリニューアルは、いかり宝塚店や阪急逆瀬川店などの北摂エリアの店舗からやや距離はあるものの、価値訴求型の品揃え強化により、一部顧客層の流動に影響を与える可能性があります。</a:t>
            </a:r>
          </a:p>
          <a:p>
            <a:pPr>
              <a:spcAft>
                <a:spcPts val="1400"/>
              </a:spcAft>
              <a:defRPr sz="1400">
                <a:solidFill>
                  <a:srgbClr val="1E1E1E"/>
                </a:solidFill>
              </a:defRPr>
            </a:pPr>
            <a:r>
              <a:t>*   **関西スーパー瑞光店**のネットスーパー開業は、いかりJR大阪店や豊中店、王子店といった大阪市北部・北摂エリアのオンライン購買層への新たなアプローチとなり、既存店舗の集客だけでなく、宅配サービスにおける競争も生じさせるでしょう。</a:t>
            </a:r>
          </a:p>
          <a:p>
            <a:pPr>
              <a:spcAft>
                <a:spcPts val="1400"/>
              </a:spcAft>
              <a:defRPr sz="1400">
                <a:solidFill>
                  <a:srgbClr val="1E1E1E"/>
                </a:solidFill>
              </a:defRPr>
            </a:pPr>
            <a:r>
              <a:t>*   **万代 アクロスプラザ和泉観音寺店**は、いかり南海なんば店から見て南に位置し、これまで万代がターゲットとしてきた地域住民の日常使いに加え、大規模施設内の核店舗として広域からの集客も狙う可能性があり、いかりの南大阪エリアの顧客層にも間接的な影響を及ぼす可能性があります。</a:t>
            </a:r>
          </a:p>
          <a:p>
            <a:pPr>
              <a:spcAft>
                <a:spcPts val="1400"/>
              </a:spcAft>
              <a:defRPr sz="1400">
                <a:solidFill>
                  <a:srgbClr val="1E1E1E"/>
                </a:solidFill>
              </a:defRPr>
            </a:pPr>
            <a:r>
              <a:t>*   **Milta ミルタ プラウドタワー神戸垂水**の開業は、いかり神戸三宮店、御影店、六甲店、岡本店といった神戸市内の店舗にとって、新しい商業施設内のスーパーマーケットの出店有無に関わらず、周辺の商業環境の変化として注目すべきで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1. いかり高槻店、王子店、芦屋店、御影店、宝塚店</a:t>
            </a:r>
          </a:p>
          <a:p>
            <a:pPr>
              <a:spcAft>
                <a:spcPts val="1200"/>
              </a:spcAft>
              <a:defRPr sz="1350">
                <a:solidFill>
                  <a:srgbClr val="1E1E1E"/>
                </a:solidFill>
              </a:defRPr>
            </a:pPr>
            <a:r>
              <a:t>*   オーケー（高槻赤大路店、長吉店）やサンディ（吹田五月が丘店、都島北通店、芦屋店、御影店、宝塚南店）などディスカウントスーパーの集中出店により、日常使いの品目において価格比較や顧客流出のリスクが生じます。</a:t>
            </a:r>
          </a:p>
          <a:p>
            <a:pPr>
              <a:spcAft>
                <a:spcPts val="1200"/>
              </a:spcAft>
              <a:defRPr sz="1350">
                <a:solidFill>
                  <a:srgbClr val="1E1E1E"/>
                </a:solidFill>
              </a:defRPr>
            </a:pPr>
            <a:r>
              <a:t>*   対策として、高品質な生鮮食材、希少なこだわり商品、デリ・惣菜の強化、上質な対面接客によるブランド価値の再訴求が重要です。</a:t>
            </a:r>
          </a:p>
          <a:p>
            <a:pPr>
              <a:spcAft>
                <a:spcPts val="1200"/>
              </a:spcAft>
              <a:defRPr sz="1350">
                <a:solidFill>
                  <a:srgbClr val="1E1E1E"/>
                </a:solidFill>
              </a:defRPr>
            </a:pPr>
            <a:r>
              <a:t>2. いかり宝塚店、阪急逆瀬川店、箕面店、御影店、六甲店</a:t>
            </a:r>
          </a:p>
          <a:p>
            <a:pPr>
              <a:spcAft>
                <a:spcPts val="1200"/>
              </a:spcAft>
              <a:defRPr sz="1350">
                <a:solidFill>
                  <a:srgbClr val="1E1E1E"/>
                </a:solidFill>
              </a:defRPr>
            </a:pPr>
            <a:r>
              <a:t>*   阪急オアシス日生中央店（マルシェ型への価値訴求リニューアル）や関西スーパー（瑞光店のネットスーパー開始、日下店リニューアル等）により、品質・専門性や利便性での競合が強まります。</a:t>
            </a:r>
          </a:p>
          <a:p>
            <a:pPr>
              <a:spcAft>
                <a:spcPts val="1200"/>
              </a:spcAft>
              <a:defRPr sz="1350">
                <a:solidFill>
                  <a:srgbClr val="1E1E1E"/>
                </a:solidFill>
              </a:defRPr>
            </a:pPr>
            <a:r>
              <a:t>*   商品選定の厳格化、PB（プライベートブランド）の拡充、およびオンライン接点の強化が求められます。</a:t>
            </a:r>
          </a:p>
          <a:p>
            <a:pPr>
              <a:spcAft>
                <a:spcPts val="1200"/>
              </a:spcAft>
              <a:defRPr sz="1350">
                <a:solidFill>
                  <a:srgbClr val="1E1E1E"/>
                </a:solidFill>
              </a:defRPr>
            </a:pPr>
            <a:r>
              <a:t>3. いかり神戸三宮店、御影店、六甲店、岡本店</a:t>
            </a:r>
          </a:p>
          <a:p>
            <a:pPr>
              <a:spcAft>
                <a:spcPts val="1200"/>
              </a:spcAft>
              <a:defRPr sz="1350">
                <a:solidFill>
                  <a:srgbClr val="1E1E1E"/>
                </a:solidFill>
              </a:defRPr>
            </a:pPr>
            <a:r>
              <a:t>*   垂水駅前の複合再開発施設「ミルタ（プラウドタワー神戸垂水）」開業などによる商業環境の変化を注視し、新たな集客スポットからの自店舗誘導マーケティングや差別化戦略を推進する必要があります。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pPr>
            <a:r>
              <a:rPr sz="1200">
                <a:solidFill>
                  <a:srgbClr val="1E1E1E"/>
                </a:solidFill>
              </a:rPr>
              <a:t>・ </a:t>
            </a:r>
            <a:r>
              <a:rPr sz="1200">
                <a:solidFill>
                  <a:srgbClr val="1E1E1E"/>
                </a:solidFill>
              </a:rPr>
              <a:t>  </a:t>
            </a:r>
            <a:r>
              <a:rPr sz="1200" u="sng">
                <a:solidFill>
                  <a:srgbClr val="0066CC"/>
                </a:solidFill>
                <a:hlinkClick r:id="rId2"/>
              </a:rPr>
              <a:t>関西に続々とオープン！ ディスカウント・スーパー「オーケー」 大阪府7店舗目、9月に「高槻赤大路店」を出店 ～2026年度は大阪府内に計7店舗を出店、今秋には平野区へも進出！</a:t>
            </a:r>
          </a:p>
          <a:p>
            <a:pPr>
              <a:spcAft>
                <a:spcPts val="800"/>
              </a:spcAft>
            </a:pPr>
            <a:r>
              <a:rPr sz="1200">
                <a:solidFill>
                  <a:srgbClr val="1E1E1E"/>
                </a:solidFill>
              </a:rPr>
              <a:t>・ </a:t>
            </a:r>
            <a:r>
              <a:rPr sz="1200">
                <a:solidFill>
                  <a:srgbClr val="1E1E1E"/>
                </a:solidFill>
              </a:rPr>
              <a:t>  </a:t>
            </a:r>
            <a:r>
              <a:rPr sz="1200" u="sng">
                <a:solidFill>
                  <a:srgbClr val="0066CC"/>
                </a:solidFill>
                <a:hlinkClick r:id="rId3"/>
              </a:rPr>
              <a:t>阪急オアシスマルシェ日生中央店／9月1日「価値訴求型」店舗にリニューアルオープン</a:t>
            </a:r>
          </a:p>
          <a:p>
            <a:pPr>
              <a:spcAft>
                <a:spcPts val="800"/>
              </a:spcAft>
            </a:pPr>
            <a:r>
              <a:rPr sz="1200">
                <a:solidFill>
                  <a:srgbClr val="1E1E1E"/>
                </a:solidFill>
              </a:rPr>
              <a:t>・ </a:t>
            </a:r>
            <a:r>
              <a:rPr sz="1200">
                <a:solidFill>
                  <a:srgbClr val="1E1E1E"/>
                </a:solidFill>
              </a:rPr>
              <a:t>  </a:t>
            </a:r>
            <a:r>
              <a:rPr sz="1200" u="sng">
                <a:solidFill>
                  <a:srgbClr val="0066CC"/>
                </a:solidFill>
                <a:hlinkClick r:id="rId4"/>
              </a:rPr>
              <a:t>阪急オアシス: HANKYU OASIS</a:t>
            </a:r>
          </a:p>
          <a:p>
            <a:pPr>
              <a:spcAft>
                <a:spcPts val="800"/>
              </a:spcAft>
            </a:pPr>
            <a:r>
              <a:rPr sz="1200">
                <a:solidFill>
                  <a:srgbClr val="1E1E1E"/>
                </a:solidFill>
              </a:rPr>
              <a:t>・ </a:t>
            </a:r>
            <a:r>
              <a:rPr sz="1200">
                <a:solidFill>
                  <a:srgbClr val="1E1E1E"/>
                </a:solidFill>
              </a:rPr>
              <a:t>  </a:t>
            </a:r>
            <a:r>
              <a:rPr sz="1200" u="sng">
                <a:solidFill>
                  <a:srgbClr val="0066CC"/>
                </a:solidFill>
                <a:hlinkClick r:id="rId5"/>
              </a:rPr>
              <a:t>ディスカウントスーパーサンディのホームページ</a:t>
            </a:r>
          </a:p>
          <a:p>
            <a:pPr>
              <a:spcAft>
                <a:spcPts val="800"/>
              </a:spcAft>
            </a:pPr>
            <a:r>
              <a:rPr sz="1200">
                <a:solidFill>
                  <a:srgbClr val="1E1E1E"/>
                </a:solidFill>
              </a:rPr>
              <a:t>・ </a:t>
            </a:r>
            <a:r>
              <a:rPr sz="1200">
                <a:solidFill>
                  <a:srgbClr val="1E1E1E"/>
                </a:solidFill>
              </a:rPr>
              <a:t>  </a:t>
            </a:r>
            <a:r>
              <a:rPr sz="1200" u="sng">
                <a:solidFill>
                  <a:srgbClr val="0066CC"/>
                </a:solidFill>
                <a:hlinkClick r:id="rId6"/>
              </a:rPr>
              <a:t>ローカライズがさらに進化！ 関西12店舗目の「オーケー高槻赤大路店」をレポート</a:t>
            </a:r>
          </a:p>
          <a:p>
            <a:pPr>
              <a:spcAft>
                <a:spcPts val="800"/>
              </a:spcAft>
            </a:pPr>
            <a:r>
              <a:rPr sz="1200">
                <a:solidFill>
                  <a:srgbClr val="1E1E1E"/>
                </a:solidFill>
              </a:rPr>
              <a:t>・ </a:t>
            </a:r>
            <a:r>
              <a:rPr sz="1200">
                <a:solidFill>
                  <a:srgbClr val="1E1E1E"/>
                </a:solidFill>
              </a:rPr>
              <a:t>  </a:t>
            </a:r>
            <a:r>
              <a:rPr sz="1200" u="sng">
                <a:solidFill>
                  <a:srgbClr val="0066CC"/>
                </a:solidFill>
                <a:hlinkClick r:id="rId7"/>
              </a:rPr>
              <a:t>阪急オアシス日生中央サピエ店が9/1(火)にリニューアルオープンでめっちゃお得なセールやる。記念マルシェも同時開催するって。 かわにしマガジン</a:t>
            </a:r>
          </a:p>
          <a:p>
            <a:pPr>
              <a:spcAft>
                <a:spcPts val="800"/>
              </a:spcAft>
            </a:pPr>
            <a:r>
              <a:rPr sz="1200">
                <a:solidFill>
                  <a:srgbClr val="1E1E1E"/>
                </a:solidFill>
              </a:rPr>
              <a:t>・ </a:t>
            </a:r>
            <a:r>
              <a:rPr sz="1200">
                <a:solidFill>
                  <a:srgbClr val="1E1E1E"/>
                </a:solidFill>
              </a:rPr>
              <a:t>  </a:t>
            </a:r>
            <a:r>
              <a:rPr sz="1200" u="sng">
                <a:solidFill>
                  <a:srgbClr val="0066CC"/>
                </a:solidFill>
                <a:hlinkClick r:id="rId8"/>
              </a:rPr>
              <a:t>関西フードマーケット、9月1日「阪急オアシスマルシェ日生中央店」リニューアルオープン</a:t>
            </a:r>
          </a:p>
          <a:p>
            <a:pPr>
              <a:spcAft>
                <a:spcPts val="800"/>
              </a:spcAft>
            </a:pPr>
            <a:r>
              <a:rPr sz="1200">
                <a:solidFill>
                  <a:srgbClr val="1E1E1E"/>
                </a:solidFill>
              </a:rPr>
              <a:t>・ </a:t>
            </a:r>
            <a:r>
              <a:rPr sz="1200">
                <a:solidFill>
                  <a:srgbClr val="1E1E1E"/>
                </a:solidFill>
              </a:rPr>
              <a:t>  </a:t>
            </a:r>
            <a:r>
              <a:rPr sz="1200" u="sng">
                <a:solidFill>
                  <a:srgbClr val="0066CC"/>
                </a:solidFill>
                <a:hlinkClick r:id="rId9"/>
              </a:rPr>
              <a:t>お知らせ｜関西スーパー～いつも暮らしの近くにいます～​</a:t>
            </a:r>
          </a:p>
          <a:p>
            <a:pPr>
              <a:spcAft>
                <a:spcPts val="800"/>
              </a:spcAft>
            </a:pPr>
            <a:r>
              <a:rPr sz="1200">
                <a:solidFill>
                  <a:srgbClr val="1E1E1E"/>
                </a:solidFill>
              </a:rPr>
              <a:t>・ </a:t>
            </a:r>
            <a:r>
              <a:rPr sz="1200">
                <a:solidFill>
                  <a:srgbClr val="1E1E1E"/>
                </a:solidFill>
              </a:rPr>
              <a:t>  </a:t>
            </a:r>
            <a:r>
              <a:rPr sz="1200" u="sng">
                <a:solidFill>
                  <a:srgbClr val="0066CC"/>
                </a:solidFill>
                <a:hlinkClick r:id="rId10"/>
              </a:rPr>
              <a:t>関西スーパー～いつも暮らしの近くにいます～</a:t>
            </a:r>
          </a:p>
          <a:p>
            <a:pPr>
              <a:spcAft>
                <a:spcPts val="800"/>
              </a:spcAft>
            </a:pPr>
            <a:r>
              <a:rPr sz="1200">
                <a:solidFill>
                  <a:srgbClr val="1E1E1E"/>
                </a:solidFill>
              </a:rPr>
              <a:t>・ </a:t>
            </a:r>
            <a:r>
              <a:rPr sz="1200">
                <a:solidFill>
                  <a:srgbClr val="1E1E1E"/>
                </a:solidFill>
              </a:rPr>
              <a:t>  </a:t>
            </a:r>
            <a:r>
              <a:rPr sz="1200" u="sng">
                <a:solidFill>
                  <a:srgbClr val="0066CC"/>
                </a:solidFill>
                <a:hlinkClick r:id="rId11"/>
              </a:rPr>
              <a:t>関西地方 | 出店ウォッチ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f) 【ビジュアルマップ】</a:t>
            </a:r>
          </a:p>
        </p:txBody>
      </p:sp>
      <p:pic>
        <p:nvPicPr>
          <p:cNvPr id="3" name="Picture 2" descr="2026_09_02_competitive_map_no_limit.png"/>
          <p:cNvPicPr>
            <a:picLocks noChangeAspect="1"/>
          </p:cNvPicPr>
          <p:nvPr/>
        </p:nvPicPr>
        <p:blipFill>
          <a:blip r:embed="rId2"/>
          <a:stretch>
            <a:fillRect/>
          </a:stretch>
        </p:blipFill>
        <p:spPr>
          <a:xfrm>
            <a:off x="2615184" y="1188720"/>
            <a:ext cx="694944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