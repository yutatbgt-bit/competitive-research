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GEb9As-VFyd_ErhYCt7C05Rl72P720GpnbkSZDEvekfmdXmNtQd5ITbKB1uJH1Gm0VRV2Zkh-6VqaGqt8ugv-MZP9jE61x59f9AcIZHmICCLTmWxAD" TargetMode="External"/><Relationship Id="rId3" Type="http://schemas.openxmlformats.org/officeDocument/2006/relationships/hyperlink" Target="https://vertexaisearch.cloud.google.com/grounding-api-redirect/AUZIYQFEneTXfEusKXTCm5mJ64A8N0SX2FsVQ06hOqUsUh4kl-MMtRu9UQcYiEVSlWyRy9Kprpq7IKJcnDQK6ESYJA9fS_PwR1s1Xyx2iqQc6EKgRtJPEO0yxFeRJrOr-zMScL6HHWxQJaeIC8Z8-Xu0_-ZbAuHEfh9CEaxtr8JfbhdElNKQ8wKCKj9xCTNQteaq5fXll0tPD98vfg==" TargetMode="External"/><Relationship Id="rId4" Type="http://schemas.openxmlformats.org/officeDocument/2006/relationships/hyperlink" Target="https://vertexaisearch.cloud.google.com/grounding-api-redirect/AUZIYQEDrx-93Y1PBQ0x6DR6DLDrKJB3PBq-lAesCcIxWKRQWLSKpd80e2LmevsnfzFP1y-ccdH5wlLtML4ZXgERSaplaEwbsDoAZZdJcD5d9H1gCxfV2Y7SWQ-yApF9WEz9uteEXR2ELRcI8Qeq05NSXP9guup_LMhF2y6Rr7Z-tk-fR0j2x_sFUA=="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いかりスーパーマーケット既存店舗の周辺環境において、2026年9月2日以降に発生する競合動向として、2件の新規出店計画が確認されました。</a:t>
            </a:r>
          </a:p>
          <a:p>
            <a:pPr>
              <a:spcAft>
                <a:spcPts val="1600"/>
              </a:spcAft>
              <a:defRPr sz="1800">
                <a:solidFill>
                  <a:srgbClr val="1E1E1E"/>
                </a:solidFill>
              </a:defRPr>
            </a:pPr>
            <a:r>
              <a:t>・   ヤマダストアーが2026年冬に大丸梅田店（大阪市北区）へ出店を予定しており、いかりJR大阪店が直接的な影響を受ける見込みです。</a:t>
            </a:r>
          </a:p>
          <a:p>
            <a:pPr>
              <a:spcAft>
                <a:spcPts val="1600"/>
              </a:spcAft>
              <a:defRPr sz="1800">
                <a:solidFill>
                  <a:srgbClr val="1E1E1E"/>
                </a:solidFill>
              </a:defRPr>
            </a:pPr>
            <a:r>
              <a:t>・   ヤマダストアーが2027年春に宝塚市伊孑志（兵庫県宝塚市）へ出店を計画しており、いかり宝塚店といかり阪急逆瀬川店が競合に直面する可能性があります。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大阪市北区</a:t>
                      </a:r>
                    </a:p>
                  </a:txBody>
                  <a:tcPr>
                    <a:solidFill>
                      <a:srgbClr val="F5F5F5"/>
                    </a:solidFill>
                  </a:tcPr>
                </a:tc>
                <a:tc>
                  <a:txBody>
                    <a:bodyPr/>
                    <a:lstStyle/>
                    <a:p>
                      <a:pPr>
                        <a:defRPr sz="950">
                          <a:solidFill>
                            <a:srgbClr val="1E1E1E"/>
                          </a:solidFill>
                        </a:defRPr>
                      </a:pPr>
                      <a:r>
                        <a:t>ヤマダストアー 大丸梅田店</a:t>
                      </a:r>
                    </a:p>
                  </a:txBody>
                  <a:tcPr>
                    <a:solidFill>
                      <a:srgbClr val="F5F5F5"/>
                    </a:solidFill>
                  </a:tcPr>
                </a:tc>
                <a:tc>
                  <a:txBody>
                    <a:bodyPr/>
                    <a:lstStyle/>
                    <a:p>
                      <a:pPr>
                        <a:defRPr sz="950">
                          <a:solidFill>
                            <a:srgbClr val="1E1E1E"/>
                          </a:solidFill>
                        </a:defRPr>
                      </a:pPr>
                      <a:r>
                        <a:t>2026年冬</a:t>
                      </a:r>
                    </a:p>
                  </a:txBody>
                  <a:tcPr>
                    <a:solidFill>
                      <a:srgbClr val="F5F5F5"/>
                    </a:solidFill>
                  </a:tcPr>
                </a:tc>
                <a:tc>
                  <a:txBody>
                    <a:bodyPr/>
                    <a:lstStyle/>
                    <a:p>
                      <a:pPr>
                        <a:defRPr sz="950">
                          <a:solidFill>
                            <a:srgbClr val="1E1E1E"/>
                          </a:solidFill>
                        </a:defRPr>
                      </a:pPr>
                      <a:r>
                        <a:t>新規出店予定</a:t>
                      </a:r>
                    </a:p>
                  </a:txBody>
                  <a:tcPr>
                    <a:solidFill>
                      <a:srgbClr val="F5F5F5"/>
                    </a:solidFill>
                  </a:tcPr>
                </a:tc>
                <a:tc>
                  <a:txBody>
                    <a:bodyPr/>
                    <a:lstStyle/>
                    <a:p>
                      <a:pPr>
                        <a:defRPr sz="950">
                          <a:solidFill>
                            <a:srgbClr val="1E1E1E"/>
                          </a:solidFill>
                        </a:defRPr>
                      </a:pPr>
                      <a:r>
                        <a:t>いかりJR大阪店</a:t>
                      </a:r>
                    </a:p>
                  </a:txBody>
                  <a:tcPr>
                    <a:solidFill>
                      <a:srgbClr val="F5F5F5"/>
                    </a:solidFill>
                  </a:tcPr>
                </a:tc>
                <a:tc>
                  <a:txBody>
                    <a:bodyPr/>
                    <a:lstStyle/>
                    <a:p>
                      <a:pPr>
                        <a:defRPr sz="950">
                          <a:solidFill>
                            <a:srgbClr val="1E1E1E"/>
                          </a:solidFill>
                        </a:defRPr>
                      </a:pPr>
                      <a:r>
                        <a:t>高</a:t>
                      </a:r>
                    </a:p>
                  </a:txBody>
                  <a:tcPr>
                    <a:solidFill>
                      <a:srgbClr val="F5F5F5"/>
                    </a:solidFill>
                  </a:tcPr>
                </a:tc>
                <a:tc>
                  <a:txBody>
                    <a:bodyPr/>
                    <a:lstStyle/>
                    <a:p>
                      <a:pPr>
                        <a:defRPr sz="950">
                          <a:solidFill>
                            <a:srgbClr val="1E1E1E"/>
                          </a:solidFill>
                        </a:defRPr>
                      </a:pPr>
                      <a:r>
                        <a:t>JR大阪駅直結の大丸梅田店地下2階に、ヤマダストアーの最大規模店舗がオープン予定。いかりJR大阪店と同じ駅ビル複合施設内での競合となる。</a:t>
                      </a:r>
                    </a:p>
                  </a:txBody>
                  <a:tcPr>
                    <a:solidFill>
                      <a:srgbClr val="F5F5F5"/>
                    </a:solidFill>
                  </a:tcPr>
                </a:tc>
              </a:tr>
              <a:tr h="1584960">
                <a:tc>
                  <a:txBody>
                    <a:bodyPr/>
                    <a:lstStyle/>
                    <a:p>
                      <a:pPr>
                        <a:defRPr sz="950">
                          <a:solidFill>
                            <a:srgbClr val="1E1E1E"/>
                          </a:solidFill>
                        </a:defRPr>
                      </a:pPr>
                      <a:r>
                        <a:t>兵庫県宝塚市</a:t>
                      </a:r>
                    </a:p>
                  </a:txBody>
                  <a:tcPr/>
                </a:tc>
                <a:tc>
                  <a:txBody>
                    <a:bodyPr/>
                    <a:lstStyle/>
                    <a:p>
                      <a:pPr>
                        <a:defRPr sz="950">
                          <a:solidFill>
                            <a:srgbClr val="1E1E1E"/>
                          </a:solidFill>
                        </a:defRPr>
                      </a:pPr>
                      <a:r>
                        <a:t>ヤマダストアー 宝塚店（仮称：宝塚市伊孑志計画）</a:t>
                      </a:r>
                    </a:p>
                  </a:txBody>
                  <a:tcPr/>
                </a:tc>
                <a:tc>
                  <a:txBody>
                    <a:bodyPr/>
                    <a:lstStyle/>
                    <a:p>
                      <a:pPr>
                        <a:defRPr sz="950">
                          <a:solidFill>
                            <a:srgbClr val="1E1E1E"/>
                          </a:solidFill>
                        </a:defRPr>
                      </a:pPr>
                      <a:r>
                        <a:t>2027年春</a:t>
                      </a:r>
                    </a:p>
                  </a:txBody>
                  <a:tcPr/>
                </a:tc>
                <a:tc>
                  <a:txBody>
                    <a:bodyPr/>
                    <a:lstStyle/>
                    <a:p>
                      <a:pPr>
                        <a:defRPr sz="950">
                          <a:solidFill>
                            <a:srgbClr val="1E1E1E"/>
                          </a:solidFill>
                        </a:defRPr>
                      </a:pPr>
                      <a:r>
                        <a:t>新規出店予定</a:t>
                      </a:r>
                    </a:p>
                  </a:txBody>
                  <a:tcPr/>
                </a:tc>
                <a:tc>
                  <a:txBody>
                    <a:bodyPr/>
                    <a:lstStyle/>
                    <a:p>
                      <a:pPr>
                        <a:defRPr sz="950">
                          <a:solidFill>
                            <a:srgbClr val="1E1E1E"/>
                          </a:solidFill>
                        </a:defRPr>
                      </a:pPr>
                      <a:r>
                        <a:t>いかり宝塚店、いかり阪急逆瀬川店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兵庫県播磨地域を中心に展開するヤマダストアーが、宝塚市伊孑志に初の店舗を計画。いかり宝塚店およびいかり阪急逆瀬川店から半径2km圏内と推測され、競争激化が予想される。</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新たに判明したヤマダストアーの新規出店計画は、いずれもいかりスーパーマーケットの既存店舗から非常に近いエリアに位置しています。大丸梅田店への出店は、いかりJR大阪店とほぼ同一の商圏であり、駅利用客や周辺オフィスワーカーを取り合う形になります。宝塚市伊孑志への出店は、阪急宝塚線沿線の住宅地における競合となり、いかり宝塚店、いかり阪急逆瀬川店がカバーする顧客層と重複する可能性が高いです。特に宝塚市伊孑志は、阪急小林駅周辺に位置しており、両いかり店舗から約1.2km～1.5km圏内と近接してい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1. いかりJR大阪店</a:t>
            </a:r>
          </a:p>
          <a:p>
            <a:pPr>
              <a:spcAft>
                <a:spcPts val="1200"/>
              </a:spcAft>
              <a:defRPr sz="1350">
                <a:solidFill>
                  <a:srgbClr val="1E1E1E"/>
                </a:solidFill>
              </a:defRPr>
            </a:pPr>
            <a:r>
              <a:t>*   ヤマダストアーの大丸梅田店出店は、いかりJR大阪店にとって直接的かつ大きな影響をもたらすと考えられます。同店舗は駅利用客や周辺の富裕層をターゲットとしており、高品質な食材を強みとするヤマダストアーとの顧客争奪戦が予想されます。品揃えや価格戦略だけでなく、百貨店テナントとしての付加価値提供において差別化を図る必要があります。</a:t>
            </a:r>
          </a:p>
          <a:p>
            <a:pPr>
              <a:spcAft>
                <a:spcPts val="1200"/>
              </a:spcAft>
              <a:defRPr sz="1350">
                <a:solidFill>
                  <a:srgbClr val="1E1E1E"/>
                </a:solidFill>
              </a:defRPr>
            </a:pPr>
            <a:r>
              <a:t>2. いかり宝塚店、いかり阪急逆瀬川店</a:t>
            </a:r>
          </a:p>
          <a:p>
            <a:pPr>
              <a:spcAft>
                <a:spcPts val="1200"/>
              </a:spcAft>
              <a:defRPr sz="1350">
                <a:solidFill>
                  <a:srgbClr val="1E1E1E"/>
                </a:solidFill>
              </a:defRPr>
            </a:pPr>
            <a:r>
              <a:t>*   宝塚市伊孑志へのヤマダストアー出店は、いかり宝塚店といかり阪急逆瀬川店に影響を与えるでしょう。ヤマダストアーは品質重視の高級スーパーとして知られており、いかりスーパーの顧客層と重なる部分が大きいです。既存顧客の維持、新規顧客の獲得に向けたプロモーション強化や、地域に密着したサービス、商品のさらなる拡充が求められ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兵庫の人気スーパー「ヤマダストアー」が大阪初上陸、2026年冬に「大丸梅田店」に最大店舗がオープン</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ヤマダストアー Wikipedia</a:t>
            </a:r>
          </a:p>
          <a:p>
            <a:pPr>
              <a:spcAft>
                <a:spcPts val="800"/>
              </a:spcAft>
            </a:pPr>
            <a:r>
              <a:rPr sz="1200">
                <a:solidFill>
                  <a:srgbClr val="1E1E1E"/>
                </a:solidFill>
              </a:rPr>
              <a:t>・ </a:t>
            </a:r>
            <a:r>
              <a:rPr sz="1200">
                <a:solidFill>
                  <a:srgbClr val="1E1E1E"/>
                </a:solidFill>
              </a:rPr>
              <a:t>  </a:t>
            </a:r>
            <a:r>
              <a:rPr sz="1200" u="sng">
                <a:solidFill>
                  <a:srgbClr val="0066CC"/>
                </a:solidFill>
                <a:hlinkClick r:id="rId4"/>
              </a:rPr>
              <a:t>ヤマダストアー 宝塚に初店舗 | 建通新聞 電子版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2_competitive_map_within_2km.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