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HlUj-W95qHsHb47aTUjdSroIDJ47DthAT6dmsgFZ1JUVGD7MgUNHIZ6sdd5foEzh_sClY_sn_GeGrZTT5y9Q9_kHTL37vQAs6zgPrFsm1qSesXkjTkWxm_4ci63S5eOCC_b73twoZYja4" TargetMode="External"/><Relationship Id="rId3" Type="http://schemas.openxmlformats.org/officeDocument/2006/relationships/hyperlink" Target="https://vertexaisearch.cloud.google.com/grounding-api-redirect/AUZIYQFGnJPMO3cGLnLtGlyesfPsurUoEcuj1afJnZ_TlCjZdm94d2O5V_T-ZJHTHhEF8rcIeoWcCJI1sRqhEJJNhSlxulqX2i238oc605HhsmJbNly8lJ2C_kKMyQ0H4RwXYASmJIRpqg==" TargetMode="External"/><Relationship Id="rId4" Type="http://schemas.openxmlformats.org/officeDocument/2006/relationships/hyperlink" Target="https://vertexaisearch.cloud.google.com/grounding-api-redirect/AUZIYQF7xclWBdZSrtY1X4hRjf50Xpx7ktbFjCEf636-6BWKCn6ZsdNSs2Ab7VkfLX_TqETXr0G1ZsqEngCl9YzqQXB4RRKPoxiBNAxWZ9NsSxzKq-tqw7SuCjNWTO6oDn4ul4MZwWFuCAm0HQ==" TargetMode="External"/><Relationship Id="rId5" Type="http://schemas.openxmlformats.org/officeDocument/2006/relationships/hyperlink" Target="https://vertexaisearch.cloud.google.com/grounding-api-redirect/AUZIYQFhJEDqJuQMKRLytOoagH2rLm0aQ1mvvGdLh2o9G8x_uMcGOkI-2vXjCbBwgER1cAkYvXvxovgwKtN5lYt6AplYXNN3rthQYeQqjrW9g6uvDzcnPg==" TargetMode="External"/><Relationship Id="rId6" Type="http://schemas.openxmlformats.org/officeDocument/2006/relationships/hyperlink" Target="https://vertexaisearch.cloud.google.com/grounding-api-redirect/AUZIYQHVtiLhv2ShLcycuoqBtrociCO4VLEUDJRuQdwHNkBVjFSuctEMD67wLeRD4ihFt0z6VHs6NRhIoRHdj7-CuOTORjPyTAc23HpPgwDe1pfE7jV1KRPz4zcUf-41jNXC vlmEca4EHIPCQW5SvzavA==" TargetMode="External"/><Relationship Id="rId7" Type="http://schemas.openxmlformats.org/officeDocument/2006/relationships/hyperlink" Target="https://vertexaisearch.cloud.google.com/grounding-api-redirect/AUZIYQG0KnFPll7ZrtwZ8gslPbYFXHhy0xkoGgujwfpZRBd4sdQV3-jOeQPUc-f58p-h5JqFfqXZH6BDj_Ihb-P_Ke70LkC_VDKOjzVdwDBJBZ1CmzxKOR8J3JhUDDdKPjLPNAc_r-RV2oujWA==" TargetMode="External"/><Relationship Id="rId8" Type="http://schemas.openxmlformats.org/officeDocument/2006/relationships/hyperlink" Target="https://vertexaisearch.cloud.google.com/grounding-api-redirect/AUZIYQGGfTw6ePVZ7g6bjekkASg56oUHYZXG22nCGlNmVAAT1vJ3UOfe8VDR6z0ftIyNuNW7bmM1nbtesr_6com_7jR4TXkEaFW2MqGRG5A6UwWh_54_yLjtQTo0dzVmKecgwYSQNCLJ" TargetMode="External"/><Relationship Id="rId9" Type="http://schemas.openxmlformats.org/officeDocument/2006/relationships/hyperlink" Target="https://vertexaisearch.cloud.google.com/grounding-api-redirect/AUZIYQHQBhJLp7Hyy-q5cN_0845TwepS0oVdLM0zseeu56CVVq5ecNI5OUlhEdQSYgmLZEb_QcVlB5am-W0YewqhzsyGWpCGEnyvKFfPnO1z9q8P2RpcFErgoqYa38qKPtfCJ-iz" TargetMode="External"/><Relationship Id="rId10" Type="http://schemas.openxmlformats.org/officeDocument/2006/relationships/hyperlink" Target="https://vertexaisearch.cloud.google.com/grounding-api-redirect/AUZIYQHFj-SnxVHsYE2TXKGaX_fbWtDKaw9FPSliglxP-gOE6kZnsR_PvWtZ6P7gZ_CkAvDwCu2SpdqGB6fGe3Sbb8bL0NTmpbFiV4FCwHoXhHKjxNCNIvQSSSt7bQ==" TargetMode="External"/><Relationship Id="rId11" Type="http://schemas.openxmlformats.org/officeDocument/2006/relationships/hyperlink" Target="https://vertexaisearch.cloud.google.com/grounding-api-redirect/AUZIYQE47wJjoVuReugeIeY_PhXPLvDgJqPlRt33Fd45UIZXIPCGW9SDelxWIO_ICy4lwusw2qdTxq9EZryQszbern7UQnPEOiZYM0Mq_zXRvBWhE57JPHpdj3tuZeD7TFeXk_uTCei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2026年09月02日以降の関西エリアのスーパーマーケット市場において、以下の競合動向が新たに確認されました。</a:t>
            </a:r>
          </a:p>
          <a:p>
            <a:pPr>
              <a:spcAft>
                <a:spcPts val="1600"/>
              </a:spcAft>
              <a:defRPr sz="1800">
                <a:solidFill>
                  <a:srgbClr val="1E1E1E"/>
                </a:solidFill>
              </a:defRPr>
            </a:pPr>
            <a:r>
              <a:t>・   ディスカウントスーパーのオーケーが大阪府高槻市に「高槻赤大路店」を9月1日にオープンし、さらに10月下旬には大阪市平野区に「長吉店」の開業を予定しており、大阪府内でのオーケーの出店攻勢が継続しています。</a:t>
            </a:r>
          </a:p>
          <a:p>
            <a:pPr>
              <a:spcAft>
                <a:spcPts val="1600"/>
              </a:spcAft>
              <a:defRPr sz="1800">
                <a:solidFill>
                  <a:srgbClr val="1E1E1E"/>
                </a:solidFill>
              </a:defRPr>
            </a:pPr>
            <a:r>
              <a:t>・   ディスカウントスーパーのサンディが、大阪府吹田市、大阪市都島区、兵庫県芦屋市、神戸市、宝塚市で計5店舗の新規オープンを9月と10月に予定しており、広範なエリアでの低価格帯スーパーの競争が激化する見込みです。</a:t>
            </a:r>
          </a:p>
          <a:p>
            <a:pPr>
              <a:spcAft>
                <a:spcPts val="1600"/>
              </a:spcAft>
              <a:defRPr sz="1800">
                <a:solidFill>
                  <a:srgbClr val="1E1E1E"/>
                </a:solidFill>
              </a:defRPr>
            </a:pPr>
            <a:r>
              <a:t>・   阪急オアシスは、兵庫県川辺郡猪名川町に「阪急オアシスマルシェ日生中央店」を9月1日にリニューアルオープンし、価値訴求型の店舗フォーマットへの転換を進めています。また、兵庫県神戸市の「石屋川店」が9月に臨時休業、関西スーパーは大阪府の「旭ヶ丘店」と「日下店」が9月、10月に臨時休業・改装オープンを予定しており、既存店の強化・業態転換の動きが見られます。</a:t>
            </a:r>
          </a:p>
          <a:p>
            <a:pPr>
              <a:spcAft>
                <a:spcPts val="1600"/>
              </a:spcAft>
              <a:defRPr sz="1800">
                <a:solidFill>
                  <a:srgbClr val="1E1E1E"/>
                </a:solidFill>
              </a:defRPr>
            </a:pPr>
            <a:r>
              <a:t>・   関西スーパーは大阪市東淀川区の「瑞光店」で9月1日にネットスーパーのサービスを開始し、デジタルチャネルの強化を図っています。</a:t>
            </a:r>
          </a:p>
          <a:p>
            <a:pPr>
              <a:spcAft>
                <a:spcPts val="1600"/>
              </a:spcAft>
              <a:defRPr sz="1800">
                <a:solidFill>
                  <a:srgbClr val="1E1E1E"/>
                </a:solidFill>
              </a:defRPr>
            </a:pPr>
            <a:r>
              <a:t>・   兵庫県神戸市垂水区に複合再開発ビル「プラウドタワー神戸垂水」および商業エリア「ミルタ（Milta）」が2026年秋より順次開業予定で、新たな商業施設の動向が注目されます。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679268">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679268">
                <a:tc>
                  <a:txBody>
                    <a:bodyPr/>
                    <a:lstStyle/>
                    <a:p>
                      <a:pPr>
                        <a:defRPr sz="950">
                          <a:solidFill>
                            <a:srgbClr val="1E1E1E"/>
                          </a:solidFill>
                        </a:defRPr>
                      </a:pPr>
                      <a:r>
                        <a:t>大阪府高槻市</a:t>
                      </a:r>
                    </a:p>
                  </a:txBody>
                  <a:tcPr>
                    <a:solidFill>
                      <a:srgbClr val="F5F5F5"/>
                    </a:solidFill>
                  </a:tcPr>
                </a:tc>
                <a:tc>
                  <a:txBody>
                    <a:bodyPr/>
                    <a:lstStyle/>
                    <a:p>
                      <a:pPr>
                        <a:defRPr sz="950">
                          <a:solidFill>
                            <a:srgbClr val="1E1E1E"/>
                          </a:solidFill>
                        </a:defRPr>
                      </a:pPr>
                      <a:r>
                        <a:t>オーケー高槻赤大路店</a:t>
                      </a:r>
                    </a:p>
                  </a:txBody>
                  <a:tcPr>
                    <a:solidFill>
                      <a:srgbClr val="F5F5F5"/>
                    </a:solidFill>
                  </a:tcPr>
                </a:tc>
                <a:tc>
                  <a:txBody>
                    <a:bodyPr/>
                    <a:lstStyle/>
                    <a:p>
                      <a:pPr>
                        <a:defRPr sz="950">
                          <a:solidFill>
                            <a:srgbClr val="1E1E1E"/>
                          </a:solidFill>
                        </a:defRPr>
                      </a:pPr>
                      <a:r>
                        <a:t>2026年9月1日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高槻店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ディスカウントスーパー「オーケー」が国道171号線沿いにオープン。周辺に住宅街が広がるほか、有力チェーンがひしめく激戦区への出店となります。</a:t>
                      </a:r>
                    </a:p>
                  </a:txBody>
                  <a:tcPr>
                    <a:solidFill>
                      <a:srgbClr val="F5F5F5"/>
                    </a:solidFill>
                  </a:tcPr>
                </a:tc>
              </a:tr>
              <a:tr h="679268">
                <a:tc>
                  <a:txBody>
                    <a:bodyPr/>
                    <a:lstStyle/>
                    <a:p>
                      <a:pPr>
                        <a:defRPr sz="950">
                          <a:solidFill>
                            <a:srgbClr val="1E1E1E"/>
                          </a:solidFill>
                        </a:defRPr>
                      </a:pPr>
                      <a:r>
                        <a:t>大阪市平野区</a:t>
                      </a:r>
                    </a:p>
                  </a:txBody>
                  <a:tcPr/>
                </a:tc>
                <a:tc>
                  <a:txBody>
                    <a:bodyPr/>
                    <a:lstStyle/>
                    <a:p>
                      <a:pPr>
                        <a:defRPr sz="950">
                          <a:solidFill>
                            <a:srgbClr val="1E1E1E"/>
                          </a:solidFill>
                        </a:defRPr>
                      </a:pPr>
                      <a:r>
                        <a:t>オーケー長吉店</a:t>
                      </a:r>
                    </a:p>
                  </a:txBody>
                  <a:tcPr/>
                </a:tc>
                <a:tc>
                  <a:txBody>
                    <a:bodyPr/>
                    <a:lstStyle/>
                    <a:p>
                      <a:pPr>
                        <a:defRPr sz="950">
                          <a:solidFill>
                            <a:srgbClr val="1E1E1E"/>
                          </a:solidFill>
                        </a:defRPr>
                      </a:pPr>
                      <a:r>
                        <a:t>2026年10月下旬</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南海なんば店</a:t>
                      </a:r>
                    </a:p>
                  </a:txBody>
                  <a:tcPr/>
                </a:tc>
                <a:tc>
                  <a:txBody>
                    <a:bodyPr/>
                    <a:lstStyle/>
                    <a:p>
                      <a:pPr>
                        <a:defRPr sz="950">
                          <a:solidFill>
                            <a:srgbClr val="1E1E1E"/>
                          </a:solidFill>
                        </a:defRPr>
                      </a:pPr>
                      <a:r>
                        <a:t>低〜中程度</a:t>
                      </a:r>
                    </a:p>
                  </a:txBody>
                  <a:tcPr/>
                </a:tc>
                <a:tc>
                  <a:txBody>
                    <a:bodyPr/>
                    <a:lstStyle/>
                    <a:p>
                      <a:pPr>
                        <a:defRPr sz="950">
                          <a:solidFill>
                            <a:srgbClr val="1E1E1E"/>
                          </a:solidFill>
                        </a:defRPr>
                      </a:pPr>
                      <a:r>
                        <a:t>オーケーが大阪市平野区に出店予定。広範囲の顧客に影響を与える可能性があります。</a:t>
                      </a:r>
                    </a:p>
                  </a:txBody>
                  <a:tcPr/>
                </a:tc>
              </a:tr>
              <a:tr h="679268">
                <a:tc>
                  <a:txBody>
                    <a:bodyPr/>
                    <a:lstStyle/>
                    <a:p>
                      <a:pPr>
                        <a:defRPr sz="950">
                          <a:solidFill>
                            <a:srgbClr val="1E1E1E"/>
                          </a:solidFill>
                        </a:defRPr>
                      </a:pPr>
                      <a:r>
                        <a:t>大阪府吹田市</a:t>
                      </a:r>
                    </a:p>
                  </a:txBody>
                  <a:tcPr>
                    <a:solidFill>
                      <a:srgbClr val="F5F5F5"/>
                    </a:solidFill>
                  </a:tcPr>
                </a:tc>
                <a:tc>
                  <a:txBody>
                    <a:bodyPr/>
                    <a:lstStyle/>
                    <a:p>
                      <a:pPr>
                        <a:defRPr sz="950">
                          <a:solidFill>
                            <a:srgbClr val="1E1E1E"/>
                          </a:solidFill>
                        </a:defRPr>
                      </a:pPr>
                      <a:r>
                        <a:t>サンディ吹田五月が丘店</a:t>
                      </a:r>
                    </a:p>
                  </a:txBody>
                  <a:tcPr>
                    <a:solidFill>
                      <a:srgbClr val="F5F5F5"/>
                    </a:solidFill>
                  </a:tcPr>
                </a:tc>
                <a:tc>
                  <a:txBody>
                    <a:bodyPr/>
                    <a:lstStyle/>
                    <a:p>
                      <a:pPr>
                        <a:defRPr sz="950">
                          <a:solidFill>
                            <a:srgbClr val="1E1E1E"/>
                          </a:solidFill>
                        </a:defRPr>
                      </a:pPr>
                      <a:r>
                        <a:t>2026年9月3日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王子店, 豊中店, 箕面店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ディスカウントスーパー「サンディ」が吹田市に新規オープン。周辺エリアの顧客獲得競争に影響を与えます。</a:t>
                      </a:r>
                    </a:p>
                  </a:txBody>
                  <a:tcPr>
                    <a:solidFill>
                      <a:srgbClr val="F5F5F5"/>
                    </a:solidFill>
                  </a:tcPr>
                </a:tc>
              </a:tr>
              <a:tr h="679268">
                <a:tc>
                  <a:txBody>
                    <a:bodyPr/>
                    <a:lstStyle/>
                    <a:p>
                      <a:pPr>
                        <a:defRPr sz="950">
                          <a:solidFill>
                            <a:srgbClr val="1E1E1E"/>
                          </a:solidFill>
                        </a:defRPr>
                      </a:pPr>
                      <a:r>
                        <a:t>大阪市都島区</a:t>
                      </a:r>
                    </a:p>
                  </a:txBody>
                  <a:tcPr/>
                </a:tc>
                <a:tc>
                  <a:txBody>
                    <a:bodyPr/>
                    <a:lstStyle/>
                    <a:p>
                      <a:pPr>
                        <a:defRPr sz="950">
                          <a:solidFill>
                            <a:srgbClr val="1E1E1E"/>
                          </a:solidFill>
                        </a:defRPr>
                      </a:pPr>
                      <a:r>
                        <a:t>サンディ都島北通店</a:t>
                      </a:r>
                    </a:p>
                  </a:txBody>
                  <a:tcPr/>
                </a:tc>
                <a:tc>
                  <a:txBody>
                    <a:bodyPr/>
                    <a:lstStyle/>
                    <a:p>
                      <a:pPr>
                        <a:defRPr sz="950">
                          <a:solidFill>
                            <a:srgbClr val="1E1E1E"/>
                          </a:solidFill>
                        </a:defRPr>
                      </a:pPr>
                      <a:r>
                        <a:t>2026年9月10日</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JR大阪店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ディスカウントスーパー「サンディ」が大阪市都島区に新規オープン。大阪市中心部近郊の顧客流動に影響を与える可能性があります。</a:t>
                      </a:r>
                    </a:p>
                  </a:txBody>
                  <a:tcPr/>
                </a:tc>
              </a:tr>
              <a:tr h="679268">
                <a:tc>
                  <a:txBody>
                    <a:bodyPr/>
                    <a:lstStyle/>
                    <a:p>
                      <a:pPr>
                        <a:defRPr sz="950">
                          <a:solidFill>
                            <a:srgbClr val="1E1E1E"/>
                          </a:solidFill>
                        </a:defRPr>
                      </a:pPr>
                      <a:r>
                        <a:t>兵庫県芦屋市</a:t>
                      </a:r>
                    </a:p>
                  </a:txBody>
                  <a:tcPr>
                    <a:solidFill>
                      <a:srgbClr val="F5F5F5"/>
                    </a:solidFill>
                  </a:tcPr>
                </a:tc>
                <a:tc>
                  <a:txBody>
                    <a:bodyPr/>
                    <a:lstStyle/>
                    <a:p>
                      <a:pPr>
                        <a:defRPr sz="950">
                          <a:solidFill>
                            <a:srgbClr val="1E1E1E"/>
                          </a:solidFill>
                        </a:defRPr>
                      </a:pPr>
                      <a:r>
                        <a:t>サンディ芦屋店</a:t>
                      </a:r>
                    </a:p>
                  </a:txBody>
                  <a:tcPr>
                    <a:solidFill>
                      <a:srgbClr val="F5F5F5"/>
                    </a:solidFill>
                  </a:tcPr>
                </a:tc>
                <a:tc>
                  <a:txBody>
                    <a:bodyPr/>
                    <a:lstStyle/>
                    <a:p>
                      <a:pPr>
                        <a:defRPr sz="950">
                          <a:solidFill>
                            <a:srgbClr val="1E1E1E"/>
                          </a:solidFill>
                        </a:defRPr>
                      </a:pPr>
                      <a:r>
                        <a:t>2026年9月17日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芦屋店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ディスカウントスーパー「サンディ」が芦屋市に新規オープン。近隣の競合環境に変化をもたらします。</a:t>
                      </a:r>
                    </a:p>
                  </a:txBody>
                  <a:tcPr>
                    <a:solidFill>
                      <a:srgbClr val="F5F5F5"/>
                    </a:solidFill>
                  </a:tcPr>
                </a:tc>
              </a:tr>
              <a:tr h="679272">
                <a:tc>
                  <a:txBody>
                    <a:bodyPr/>
                    <a:lstStyle/>
                    <a:p>
                      <a:pPr>
                        <a:defRPr sz="950">
                          <a:solidFill>
                            <a:srgbClr val="1E1E1E"/>
                          </a:solidFill>
                        </a:defRPr>
                      </a:pPr>
                      <a:r>
                        <a:t>兵庫県神戸市</a:t>
                      </a:r>
                    </a:p>
                  </a:txBody>
                  <a:tcPr/>
                </a:tc>
                <a:tc>
                  <a:txBody>
                    <a:bodyPr/>
                    <a:lstStyle/>
                    <a:p>
                      <a:pPr>
                        <a:defRPr sz="950">
                          <a:solidFill>
                            <a:srgbClr val="1E1E1E"/>
                          </a:solidFill>
                        </a:defRPr>
                      </a:pPr>
                      <a:r>
                        <a:t>サンディ御影店</a:t>
                      </a:r>
                    </a:p>
                  </a:txBody>
                  <a:tcPr/>
                </a:tc>
                <a:tc>
                  <a:txBody>
                    <a:bodyPr/>
                    <a:lstStyle/>
                    <a:p>
                      <a:pPr>
                        <a:defRPr sz="950">
                          <a:solidFill>
                            <a:srgbClr val="1E1E1E"/>
                          </a:solidFill>
                        </a:defRPr>
                      </a:pPr>
                      <a:r>
                        <a:t>2026年9月24日</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御影店, 摂津本山駅前店, 六甲店, 岡本店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ディスカウントスーパー「サンディ」が神戸市御影に新規オープン。東灘区周辺の顧客獲得競争が活発化します。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(2ページ目)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679268">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679268">
                <a:tc>
                  <a:txBody>
                    <a:bodyPr/>
                    <a:lstStyle/>
                    <a:p>
                      <a:pPr>
                        <a:defRPr sz="950">
                          <a:solidFill>
                            <a:srgbClr val="1E1E1E"/>
                          </a:solidFill>
                        </a:defRPr>
                      </a:pPr>
                      <a:r>
                        <a:t>兵庫県宝塚市</a:t>
                      </a:r>
                    </a:p>
                  </a:txBody>
                  <a:tcPr>
                    <a:solidFill>
                      <a:srgbClr val="F5F5F5"/>
                    </a:solidFill>
                  </a:tcPr>
                </a:tc>
                <a:tc>
                  <a:txBody>
                    <a:bodyPr/>
                    <a:lstStyle/>
                    <a:p>
                      <a:pPr>
                        <a:defRPr sz="950">
                          <a:solidFill>
                            <a:srgbClr val="1E1E1E"/>
                          </a:solidFill>
                        </a:defRPr>
                      </a:pPr>
                      <a:r>
                        <a:t>サンディ宝塚南店</a:t>
                      </a:r>
                    </a:p>
                  </a:txBody>
                  <a:tcPr>
                    <a:solidFill>
                      <a:srgbClr val="F5F5F5"/>
                    </a:solidFill>
                  </a:tcPr>
                </a:tc>
                <a:tc>
                  <a:txBody>
                    <a:bodyPr/>
                    <a:lstStyle/>
                    <a:p>
                      <a:pPr>
                        <a:defRPr sz="950">
                          <a:solidFill>
                            <a:srgbClr val="1E1E1E"/>
                          </a:solidFill>
                        </a:defRPr>
                      </a:pPr>
                      <a:r>
                        <a:t>2026年10月1日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宝塚店, 阪急逆瀬川店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ディスカウントスーパー「サンディ」が宝塚市に新規オープン。宝塚エリアの競合環境に影響を与えます。</a:t>
                      </a:r>
                    </a:p>
                  </a:txBody>
                  <a:tcPr>
                    <a:solidFill>
                      <a:srgbClr val="F5F5F5"/>
                    </a:solidFill>
                  </a:tcPr>
                </a:tc>
              </a:tr>
              <a:tr h="679268">
                <a:tc>
                  <a:txBody>
                    <a:bodyPr/>
                    <a:lstStyle/>
                    <a:p>
                      <a:pPr>
                        <a:defRPr sz="950">
                          <a:solidFill>
                            <a:srgbClr val="1E1E1E"/>
                          </a:solidFill>
                        </a:defRPr>
                      </a:pPr>
                      <a:r>
                        <a:t>兵庫県川辺郡猪名川町</a:t>
                      </a:r>
                    </a:p>
                  </a:txBody>
                  <a:tcPr/>
                </a:tc>
                <a:tc>
                  <a:txBody>
                    <a:bodyPr/>
                    <a:lstStyle/>
                    <a:p>
                      <a:pPr>
                        <a:defRPr sz="950">
                          <a:solidFill>
                            <a:srgbClr val="1E1E1E"/>
                          </a:solidFill>
                        </a:defRPr>
                      </a:pPr>
                      <a:r>
                        <a:t>阪急オアシスマルシェ日生中央店</a:t>
                      </a:r>
                    </a:p>
                  </a:txBody>
                  <a:tcPr/>
                </a:tc>
                <a:tc>
                  <a:txBody>
                    <a:bodyPr/>
                    <a:lstStyle/>
                    <a:p>
                      <a:pPr>
                        <a:defRPr sz="950">
                          <a:solidFill>
                            <a:srgbClr val="1E1E1E"/>
                          </a:solidFill>
                        </a:defRPr>
                      </a:pPr>
                      <a:r>
                        <a:t>2026年9月1日</a:t>
                      </a:r>
                    </a:p>
                  </a:txBody>
                  <a:tcPr/>
                </a:tc>
                <a:tc>
                  <a:txBody>
                    <a:bodyPr/>
                    <a:lstStyle/>
                    <a:p>
                      <a:pPr>
                        <a:defRPr sz="950">
                          <a:solidFill>
                            <a:srgbClr val="1E1E1E"/>
                          </a:solidFill>
                        </a:defRPr>
                      </a:pPr>
                      <a:r>
                        <a:t>リニューアルオープン</a:t>
                      </a:r>
                    </a:p>
                  </a:txBody>
                  <a:tcPr/>
                </a:tc>
                <a:tc>
                  <a:txBody>
                    <a:bodyPr/>
                    <a:lstStyle/>
                    <a:p>
                      <a:pPr>
                        <a:defRPr sz="950">
                          <a:solidFill>
                            <a:srgbClr val="1E1E1E"/>
                          </a:solidFill>
                        </a:defRPr>
                      </a:pPr>
                      <a:r>
                        <a:t>宝塚店, 阪急逆瀬川店, 箕面店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阪急オアシスが「価値訴求型」の「マルシェ」タイプに業態転換。鮮度・品質・専門性を高めた店舗としてリニューアルオープンしました。</a:t>
                      </a:r>
                    </a:p>
                  </a:txBody>
                  <a:tcPr/>
                </a:tc>
              </a:tr>
              <a:tr h="679268">
                <a:tc>
                  <a:txBody>
                    <a:bodyPr/>
                    <a:lstStyle/>
                    <a:p>
                      <a:pPr>
                        <a:defRPr sz="950">
                          <a:solidFill>
                            <a:srgbClr val="1E1E1E"/>
                          </a:solidFill>
                        </a:defRPr>
                      </a:pPr>
                      <a:r>
                        <a:t>兵庫県神戸市灘区</a:t>
                      </a:r>
                    </a:p>
                  </a:txBody>
                  <a:tcPr>
                    <a:solidFill>
                      <a:srgbClr val="F5F5F5"/>
                    </a:solidFill>
                  </a:tcPr>
                </a:tc>
                <a:tc>
                  <a:txBody>
                    <a:bodyPr/>
                    <a:lstStyle/>
                    <a:p>
                      <a:pPr>
                        <a:defRPr sz="950">
                          <a:solidFill>
                            <a:srgbClr val="1E1E1E"/>
                          </a:solidFill>
                        </a:defRPr>
                      </a:pPr>
                      <a:r>
                        <a:t>阪急オアシス石屋川店</a:t>
                      </a:r>
                    </a:p>
                  </a:txBody>
                  <a:tcPr>
                    <a:solidFill>
                      <a:srgbClr val="F5F5F5"/>
                    </a:solidFill>
                  </a:tcPr>
                </a:tc>
                <a:tc>
                  <a:txBody>
                    <a:bodyPr/>
                    <a:lstStyle/>
                    <a:p>
                      <a:pPr>
                        <a:defRPr sz="950">
                          <a:solidFill>
                            <a:srgbClr val="1E1E1E"/>
                          </a:solidFill>
                        </a:defRPr>
                      </a:pPr>
                      <a:r>
                        <a:t>2026年9月8日〜9月17日</a:t>
                      </a:r>
                    </a:p>
                  </a:txBody>
                  <a:tcPr>
                    <a:solidFill>
                      <a:srgbClr val="F5F5F5"/>
                    </a:solidFill>
                  </a:tcPr>
                </a:tc>
                <a:tc>
                  <a:txBody>
                    <a:bodyPr/>
                    <a:lstStyle/>
                    <a:p>
                      <a:pPr>
                        <a:defRPr sz="950">
                          <a:solidFill>
                            <a:srgbClr val="1E1E1E"/>
                          </a:solidFill>
                        </a:defRPr>
                      </a:pPr>
                      <a:r>
                        <a:t>臨時休業</a:t>
                      </a:r>
                    </a:p>
                  </a:txBody>
                  <a:tcPr>
                    <a:solidFill>
                      <a:srgbClr val="F5F5F5"/>
                    </a:solidFill>
                  </a:tcPr>
                </a:tc>
                <a:tc>
                  <a:txBody>
                    <a:bodyPr/>
                    <a:lstStyle/>
                    <a:p>
                      <a:pPr>
                        <a:defRPr sz="950">
                          <a:solidFill>
                            <a:srgbClr val="1E1E1E"/>
                          </a:solidFill>
                        </a:defRPr>
                      </a:pPr>
                      <a:r>
                        <a:t>御影店, 六甲店, 摂津本山駅前店</a:t>
                      </a:r>
                    </a:p>
                  </a:txBody>
                  <a:tcPr>
                    <a:solidFill>
                      <a:srgbClr val="F5F5F5"/>
                    </a:solidFill>
                  </a:tcPr>
                </a:tc>
                <a:tc>
                  <a:txBody>
                    <a:bodyPr/>
                    <a:lstStyle/>
                    <a:p>
                      <a:pPr>
                        <a:defRPr sz="950">
                          <a:solidFill>
                            <a:srgbClr val="1E1E1E"/>
                          </a:solidFill>
                        </a:defRPr>
                      </a:pPr>
                      <a:r>
                        <a:t>低程度</a:t>
                      </a:r>
                    </a:p>
                  </a:txBody>
                  <a:tcPr>
                    <a:solidFill>
                      <a:srgbClr val="F5F5F5"/>
                    </a:solidFill>
                  </a:tcPr>
                </a:tc>
                <a:tc>
                  <a:txBody>
                    <a:bodyPr/>
                    <a:lstStyle/>
                    <a:p>
                      <a:pPr>
                        <a:defRPr sz="950">
                          <a:solidFill>
                            <a:srgbClr val="1E1E1E"/>
                          </a:solidFill>
                        </a:defRPr>
                      </a:pPr>
                      <a:r>
                        <a:t>店舗の改装またはメンテナンスのため臨時休業となります。</a:t>
                      </a:r>
                    </a:p>
                  </a:txBody>
                  <a:tcPr>
                    <a:solidFill>
                      <a:srgbClr val="F5F5F5"/>
                    </a:solidFill>
                  </a:tcPr>
                </a:tc>
              </a:tr>
              <a:tr h="679268">
                <a:tc>
                  <a:txBody>
                    <a:bodyPr/>
                    <a:lstStyle/>
                    <a:p>
                      <a:pPr>
                        <a:defRPr sz="950">
                          <a:solidFill>
                            <a:srgbClr val="1E1E1E"/>
                          </a:solidFill>
                        </a:defRPr>
                      </a:pPr>
                      <a:r>
                        <a:t>大阪府</a:t>
                      </a:r>
                    </a:p>
                  </a:txBody>
                  <a:tcPr/>
                </a:tc>
                <a:tc>
                  <a:txBody>
                    <a:bodyPr/>
                    <a:lstStyle/>
                    <a:p>
                      <a:pPr>
                        <a:defRPr sz="950">
                          <a:solidFill>
                            <a:srgbClr val="1E1E1E"/>
                          </a:solidFill>
                        </a:defRPr>
                      </a:pPr>
                      <a:r>
                        <a:t>関西スーパー旭ヶ丘店</a:t>
                      </a:r>
                    </a:p>
                  </a:txBody>
                  <a:tcPr/>
                </a:tc>
                <a:tc>
                  <a:txBody>
                    <a:bodyPr/>
                    <a:lstStyle/>
                    <a:p>
                      <a:pPr>
                        <a:defRPr sz="950">
                          <a:solidFill>
                            <a:srgbClr val="1E1E1E"/>
                          </a:solidFill>
                        </a:defRPr>
                      </a:pPr>
                      <a:r>
                        <a:t>2026年9月30日〜10月2日</a:t>
                      </a:r>
                    </a:p>
                  </a:txBody>
                  <a:tcPr/>
                </a:tc>
                <a:tc>
                  <a:txBody>
                    <a:bodyPr/>
                    <a:lstStyle/>
                    <a:p>
                      <a:pPr>
                        <a:defRPr sz="950">
                          <a:solidFill>
                            <a:srgbClr val="1E1E1E"/>
                          </a:solidFill>
                        </a:defRPr>
                      </a:pPr>
                      <a:r>
                        <a:t>臨時休業</a:t>
                      </a:r>
                    </a:p>
                  </a:txBody>
                  <a:tcPr/>
                </a:tc>
                <a:tc>
                  <a:txBody>
                    <a:bodyPr/>
                    <a:lstStyle/>
                    <a:p>
                      <a:pPr>
                        <a:defRPr sz="950">
                          <a:solidFill>
                            <a:srgbClr val="1E1E1E"/>
                          </a:solidFill>
                        </a:defRPr>
                      </a:pPr>
                      <a:r>
                        <a:t>関西全域</a:t>
                      </a:r>
                    </a:p>
                  </a:txBody>
                  <a:tcPr/>
                </a:tc>
                <a:tc>
                  <a:txBody>
                    <a:bodyPr/>
                    <a:lstStyle/>
                    <a:p>
                      <a:pPr>
                        <a:defRPr sz="950">
                          <a:solidFill>
                            <a:srgbClr val="1E1E1E"/>
                          </a:solidFill>
                        </a:defRPr>
                      </a:pPr>
                      <a:r>
                        <a:t>低程度</a:t>
                      </a:r>
                    </a:p>
                  </a:txBody>
                  <a:tcPr/>
                </a:tc>
                <a:tc>
                  <a:txBody>
                    <a:bodyPr/>
                    <a:lstStyle/>
                    <a:p>
                      <a:pPr>
                        <a:defRPr sz="950">
                          <a:solidFill>
                            <a:srgbClr val="1E1E1E"/>
                          </a:solidFill>
                        </a:defRPr>
                      </a:pPr>
                      <a:r>
                        <a:t>改装またはメンテナンスのため臨時休業となります。</a:t>
                      </a:r>
                    </a:p>
                  </a:txBody>
                  <a:tcPr/>
                </a:tc>
              </a:tr>
              <a:tr h="679268">
                <a:tc>
                  <a:txBody>
                    <a:bodyPr/>
                    <a:lstStyle/>
                    <a:p>
                      <a:pPr>
                        <a:defRPr sz="950">
                          <a:solidFill>
                            <a:srgbClr val="1E1E1E"/>
                          </a:solidFill>
                        </a:defRPr>
                      </a:pPr>
                      <a:r>
                        <a:t>大阪市東淀川区</a:t>
                      </a:r>
                    </a:p>
                  </a:txBody>
                  <a:tcPr>
                    <a:solidFill>
                      <a:srgbClr val="F5F5F5"/>
                    </a:solidFill>
                  </a:tcPr>
                </a:tc>
                <a:tc>
                  <a:txBody>
                    <a:bodyPr/>
                    <a:lstStyle/>
                    <a:p>
                      <a:pPr>
                        <a:defRPr sz="950">
                          <a:solidFill>
                            <a:srgbClr val="1E1E1E"/>
                          </a:solidFill>
                        </a:defRPr>
                      </a:pPr>
                      <a:r>
                        <a:t>関西スーパー瑞光店</a:t>
                      </a:r>
                    </a:p>
                  </a:txBody>
                  <a:tcPr>
                    <a:solidFill>
                      <a:srgbClr val="F5F5F5"/>
                    </a:solidFill>
                  </a:tcPr>
                </a:tc>
                <a:tc>
                  <a:txBody>
                    <a:bodyPr/>
                    <a:lstStyle/>
                    <a:p>
                      <a:pPr>
                        <a:defRPr sz="950">
                          <a:solidFill>
                            <a:srgbClr val="1E1E1E"/>
                          </a:solidFill>
                        </a:defRPr>
                      </a:pPr>
                      <a:r>
                        <a:t>2026年9月1日</a:t>
                      </a:r>
                    </a:p>
                  </a:txBody>
                  <a:tcPr>
                    <a:solidFill>
                      <a:srgbClr val="F5F5F5"/>
                    </a:solidFill>
                  </a:tcPr>
                </a:tc>
                <a:tc>
                  <a:txBody>
                    <a:bodyPr/>
                    <a:lstStyle/>
                    <a:p>
                      <a:pPr>
                        <a:defRPr sz="950">
                          <a:solidFill>
                            <a:srgbClr val="1E1E1E"/>
                          </a:solidFill>
                        </a:defRPr>
                      </a:pPr>
                      <a:r>
                        <a:t>ネットスーパー開業</a:t>
                      </a:r>
                    </a:p>
                  </a:txBody>
                  <a:tcPr>
                    <a:solidFill>
                      <a:srgbClr val="F5F5F5"/>
                    </a:solidFill>
                  </a:tcPr>
                </a:tc>
                <a:tc>
                  <a:txBody>
                    <a:bodyPr/>
                    <a:lstStyle/>
                    <a:p>
                      <a:pPr>
                        <a:defRPr sz="950">
                          <a:solidFill>
                            <a:srgbClr val="1E1E1E"/>
                          </a:solidFill>
                        </a:defRPr>
                      </a:pPr>
                      <a:r>
                        <a:t>JR大阪店, 豊中店, 王子店</a:t>
                      </a:r>
                    </a:p>
                  </a:txBody>
                  <a:tcPr>
                    <a:solidFill>
                      <a:srgbClr val="F5F5F5"/>
                    </a:solidFill>
                  </a:tcPr>
                </a:tc>
                <a:tc>
                  <a:txBody>
                    <a:bodyPr/>
                    <a:lstStyle/>
                    <a:p>
                      <a:pPr>
                        <a:defRPr sz="950">
                          <a:solidFill>
                            <a:srgbClr val="1E1E1E"/>
                          </a:solidFill>
                        </a:defRPr>
                      </a:pPr>
                      <a:r>
                        <a:t>低〜中程度</a:t>
                      </a:r>
                    </a:p>
                  </a:txBody>
                  <a:tcPr>
                    <a:solidFill>
                      <a:srgbClr val="F5F5F5"/>
                    </a:solidFill>
                  </a:tcPr>
                </a:tc>
                <a:tc>
                  <a:txBody>
                    <a:bodyPr/>
                    <a:lstStyle/>
                    <a:p>
                      <a:pPr>
                        <a:defRPr sz="950">
                          <a:solidFill>
                            <a:srgbClr val="1E1E1E"/>
                          </a:solidFill>
                        </a:defRPr>
                      </a:pPr>
                      <a:r>
                        <a:t>ネットスーパーのサービスを開始し、デジタルチャネルを通じた顧客獲得を目指します。</a:t>
                      </a:r>
                    </a:p>
                  </a:txBody>
                  <a:tcPr>
                    <a:solidFill>
                      <a:srgbClr val="F5F5F5"/>
                    </a:solidFill>
                  </a:tcPr>
                </a:tc>
              </a:tr>
              <a:tr h="679272">
                <a:tc>
                  <a:txBody>
                    <a:bodyPr/>
                    <a:lstStyle/>
                    <a:p>
                      <a:pPr>
                        <a:defRPr sz="950">
                          <a:solidFill>
                            <a:srgbClr val="1E1E1E"/>
                          </a:solidFill>
                        </a:defRPr>
                      </a:pPr>
                      <a:r>
                        <a:t>大阪府東大阪市</a:t>
                      </a:r>
                    </a:p>
                  </a:txBody>
                  <a:tcPr/>
                </a:tc>
                <a:tc>
                  <a:txBody>
                    <a:bodyPr/>
                    <a:lstStyle/>
                    <a:p>
                      <a:pPr>
                        <a:defRPr sz="950">
                          <a:solidFill>
                            <a:srgbClr val="1E1E1E"/>
                          </a:solidFill>
                        </a:defRPr>
                      </a:pPr>
                      <a:r>
                        <a:t>関西スーパー日下店</a:t>
                      </a:r>
                    </a:p>
                  </a:txBody>
                  <a:tcPr/>
                </a:tc>
                <a:tc>
                  <a:txBody>
                    <a:bodyPr/>
                    <a:lstStyle/>
                    <a:p>
                      <a:pPr>
                        <a:defRPr sz="950">
                          <a:solidFill>
                            <a:srgbClr val="1E1E1E"/>
                          </a:solidFill>
                        </a:defRPr>
                      </a:pPr>
                      <a:r>
                        <a:t>2026年9月12日 (9/9〜9/11臨時休業)</a:t>
                      </a:r>
                    </a:p>
                  </a:txBody>
                  <a:tcPr/>
                </a:tc>
                <a:tc>
                  <a:txBody>
                    <a:bodyPr/>
                    <a:lstStyle/>
                    <a:p>
                      <a:pPr>
                        <a:defRPr sz="950">
                          <a:solidFill>
                            <a:srgbClr val="1E1E1E"/>
                          </a:solidFill>
                        </a:defRPr>
                      </a:pPr>
                      <a:r>
                        <a:t>リニューアルオープン</a:t>
                      </a:r>
                    </a:p>
                  </a:txBody>
                  <a:tcPr/>
                </a:tc>
                <a:tc>
                  <a:txBody>
                    <a:bodyPr/>
                    <a:lstStyle/>
                    <a:p>
                      <a:pPr>
                        <a:defRPr sz="950">
                          <a:solidFill>
                            <a:srgbClr val="1E1E1E"/>
                          </a:solidFill>
                        </a:defRPr>
                      </a:pPr>
                      <a:r>
                        <a:t>JR大阪店, 南海なんば店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店舗がリニューアルオープンし、より魅力的な店舗として競争力を高める可能性があります。</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(3ページ目)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58496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584960">
                <a:tc>
                  <a:txBody>
                    <a:bodyPr/>
                    <a:lstStyle/>
                    <a:p>
                      <a:pPr>
                        <a:defRPr sz="950">
                          <a:solidFill>
                            <a:srgbClr val="1E1E1E"/>
                          </a:solidFill>
                        </a:defRPr>
                      </a:pPr>
                      <a:r>
                        <a:t>大阪府和泉市</a:t>
                      </a:r>
                    </a:p>
                  </a:txBody>
                  <a:tcPr>
                    <a:solidFill>
                      <a:srgbClr val="F5F5F5"/>
                    </a:solidFill>
                  </a:tcPr>
                </a:tc>
                <a:tc>
                  <a:txBody>
                    <a:bodyPr/>
                    <a:lstStyle/>
                    <a:p>
                      <a:pPr>
                        <a:defRPr sz="950">
                          <a:solidFill>
                            <a:srgbClr val="1E1E1E"/>
                          </a:solidFill>
                        </a:defRPr>
                      </a:pPr>
                      <a:r>
                        <a:t>万代 アクロスプラザ和泉観音寺店</a:t>
                      </a:r>
                    </a:p>
                  </a:txBody>
                  <a:tcPr>
                    <a:solidFill>
                      <a:srgbClr val="F5F5F5"/>
                    </a:solidFill>
                  </a:tcPr>
                </a:tc>
                <a:tc>
                  <a:txBody>
                    <a:bodyPr/>
                    <a:lstStyle/>
                    <a:p>
                      <a:pPr>
                        <a:defRPr sz="950">
                          <a:solidFill>
                            <a:srgbClr val="1E1E1E"/>
                          </a:solidFill>
                        </a:defRPr>
                      </a:pPr>
                      <a:r>
                        <a:t>2026年11月</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南海なんば店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大和ハウスリアルティマネジメントが開発する複合施設「アクロスプラザ和泉観音寺」内に万代が出店予定です。大規模店舗であり、南大阪エリアの競争環境に影響を与える可能性があります。</a:t>
                      </a:r>
                    </a:p>
                  </a:txBody>
                  <a:tcPr>
                    <a:solidFill>
                      <a:srgbClr val="F5F5F5"/>
                    </a:solidFill>
                  </a:tcPr>
                </a:tc>
              </a:tr>
              <a:tr h="1584960">
                <a:tc>
                  <a:txBody>
                    <a:bodyPr/>
                    <a:lstStyle/>
                    <a:p>
                      <a:pPr>
                        <a:defRPr sz="950">
                          <a:solidFill>
                            <a:srgbClr val="1E1E1E"/>
                          </a:solidFill>
                        </a:defRPr>
                      </a:pPr>
                      <a:r>
                        <a:t>兵庫県神戸市垂水区</a:t>
                      </a:r>
                    </a:p>
                  </a:txBody>
                  <a:tcPr/>
                </a:tc>
                <a:tc>
                  <a:txBody>
                    <a:bodyPr/>
                    <a:lstStyle/>
                    <a:p>
                      <a:pPr>
                        <a:defRPr sz="950">
                          <a:solidFill>
                            <a:srgbClr val="1E1E1E"/>
                          </a:solidFill>
                        </a:defRPr>
                      </a:pPr>
                      <a:r>
                        <a:t>Milta ミルタ プラウドタワー神戸垂水</a:t>
                      </a:r>
                    </a:p>
                  </a:txBody>
                  <a:tcPr/>
                </a:tc>
                <a:tc>
                  <a:txBody>
                    <a:bodyPr/>
                    <a:lstStyle/>
                    <a:p>
                      <a:pPr>
                        <a:defRPr sz="950">
                          <a:solidFill>
                            <a:srgbClr val="1E1E1E"/>
                          </a:solidFill>
                        </a:defRPr>
                      </a:pPr>
                      <a:r>
                        <a:t>2026年秋以降順次</a:t>
                      </a:r>
                    </a:p>
                  </a:txBody>
                  <a:tcPr/>
                </a:tc>
                <a:tc>
                  <a:txBody>
                    <a:bodyPr/>
                    <a:lstStyle/>
                    <a:p>
                      <a:pPr>
                        <a:defRPr sz="950">
                          <a:solidFill>
                            <a:srgbClr val="1E1E1E"/>
                          </a:solidFill>
                        </a:defRPr>
                      </a:pPr>
                      <a:r>
                        <a:t>商業施設開業</a:t>
                      </a:r>
                    </a:p>
                  </a:txBody>
                  <a:tcPr/>
                </a:tc>
                <a:tc>
                  <a:txBody>
                    <a:bodyPr/>
                    <a:lstStyle/>
                    <a:p>
                      <a:pPr>
                        <a:defRPr sz="950">
                          <a:solidFill>
                            <a:srgbClr val="1E1E1E"/>
                          </a:solidFill>
                        </a:defRPr>
                      </a:pPr>
                      <a:r>
                        <a:t>神戸三宮店, 御影店, 六甲店, 岡本店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JR・山陽垂水駅前に複合再開発ビル内の商業エリアが開業予定で、食品スーパーを含む店舗が出店する可能性があります。</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の調査では、広範囲なエリアでの新規出店やリニューアルが確認されました。特に、オーケーは高槻市と大阪市平野区、サンディは吹田市、都島区、芦屋市、神戸市御影、宝塚市といった多様なエリアで出店を強化しており、いかりスーパーの既存店舗にとって競合が局所的かつ広域的に増えることを示しています。</a:t>
            </a:r>
          </a:p>
          <a:p>
            <a:pPr>
              <a:spcAft>
                <a:spcPts val="1400"/>
              </a:spcAft>
              <a:defRPr sz="1400">
                <a:solidFill>
                  <a:srgbClr val="1E1E1E"/>
                </a:solidFill>
              </a:defRPr>
            </a:pPr>
            <a:r>
              <a:t>*   **オーケー高槻赤大路店**の開店は、いかり高槻店と直接競合する立地であり、価格競争が激化する可能性があります。</a:t>
            </a:r>
          </a:p>
          <a:p>
            <a:pPr>
              <a:spcAft>
                <a:spcPts val="1400"/>
              </a:spcAft>
              <a:defRPr sz="1400">
                <a:solidFill>
                  <a:srgbClr val="1E1E1E"/>
                </a:solidFill>
              </a:defRPr>
            </a:pPr>
            <a:r>
              <a:t>*   **サンディ吹田五月が丘店**は、いかり王子店、豊中店、箕面店といった北摂エリアの店舗に近接しており、低価格帯での競争が強まることが予想されます。</a:t>
            </a:r>
          </a:p>
          <a:p>
            <a:pPr>
              <a:spcAft>
                <a:spcPts val="1400"/>
              </a:spcAft>
              <a:defRPr sz="1400">
                <a:solidFill>
                  <a:srgbClr val="1E1E1E"/>
                </a:solidFill>
              </a:defRPr>
            </a:pPr>
            <a:r>
              <a:t>*   **サンディ芦屋店、御影店**の開店は、いかり芦屋店、御影店、摂津本山駅前店、六甲店、岡本店などの高級住宅地エリアにおける競合を激化させる可能性があります。</a:t>
            </a:r>
          </a:p>
          <a:p>
            <a:pPr>
              <a:spcAft>
                <a:spcPts val="1400"/>
              </a:spcAft>
              <a:defRPr sz="1400">
                <a:solidFill>
                  <a:srgbClr val="1E1E1E"/>
                </a:solidFill>
              </a:defRPr>
            </a:pPr>
            <a:r>
              <a:t>*   **阪急オアシスマルシェ日生中央店**のリニューアルは、いかり宝塚店や阪急逆瀬川店などの北摂エリアの店舗からやや距離はあるものの、価値訴求型の品揃え強化により、一部顧客層の流動に影響を与える可能性があります。</a:t>
            </a:r>
          </a:p>
          <a:p>
            <a:pPr>
              <a:spcAft>
                <a:spcPts val="1400"/>
              </a:spcAft>
              <a:defRPr sz="1400">
                <a:solidFill>
                  <a:srgbClr val="1E1E1E"/>
                </a:solidFill>
              </a:defRPr>
            </a:pPr>
            <a:r>
              <a:t>*   **関西スーパー瑞光店**のネットスーパー開業は、いかりJR大阪店や豊中店、王子店といった大阪市北部・北摂エリアのオンライン購買層への新たなアプローチとなり、既存店舗の集客だけでなく、宅配サービスにおける競争も生じさせるでしょう。</a:t>
            </a:r>
          </a:p>
          <a:p>
            <a:pPr>
              <a:spcAft>
                <a:spcPts val="1400"/>
              </a:spcAft>
              <a:defRPr sz="1400">
                <a:solidFill>
                  <a:srgbClr val="1E1E1E"/>
                </a:solidFill>
              </a:defRPr>
            </a:pPr>
            <a:r>
              <a:t>*   **万代 アクロスプラザ和泉観音寺店**は、いかり南海なんば店から見て南に位置し、これまで万代がターゲットとしてきた地域住民の日常使いに加え、大規模施設内の核店舗として広域からの集客も狙う可能性があり、いかりの南大阪エリアの顧客層にも間接的な影響を及ぼす可能性があります。</a:t>
            </a:r>
          </a:p>
          <a:p>
            <a:pPr>
              <a:spcAft>
                <a:spcPts val="1400"/>
              </a:spcAft>
              <a:defRPr sz="1400">
                <a:solidFill>
                  <a:srgbClr val="1E1E1E"/>
                </a:solidFill>
              </a:defRPr>
            </a:pPr>
            <a:r>
              <a:t>*   **Milta ミルタ プラウドタワー神戸垂水**の開業は、いかり神戸三宮店、御影店、六甲店、岡本店といった神戸市内の店舗にとって、新しい商業施設内のスーパーマーケットの出店有無に関わらず、周辺の商業環境の変化として注目すべき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今回の競合動向は、いかりスーパーマーケットの経営戦略において、価格競争、品質・サービス競争、そしてデジタルチャネルの強化という多角的な視点での対応が求められることを示唆しています。</a:t>
            </a:r>
            <a:br/>
            <a:r>
              <a:t>まず、オーケーやサンディといったディスカウントスーパーの積極的な新規出店は、関西エリア全体で価格志向の顧客層の選択肢を大きく広げ、いかりスーパーが強みとする高品質・高価格帯の市場においても、価格に対する顧客の意識を高める可能性があります。特に、いかり高槻店、王子店、芦屋店、御影店、宝塚店といった店舗の周辺に低価格帯の競合が出店することで、日常使いの品目において価格を比較する顧客が増加し、客数の減少につながるリスクがあります。いかりスーパーとしては、明確なブランド価値（高品質な商品、希少性の高い食材、専門性の高いサービス、快適な買い物体験など）を改めて顧客に訴求し、価格以外の価値で差別化を図ることが重要です。特に、デリや惣菜の品揃え強化、パーソナルな接客、地域に根差したイベントの開催などが有効な戦略となり得ます。</a:t>
            </a:r>
            <a:br/>
            <a:r>
              <a:t>阪急オアシスや関西スーパーのリニューアルやネットスーパーの開業は、既存の食品スーパーが多様化する顧客ニーズに対応しようとする動きとして注目されます。阪急オアシスの「マルシェ」型店舗への転換は、品質・専門性へのこだわりを強める方向であり、いかりスーパーが競合する客層と重なる可能性があります。いかりスーパーとしては、より一層、商品選定の厳格化、プライベートブランドの強化、そして店舗体験の向上（例えば、商品知識の豊富なスタッフによる提案、試食コーナーの充実など）を通じて、他社を凌駕する「食の専門性」を確立することが求められます。関西スーパーのネットスーパーは、利便性を求める顧客層への新たなアプローチであり、いかりスーパーもオンラインでの顧客接点を強化し、高品質な商品を自宅に届けるサービスを充実させることで、顧客の多様な購買行動に対応する必要があります。</a:t>
            </a:r>
            <a:br/>
            <a:r>
              <a:t>複合商業施設「ミルタ」の開業は、具体的なスーパーマーケットの出店は未定であるものの、周辺地域の商業環境全体を活性化させ、新たな顧客流入を生み出す可能性があります。いかりスーパーとしては、これらの新たな集客スポットから自店舗への顧客誘導を促すためのマーケティング戦略や、共存共栄を図るための連携も検討する余地があるかもしれません。</a:t>
            </a:r>
            <a:br/>
            <a:r>
              <a:t>総じて、関西エリアのスーパーマーケット市場は、ディスカウント店の攻勢と既存店の業態転換・デジタル化推進により、競争環境がますます複雑化しています。いかりスーパーは、自社のブランドアイデンティティを再確認し、高品質戦略を堅持しつつ、顧客体験価値の最大化、地域密着型のサービス強化、そしてオンラインとオフラインを融合した購買体験の提供に注力することで、市場の変化に対応し、持続的な成長を実現していく必要があり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関西に続々とオープン！ ディスカウント・スーパー「オーケー」 大阪府7店舗目、9月に「高槻赤大路店」を出店 ～2026年度は大阪府内に計7店舗を出店、今秋には平野区へも進出！</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阪急オアシスマルシェ日生中央店／9月1日「価値訴求型」店舗にリニューアルオープン</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阪急オアシス: HANKYU OASIS</a:t>
            </a:r>
          </a:p>
          <a:p>
            <a:pPr>
              <a:spcAft>
                <a:spcPts val="800"/>
              </a:spcAft>
            </a:pPr>
            <a:r>
              <a:rPr sz="1200">
                <a:solidFill>
                  <a:srgbClr val="1E1E1E"/>
                </a:solidFill>
              </a:rPr>
              <a:t>・ </a:t>
            </a:r>
            <a:r>
              <a:rPr sz="1200">
                <a:solidFill>
                  <a:srgbClr val="1E1E1E"/>
                </a:solidFill>
              </a:rPr>
              <a:t>  </a:t>
            </a:r>
            <a:r>
              <a:rPr sz="1200" u="sng">
                <a:solidFill>
                  <a:srgbClr val="0066CC"/>
                </a:solidFill>
                <a:hlinkClick r:id="rId5"/>
              </a:rPr>
              <a:t>ディスカウントスーパーサンディのホームページ</a:t>
            </a:r>
          </a:p>
          <a:p>
            <a:pPr>
              <a:spcAft>
                <a:spcPts val="800"/>
              </a:spcAft>
            </a:pPr>
            <a:r>
              <a:rPr sz="1200">
                <a:solidFill>
                  <a:srgbClr val="1E1E1E"/>
                </a:solidFill>
              </a:rPr>
              <a:t>・ </a:t>
            </a:r>
            <a:r>
              <a:rPr sz="1200">
                <a:solidFill>
                  <a:srgbClr val="1E1E1E"/>
                </a:solidFill>
              </a:rPr>
              <a:t>  </a:t>
            </a:r>
            <a:r>
              <a:rPr sz="1200" u="sng">
                <a:solidFill>
                  <a:srgbClr val="0066CC"/>
                </a:solidFill>
                <a:hlinkClick r:id="rId6"/>
              </a:rPr>
              <a:t>ローカライズがさらに進化！ 関西12店舗目の「オーケー高槻赤大路店」をレポート</a:t>
            </a:r>
          </a:p>
          <a:p>
            <a:pPr>
              <a:spcAft>
                <a:spcPts val="800"/>
              </a:spcAft>
            </a:pPr>
            <a:r>
              <a:rPr sz="1200">
                <a:solidFill>
                  <a:srgbClr val="1E1E1E"/>
                </a:solidFill>
              </a:rPr>
              <a:t>・ </a:t>
            </a:r>
            <a:r>
              <a:rPr sz="1200">
                <a:solidFill>
                  <a:srgbClr val="1E1E1E"/>
                </a:solidFill>
              </a:rPr>
              <a:t>  </a:t>
            </a:r>
            <a:r>
              <a:rPr sz="1200" u="sng">
                <a:solidFill>
                  <a:srgbClr val="0066CC"/>
                </a:solidFill>
                <a:hlinkClick r:id="rId7"/>
              </a:rPr>
              <a:t>阪急オアシス日生中央サピエ店が9/1(火)にリニューアルオープンでめっちゃお得なセールやる。記念マルシェも同時開催するって。 かわにしマガジン</a:t>
            </a:r>
          </a:p>
          <a:p>
            <a:pPr>
              <a:spcAft>
                <a:spcPts val="800"/>
              </a:spcAft>
            </a:pPr>
            <a:r>
              <a:rPr sz="1200">
                <a:solidFill>
                  <a:srgbClr val="1E1E1E"/>
                </a:solidFill>
              </a:rPr>
              <a:t>・ </a:t>
            </a:r>
            <a:r>
              <a:rPr sz="1200">
                <a:solidFill>
                  <a:srgbClr val="1E1E1E"/>
                </a:solidFill>
              </a:rPr>
              <a:t>  </a:t>
            </a:r>
            <a:r>
              <a:rPr sz="1200" u="sng">
                <a:solidFill>
                  <a:srgbClr val="0066CC"/>
                </a:solidFill>
                <a:hlinkClick r:id="rId8"/>
              </a:rPr>
              <a:t>関西フードマーケット、9月1日「阪急オアシスマルシェ日生中央店」リニューアルオープン</a:t>
            </a:r>
          </a:p>
          <a:p>
            <a:pPr>
              <a:spcAft>
                <a:spcPts val="800"/>
              </a:spcAft>
            </a:pPr>
            <a:r>
              <a:rPr sz="1200">
                <a:solidFill>
                  <a:srgbClr val="1E1E1E"/>
                </a:solidFill>
              </a:rPr>
              <a:t>・ </a:t>
            </a:r>
            <a:r>
              <a:rPr sz="1200">
                <a:solidFill>
                  <a:srgbClr val="1E1E1E"/>
                </a:solidFill>
              </a:rPr>
              <a:t>  </a:t>
            </a:r>
            <a:r>
              <a:rPr sz="1200" u="sng">
                <a:solidFill>
                  <a:srgbClr val="0066CC"/>
                </a:solidFill>
                <a:hlinkClick r:id="rId9"/>
              </a:rPr>
              <a:t>お知らせ｜関西スーパー～いつも暮らしの近くにいます～​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10"/>
              </a:rPr>
              <a:t>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11"/>
              </a:rPr>
              <a:t>関西地方 | 出店ウォッチ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9_02_competitive_map_no_limit.png"/>
          <p:cNvPicPr>
            <a:picLocks noChangeAspect="1"/>
          </p:cNvPicPr>
          <p:nvPr/>
        </p:nvPicPr>
        <p:blipFill>
          <a:blip r:embed="rId2"/>
          <a:stretch>
            <a:fillRect/>
          </a:stretch>
        </p:blipFill>
        <p:spPr>
          <a:xfrm>
            <a:off x="2615184" y="1188720"/>
            <a:ext cx="694944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