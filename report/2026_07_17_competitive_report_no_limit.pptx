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H7JkN0r_XCSvpitfjhxkA0E227dkXBF0oLkzMuq_L9_lKo98iWrJ20uPvO5JSJCj8driowxm6qOND9f7NuwgvFSGcsKGxg0wjMYEnMejXLotd8a7bfk2eK5wFz7Nop5daswVCzNQV9" TargetMode="External"/><Relationship Id="rId3" Type="http://schemas.openxmlformats.org/officeDocument/2006/relationships/hyperlink" Target="https://vertexaisearch.cloud.google.com/grounding-api-redirect/AUZIYQHyhpVbDqX1gXQjxUX80Ck_HsJQ6XXY8NpXvNYvfdp9dJycMvnZCbY6ssKCwvI2Py2Vy8j-gnt_Mknm22pmFvDPH8Ci4Tnyb__OCz_33KtaYYe_3mulKTp7_xJ1vsxqpSJ7urw=" TargetMode="External"/><Relationship Id="rId4" Type="http://schemas.openxmlformats.org/officeDocument/2006/relationships/hyperlink" Target="https://vertexaisearch.cloud.google.com/grounding-api-redirect/AUZIYQE_sAzTh_6KI7wQjmcvSaU1jyTMIqzxiIq3KjY6HJMBnIcsff-NfJpE4hN-orgmqNEZ_WSwIzSkQyHIdwXOPG92hDmPmURrY_HBwknWKlK92Mzn5_bt6lwdAmlIM3un1Aq0YTM_KCbejjadC-NZmD7tN7N7vAAIPsndeCid5B7E" TargetMode="External"/><Relationship Id="rId5" Type="http://schemas.openxmlformats.org/officeDocument/2006/relationships/hyperlink" Target="https://vertexaisearch.cloud.google.com/grounding-api-redirect/AUZIYQFd6ztcFj7UEGre_fy1V1v0N37RZ_5WMkbBlMSJFmJXB9NoXrr5AzUkvmYYCuJFOBOAN-D8slnjV45v6gUIhmgRULIDa5J_rpjQQo1rosFa45n0kYbpvLyfpsLRF-fnLC-ADad_lrFAtw==" TargetMode="External"/><Relationship Id="rId6" Type="http://schemas.openxmlformats.org/officeDocument/2006/relationships/hyperlink" Target="https://vertexaisearch.cloud.google.com/grounding-api-redirect/AUZIYQEG7acCLIzzRex0fcebB_3ZnBSl66_PLXiG1afNC7RaIRUh0ylmWYvzPTo0csfE7qWqQ6POy2BnBzOELaA4GEdzkI7modeC5KowqGHvMG3ou-0tjxL2-DAhuwKzmcpN7laIdDLBS_F5MYEhd45d7YoavPEIqqH50d5Qy0ydevTqWXSbaKfj" TargetMode="External"/><Relationship Id="rId7" Type="http://schemas.openxmlformats.org/officeDocument/2006/relationships/hyperlink" Target="https://vertexaisearch.cloud.google.com/grounding-api-redirect/AUZIYQHm0ZhdnPQDomDgsIRQ7g9Tr275tFXbCDpKDfG_HH32IjYEVjhRr93wfhoWm_OU1gV63HzlGZO_q5RwO-qtzHhPnYdo6JXkL1I1y5YPJXfcQTM3fLuwRsMm0LNNiRA9QRhsSl0FfIR5rA==" TargetMode="External"/><Relationship Id="rId8" Type="http://schemas.openxmlformats.org/officeDocument/2006/relationships/hyperlink" Target="https://vertexaisearch.cloud.google.com/grounding-api-redirect/AUZIYQFaJki3G3-LkGmfg9ZpSpUQvYjusuC4__ZbL0tpJ4wMHbKFtrA4Jn03aBIl7CZsdcr2mGWOYMBCPCKCSigIM-HyfVwizBrPmzAeAEQu2-4L-FpigcMI-t2oQvXcbFQAXtM=" TargetMode="External"/><Relationship Id="rId9" Type="http://schemas.openxmlformats.org/officeDocument/2006/relationships/hyperlink" Target="https://vertexaisearch.cloud.google.com/grounding-api-redirect/AUZIYQH7JDtvXojHDPZAcuACic_KjymDIx-RL7j332UM1pkrDZqRxDciswqNpt2WvJKz5CYQCf9q6MBKyEfF-M8ZVTNP0MWSneQuSFUGE0gjAmIC6nKQj9ExFLumJKAk5C9NOjgYKmp3rw=="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5BAC"/>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2026年07月17日以降の関西エリアのスーパーマーケット市場において、以下の競合動向が新たに確認されました。</a:t>
            </a:r>
          </a:p>
          <a:p>
            <a:pPr>
              <a:spcAft>
                <a:spcPts val="1600"/>
              </a:spcAft>
              <a:defRPr sz="1800">
                <a:solidFill>
                  <a:srgbClr val="1E1E1E"/>
                </a:solidFill>
              </a:defRPr>
            </a:pPr>
            <a:r>
              <a:t>・   阪急オアシスは、大阪府豊中市にある服部西店を本日7月17日に価格訴求型の「デイリーマート」業態へ改装オープンし、地域における競争力を強化しています。</a:t>
            </a:r>
          </a:p>
          <a:p>
            <a:pPr>
              <a:spcAft>
                <a:spcPts val="1600"/>
              </a:spcAft>
              <a:defRPr sz="1800">
                <a:solidFill>
                  <a:srgbClr val="1E1E1E"/>
                </a:solidFill>
              </a:defRPr>
            </a:pPr>
            <a:r>
              <a:t>・   ディスカウントスーパーのオーケーが大阪府内での出店を加速しており、9月1日に高槻赤大路店、10月下旬に長吉店を新規オープンする予定です。これにより、高槻市および大阪市平野区周辺での価格競争が激化する可能性があります。</a:t>
            </a:r>
          </a:p>
          <a:p>
            <a:pPr>
              <a:spcAft>
                <a:spcPts val="1600"/>
              </a:spcAft>
              <a:defRPr sz="1800">
                <a:solidFill>
                  <a:srgbClr val="1E1E1E"/>
                </a:solidFill>
              </a:defRPr>
            </a:pPr>
            <a:r>
              <a:t>・   さとうは兵庫県川辺郡猪名川町に「（仮称）フレッシュバザール猪名川店」を2027年1月28日に新設予定であり、北摂・阪神間北部の郊外エリアでの競争が今後活発化する見込みです。</a:t>
            </a:r>
          </a:p>
          <a:p>
            <a:pPr>
              <a:spcAft>
                <a:spcPts val="1600"/>
              </a:spcAft>
              <a:defRPr sz="1800">
                <a:solidFill>
                  <a:srgbClr val="1E1E1E"/>
                </a:solidFill>
              </a:defRPr>
            </a:pPr>
            <a:r>
              <a:t>・   関西スーパー蒲生店が7月30日から8月6日まで臨時休業を予定しており、改装等による店舗力強化の動きが示唆されます。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1645920"/>
                <a:gridCol w="914400"/>
                <a:gridCol w="914400"/>
                <a:gridCol w="1371600"/>
                <a:gridCol w="914400"/>
                <a:gridCol w="4142232"/>
              </a:tblGrid>
              <a:tr h="792480">
                <a:tc>
                  <a:txBody>
                    <a:bodyPr/>
                    <a:lstStyle/>
                    <a:p>
                      <a:pPr algn="ctr">
                        <a:defRPr b="1" sz="1100">
                          <a:solidFill>
                            <a:srgbClr val="FFFFFF"/>
                          </a:solidFill>
                        </a:defRPr>
                      </a:pPr>
                      <a:r>
                        <a:t>エリア</a:t>
                      </a:r>
                    </a:p>
                  </a:txBody>
                  <a:tcPr>
                    <a:solidFill>
                      <a:srgbClr val="005BAC"/>
                    </a:solidFill>
                  </a:tcPr>
                </a:tc>
                <a:tc>
                  <a:txBody>
                    <a:bodyPr/>
                    <a:lstStyle/>
                    <a:p>
                      <a:pPr algn="ctr">
                        <a:defRPr b="1" sz="1100">
                          <a:solidFill>
                            <a:srgbClr val="FFFFFF"/>
                          </a:solidFill>
                        </a:defRPr>
                      </a:pPr>
                      <a:r>
                        <a:t>競合店舗名</a:t>
                      </a:r>
                    </a:p>
                  </a:txBody>
                  <a:tcPr>
                    <a:solidFill>
                      <a:srgbClr val="005BAC"/>
                    </a:solidFill>
                  </a:tcPr>
                </a:tc>
                <a:tc>
                  <a:txBody>
                    <a:bodyPr/>
                    <a:lstStyle/>
                    <a:p>
                      <a:pPr algn="ctr">
                        <a:defRPr b="1" sz="1100">
                          <a:solidFill>
                            <a:srgbClr val="FFFFFF"/>
                          </a:solidFill>
                        </a:defRPr>
                      </a:pPr>
                      <a:r>
                        <a:t>時期</a:t>
                      </a:r>
                    </a:p>
                  </a:txBody>
                  <a:tcPr>
                    <a:solidFill>
                      <a:srgbClr val="005BAC"/>
                    </a:solidFill>
                  </a:tcPr>
                </a:tc>
                <a:tc>
                  <a:txBody>
                    <a:bodyPr/>
                    <a:lstStyle/>
                    <a:p>
                      <a:pPr algn="ctr">
                        <a:defRPr b="1" sz="1100">
                          <a:solidFill>
                            <a:srgbClr val="FFFFFF"/>
                          </a:solidFill>
                        </a:defRPr>
                      </a:pPr>
                      <a:r>
                        <a:t>状態</a:t>
                      </a:r>
                    </a:p>
                  </a:txBody>
                  <a:tcPr>
                    <a:solidFill>
                      <a:srgbClr val="005BAC"/>
                    </a:solidFill>
                  </a:tcPr>
                </a:tc>
                <a:tc>
                  <a:txBody>
                    <a:bodyPr/>
                    <a:lstStyle/>
                    <a:p>
                      <a:pPr algn="ctr">
                        <a:defRPr b="1" sz="1100">
                          <a:solidFill>
                            <a:srgbClr val="FFFFFF"/>
                          </a:solidFill>
                        </a:defRPr>
                      </a:pPr>
                      <a:r>
                        <a:t>影響店舗</a:t>
                      </a:r>
                    </a:p>
                  </a:txBody>
                  <a:tcPr>
                    <a:solidFill>
                      <a:srgbClr val="005BAC"/>
                    </a:solidFill>
                  </a:tcPr>
                </a:tc>
                <a:tc>
                  <a:txBody>
                    <a:bodyPr/>
                    <a:lstStyle/>
                    <a:p>
                      <a:pPr algn="ctr">
                        <a:defRPr b="1" sz="1100">
                          <a:solidFill>
                            <a:srgbClr val="FFFFFF"/>
                          </a:solidFill>
                        </a:defRPr>
                      </a:pPr>
                      <a:r>
                        <a:t>影響レベル</a:t>
                      </a:r>
                    </a:p>
                  </a:txBody>
                  <a:tcPr>
                    <a:solidFill>
                      <a:srgbClr val="005BAC"/>
                    </a:solidFill>
                  </a:tcPr>
                </a:tc>
                <a:tc>
                  <a:txBody>
                    <a:bodyPr/>
                    <a:lstStyle/>
                    <a:p>
                      <a:pPr algn="ctr">
                        <a:defRPr b="1" sz="1100">
                          <a:solidFill>
                            <a:srgbClr val="FFFFFF"/>
                          </a:solidFill>
                        </a:defRPr>
                      </a:pPr>
                      <a:r>
                        <a:t>詳細説明</a:t>
                      </a:r>
                    </a:p>
                  </a:txBody>
                  <a:tcPr>
                    <a:solidFill>
                      <a:srgbClr val="005BAC"/>
                    </a:solidFill>
                  </a:tcPr>
                </a:tc>
              </a:tr>
              <a:tr h="792480">
                <a:tc>
                  <a:txBody>
                    <a:bodyPr/>
                    <a:lstStyle/>
                    <a:p>
                      <a:pPr>
                        <a:defRPr sz="950">
                          <a:solidFill>
                            <a:srgbClr val="1E1E1E"/>
                          </a:solidFill>
                        </a:defRPr>
                      </a:pPr>
                      <a:r>
                        <a:t>大阪府豊中市</a:t>
                      </a:r>
                    </a:p>
                  </a:txBody>
                  <a:tcPr>
                    <a:solidFill>
                      <a:srgbClr val="F5F5F5"/>
                    </a:solidFill>
                  </a:tcPr>
                </a:tc>
                <a:tc>
                  <a:txBody>
                    <a:bodyPr/>
                    <a:lstStyle/>
                    <a:p>
                      <a:pPr>
                        <a:defRPr sz="950">
                          <a:solidFill>
                            <a:srgbClr val="1E1E1E"/>
                          </a:solidFill>
                        </a:defRPr>
                      </a:pPr>
                      <a:r>
                        <a:t>阪急オアシスデイリーマート服部西店</a:t>
                      </a:r>
                    </a:p>
                  </a:txBody>
                  <a:tcPr>
                    <a:solidFill>
                      <a:srgbClr val="F5F5F5"/>
                    </a:solidFill>
                  </a:tcPr>
                </a:tc>
                <a:tc>
                  <a:txBody>
                    <a:bodyPr/>
                    <a:lstStyle/>
                    <a:p>
                      <a:pPr>
                        <a:defRPr sz="950">
                          <a:solidFill>
                            <a:srgbClr val="1E1E1E"/>
                          </a:solidFill>
                        </a:defRPr>
                      </a:pPr>
                      <a:r>
                        <a:t>2026年7月17日</a:t>
                      </a:r>
                    </a:p>
                  </a:txBody>
                  <a:tcPr>
                    <a:solidFill>
                      <a:srgbClr val="F5F5F5"/>
                    </a:solidFill>
                  </a:tcPr>
                </a:tc>
                <a:tc>
                  <a:txBody>
                    <a:bodyPr/>
                    <a:lstStyle/>
                    <a:p>
                      <a:pPr>
                        <a:defRPr sz="950">
                          <a:solidFill>
                            <a:srgbClr val="1E1E1E"/>
                          </a:solidFill>
                        </a:defRPr>
                      </a:pPr>
                      <a:r>
                        <a:t>リニューアルオープン</a:t>
                      </a:r>
                    </a:p>
                  </a:txBody>
                  <a:tcPr>
                    <a:solidFill>
                      <a:srgbClr val="F5F5F5"/>
                    </a:solidFill>
                  </a:tcPr>
                </a:tc>
                <a:tc>
                  <a:txBody>
                    <a:bodyPr/>
                    <a:lstStyle/>
                    <a:p>
                      <a:pPr>
                        <a:defRPr sz="950">
                          <a:solidFill>
                            <a:srgbClr val="1E1E1E"/>
                          </a:solidFill>
                        </a:defRPr>
                      </a:pPr>
                      <a:r>
                        <a:t>豊中店, 豊中緑丘店</a:t>
                      </a:r>
                    </a:p>
                  </a:txBody>
                  <a:tcPr>
                    <a:solidFill>
                      <a:srgbClr val="F5F5F5"/>
                    </a:solidFill>
                  </a:tcPr>
                </a:tc>
                <a:tc>
                  <a:txBody>
                    <a:bodyPr/>
                    <a:lstStyle/>
                    <a:p>
                      <a:pPr>
                        <a:defRPr sz="950">
                          <a:solidFill>
                            <a:srgbClr val="1E1E1E"/>
                          </a:solidFill>
                        </a:defRPr>
                      </a:pPr>
                      <a:r>
                        <a:t>中程度</a:t>
                      </a:r>
                    </a:p>
                  </a:txBody>
                  <a:tcPr>
                    <a:solidFill>
                      <a:srgbClr val="F5F5F5"/>
                    </a:solidFill>
                  </a:tcPr>
                </a:tc>
                <a:tc>
                  <a:txBody>
                    <a:bodyPr/>
                    <a:lstStyle/>
                    <a:p>
                      <a:pPr>
                        <a:defRPr sz="950">
                          <a:solidFill>
                            <a:srgbClr val="1E1E1E"/>
                          </a:solidFill>
                        </a:defRPr>
                      </a:pPr>
                      <a:r>
                        <a:t>阪急オアシス服部西店が、価格訴求型の「デイリーマート」としてリニューアルオープンしました。関西フードマーケットは価値訴求型の「マルシェ」と価格訴求型の「デイリーマート」の2つのフォーマットへの業態転換を進めており、服部西店はこの戦略の一環です。</a:t>
                      </a:r>
                    </a:p>
                  </a:txBody>
                  <a:tcPr>
                    <a:solidFill>
                      <a:srgbClr val="F5F5F5"/>
                    </a:solidFill>
                  </a:tcPr>
                </a:tc>
              </a:tr>
              <a:tr h="792480">
                <a:tc>
                  <a:txBody>
                    <a:bodyPr/>
                    <a:lstStyle/>
                    <a:p>
                      <a:pPr>
                        <a:defRPr sz="950">
                          <a:solidFill>
                            <a:srgbClr val="1E1E1E"/>
                          </a:solidFill>
                        </a:defRPr>
                      </a:pPr>
                      <a:r>
                        <a:t>大阪府高槻市</a:t>
                      </a:r>
                    </a:p>
                  </a:txBody>
                  <a:tcPr/>
                </a:tc>
                <a:tc>
                  <a:txBody>
                    <a:bodyPr/>
                    <a:lstStyle/>
                    <a:p>
                      <a:pPr>
                        <a:defRPr sz="950">
                          <a:solidFill>
                            <a:srgbClr val="1E1E1E"/>
                          </a:solidFill>
                        </a:defRPr>
                      </a:pPr>
                      <a:r>
                        <a:t>オーケー高槻赤大路店</a:t>
                      </a:r>
                    </a:p>
                  </a:txBody>
                  <a:tcPr/>
                </a:tc>
                <a:tc>
                  <a:txBody>
                    <a:bodyPr/>
                    <a:lstStyle/>
                    <a:p>
                      <a:pPr>
                        <a:defRPr sz="950">
                          <a:solidFill>
                            <a:srgbClr val="1E1E1E"/>
                          </a:solidFill>
                        </a:defRPr>
                      </a:pPr>
                      <a:r>
                        <a:t>2026年9月1日</a:t>
                      </a:r>
                    </a:p>
                  </a:txBody>
                  <a:tcPr/>
                </a:tc>
                <a:tc>
                  <a:txBody>
                    <a:bodyPr/>
                    <a:lstStyle/>
                    <a:p>
                      <a:pPr>
                        <a:defRPr sz="950">
                          <a:solidFill>
                            <a:srgbClr val="1E1E1E"/>
                          </a:solidFill>
                        </a:defRPr>
                      </a:pPr>
                      <a:r>
                        <a:t>新規オープン</a:t>
                      </a:r>
                    </a:p>
                  </a:txBody>
                  <a:tcPr/>
                </a:tc>
                <a:tc>
                  <a:txBody>
                    <a:bodyPr/>
                    <a:lstStyle/>
                    <a:p>
                      <a:pPr>
                        <a:defRPr sz="950">
                          <a:solidFill>
                            <a:srgbClr val="1E1E1E"/>
                          </a:solidFill>
                        </a:defRPr>
                      </a:pPr>
                      <a:r>
                        <a:t>高槻店</a:t>
                      </a:r>
                    </a:p>
                  </a:txBody>
                  <a:tcPr/>
                </a:tc>
                <a:tc>
                  <a:txBody>
                    <a:bodyPr/>
                    <a:lstStyle/>
                    <a:p>
                      <a:pPr>
                        <a:defRPr sz="950">
                          <a:solidFill>
                            <a:srgbClr val="1E1E1E"/>
                          </a:solidFill>
                        </a:defRPr>
                      </a:pPr>
                      <a:r>
                        <a:t>中程度</a:t>
                      </a:r>
                    </a:p>
                  </a:txBody>
                  <a:tcPr/>
                </a:tc>
                <a:tc>
                  <a:txBody>
                    <a:bodyPr/>
                    <a:lstStyle/>
                    <a:p>
                      <a:pPr>
                        <a:defRPr sz="950">
                          <a:solidFill>
                            <a:srgbClr val="1E1E1E"/>
                          </a:solidFill>
                        </a:defRPr>
                      </a:pPr>
                      <a:r>
                        <a:t>ディスカウントスーパーのオーケーが大阪府高槻市に新規出店します。「高品質・Everyday Low Price」を経営方針に掲げるディスカウントスーパーマーケットであり、地域住民の価格志向のニーズに応えることが予想されます。</a:t>
                      </a:r>
                    </a:p>
                  </a:txBody>
                  <a:tcPr/>
                </a:tc>
              </a:tr>
              <a:tr h="792480">
                <a:tc>
                  <a:txBody>
                    <a:bodyPr/>
                    <a:lstStyle/>
                    <a:p>
                      <a:pPr>
                        <a:defRPr sz="950">
                          <a:solidFill>
                            <a:srgbClr val="1E1E1E"/>
                          </a:solidFill>
                        </a:defRPr>
                      </a:pPr>
                      <a:r>
                        <a:t>大阪府大阪市平野区</a:t>
                      </a:r>
                    </a:p>
                  </a:txBody>
                  <a:tcPr>
                    <a:solidFill>
                      <a:srgbClr val="F5F5F5"/>
                    </a:solidFill>
                  </a:tcPr>
                </a:tc>
                <a:tc>
                  <a:txBody>
                    <a:bodyPr/>
                    <a:lstStyle/>
                    <a:p>
                      <a:pPr>
                        <a:defRPr sz="950">
                          <a:solidFill>
                            <a:srgbClr val="1E1E1E"/>
                          </a:solidFill>
                        </a:defRPr>
                      </a:pPr>
                      <a:r>
                        <a:t>オーケー長吉店</a:t>
                      </a:r>
                    </a:p>
                  </a:txBody>
                  <a:tcPr>
                    <a:solidFill>
                      <a:srgbClr val="F5F5F5"/>
                    </a:solidFill>
                  </a:tcPr>
                </a:tc>
                <a:tc>
                  <a:txBody>
                    <a:bodyPr/>
                    <a:lstStyle/>
                    <a:p>
                      <a:pPr>
                        <a:defRPr sz="950">
                          <a:solidFill>
                            <a:srgbClr val="1E1E1E"/>
                          </a:solidFill>
                        </a:defRPr>
                      </a:pPr>
                      <a:r>
                        <a:t>2026年10月下旬</a:t>
                      </a:r>
                    </a:p>
                  </a:txBody>
                  <a:tcPr>
                    <a:solidFill>
                      <a:srgbClr val="F5F5F5"/>
                    </a:solidFill>
                  </a:tcPr>
                </a:tc>
                <a:tc>
                  <a:txBody>
                    <a:bodyPr/>
                    <a:lstStyle/>
                    <a:p>
                      <a:pPr>
                        <a:defRPr sz="950">
                          <a:solidFill>
                            <a:srgbClr val="1E1E1E"/>
                          </a:solidFill>
                        </a:defRPr>
                      </a:pPr>
                      <a:r>
                        <a:t>新規オープン</a:t>
                      </a:r>
                    </a:p>
                  </a:txBody>
                  <a:tcPr>
                    <a:solidFill>
                      <a:srgbClr val="F5F5F5"/>
                    </a:solidFill>
                  </a:tcPr>
                </a:tc>
                <a:tc>
                  <a:txBody>
                    <a:bodyPr/>
                    <a:lstStyle/>
                    <a:p>
                      <a:pPr>
                        <a:defRPr sz="950">
                          <a:solidFill>
                            <a:srgbClr val="1E1E1E"/>
                          </a:solidFill>
                        </a:defRPr>
                      </a:pPr>
                      <a:r>
                        <a:t>南海なんば店, JR大阪店</a:t>
                      </a:r>
                    </a:p>
                  </a:txBody>
                  <a:tcPr>
                    <a:solidFill>
                      <a:srgbClr val="F5F5F5"/>
                    </a:solidFill>
                  </a:tcPr>
                </a:tc>
                <a:tc>
                  <a:txBody>
                    <a:bodyPr/>
                    <a:lstStyle/>
                    <a:p>
                      <a:pPr>
                        <a:defRPr sz="950">
                          <a:solidFill>
                            <a:srgbClr val="1E1E1E"/>
                          </a:solidFill>
                        </a:defRPr>
                      </a:pPr>
                      <a:r>
                        <a:t>中程度</a:t>
                      </a:r>
                    </a:p>
                  </a:txBody>
                  <a:tcPr>
                    <a:solidFill>
                      <a:srgbClr val="F5F5F5"/>
                    </a:solidFill>
                  </a:tcPr>
                </a:tc>
                <a:tc>
                  <a:txBody>
                    <a:bodyPr/>
                    <a:lstStyle/>
                    <a:p>
                      <a:pPr>
                        <a:defRPr sz="950">
                          <a:solidFill>
                            <a:srgbClr val="1E1E1E"/>
                          </a:solidFill>
                        </a:defRPr>
                      </a:pPr>
                      <a:r>
                        <a:t>オーケーが大阪市平野区に新規出店予定です。同社は2026年度に大阪府内で計7店舗の出店を計画しており、長吉店もその一環としてディスカウント業態での展開が予想されます。</a:t>
                      </a:r>
                    </a:p>
                  </a:txBody>
                  <a:tcPr>
                    <a:solidFill>
                      <a:srgbClr val="F5F5F5"/>
                    </a:solidFill>
                  </a:tcPr>
                </a:tc>
              </a:tr>
              <a:tr h="792480">
                <a:tc>
                  <a:txBody>
                    <a:bodyPr/>
                    <a:lstStyle/>
                    <a:p>
                      <a:pPr>
                        <a:defRPr sz="950">
                          <a:solidFill>
                            <a:srgbClr val="1E1E1E"/>
                          </a:solidFill>
                        </a:defRPr>
                      </a:pPr>
                      <a:r>
                        <a:t>兵庫県川辺郡猪名川町</a:t>
                      </a:r>
                    </a:p>
                  </a:txBody>
                  <a:tcPr/>
                </a:tc>
                <a:tc>
                  <a:txBody>
                    <a:bodyPr/>
                    <a:lstStyle/>
                    <a:p>
                      <a:pPr>
                        <a:defRPr sz="950">
                          <a:solidFill>
                            <a:srgbClr val="1E1E1E"/>
                          </a:solidFill>
                        </a:defRPr>
                      </a:pPr>
                      <a:r>
                        <a:t>(仮称)フレッシュバザール猪名川店</a:t>
                      </a:r>
                    </a:p>
                  </a:txBody>
                  <a:tcPr/>
                </a:tc>
                <a:tc>
                  <a:txBody>
                    <a:bodyPr/>
                    <a:lstStyle/>
                    <a:p>
                      <a:pPr>
                        <a:defRPr sz="950">
                          <a:solidFill>
                            <a:srgbClr val="1E1E1E"/>
                          </a:solidFill>
                        </a:defRPr>
                      </a:pPr>
                      <a:r>
                        <a:t>2027年1月28日</a:t>
                      </a:r>
                    </a:p>
                  </a:txBody>
                  <a:tcPr/>
                </a:tc>
                <a:tc>
                  <a:txBody>
                    <a:bodyPr/>
                    <a:lstStyle/>
                    <a:p>
                      <a:pPr>
                        <a:defRPr sz="950">
                          <a:solidFill>
                            <a:srgbClr val="1E1E1E"/>
                          </a:solidFill>
                        </a:defRPr>
                      </a:pPr>
                      <a:r>
                        <a:t>新規オープン</a:t>
                      </a:r>
                    </a:p>
                  </a:txBody>
                  <a:tcPr/>
                </a:tc>
                <a:tc>
                  <a:txBody>
                    <a:bodyPr/>
                    <a:lstStyle/>
                    <a:p>
                      <a:pPr>
                        <a:defRPr sz="950">
                          <a:solidFill>
                            <a:srgbClr val="1E1E1E"/>
                          </a:solidFill>
                        </a:defRPr>
                      </a:pPr>
                      <a:r>
                        <a:t>宝塚店, 阪急逆瀬川店, 箕面店, 有野店</a:t>
                      </a:r>
                    </a:p>
                  </a:txBody>
                  <a:tcPr/>
                </a:tc>
                <a:tc>
                  <a:txBody>
                    <a:bodyPr/>
                    <a:lstStyle/>
                    <a:p>
                      <a:pPr>
                        <a:defRPr sz="950">
                          <a:solidFill>
                            <a:srgbClr val="1E1E1E"/>
                          </a:solidFill>
                        </a:defRPr>
                      </a:pPr>
                      <a:r>
                        <a:t>中程度</a:t>
                      </a:r>
                    </a:p>
                  </a:txBody>
                  <a:tcPr/>
                </a:tc>
                <a:tc>
                  <a:txBody>
                    <a:bodyPr/>
                    <a:lstStyle/>
                    <a:p>
                      <a:pPr>
                        <a:defRPr sz="950">
                          <a:solidFill>
                            <a:srgbClr val="1E1E1E"/>
                          </a:solidFill>
                        </a:defRPr>
                      </a:pPr>
                      <a:r>
                        <a:t>さとうが兵庫県川辺郡猪名川町に新たなスーパーマーケット「（仮称）フレッシュバザール猪名川店」を新設する予定です。店舗面積1536㎡の郊外型店舗であり、広域からの集客も視野に入れていると考えられます。</a:t>
                      </a:r>
                    </a:p>
                  </a:txBody>
                  <a:tcPr/>
                </a:tc>
              </a:tr>
              <a:tr h="792480">
                <a:tc>
                  <a:txBody>
                    <a:bodyPr/>
                    <a:lstStyle/>
                    <a:p>
                      <a:pPr>
                        <a:defRPr sz="950">
                          <a:solidFill>
                            <a:srgbClr val="1E1E1E"/>
                          </a:solidFill>
                        </a:defRPr>
                      </a:pPr>
                      <a:r>
                        <a:t>大阪府大阪市城東区 (推定)</a:t>
                      </a:r>
                    </a:p>
                  </a:txBody>
                  <a:tcPr>
                    <a:solidFill>
                      <a:srgbClr val="F5F5F5"/>
                    </a:solidFill>
                  </a:tcPr>
                </a:tc>
                <a:tc>
                  <a:txBody>
                    <a:bodyPr/>
                    <a:lstStyle/>
                    <a:p>
                      <a:pPr>
                        <a:defRPr sz="950">
                          <a:solidFill>
                            <a:srgbClr val="1E1E1E"/>
                          </a:solidFill>
                        </a:defRPr>
                      </a:pPr>
                      <a:r>
                        <a:t>関西スーパー蒲生店</a:t>
                      </a:r>
                    </a:p>
                  </a:txBody>
                  <a:tcPr>
                    <a:solidFill>
                      <a:srgbClr val="F5F5F5"/>
                    </a:solidFill>
                  </a:tcPr>
                </a:tc>
                <a:tc>
                  <a:txBody>
                    <a:bodyPr/>
                    <a:lstStyle/>
                    <a:p>
                      <a:pPr>
                        <a:defRPr sz="950">
                          <a:solidFill>
                            <a:srgbClr val="1E1E1E"/>
                          </a:solidFill>
                        </a:defRPr>
                      </a:pPr>
                      <a:r>
                        <a:t>2026年7月30日〜2026年8月6日</a:t>
                      </a:r>
                    </a:p>
                  </a:txBody>
                  <a:tcPr>
                    <a:solidFill>
                      <a:srgbClr val="F5F5F5"/>
                    </a:solidFill>
                  </a:tcPr>
                </a:tc>
                <a:tc>
                  <a:txBody>
                    <a:bodyPr/>
                    <a:lstStyle/>
                    <a:p>
                      <a:pPr>
                        <a:defRPr sz="950">
                          <a:solidFill>
                            <a:srgbClr val="1E1E1E"/>
                          </a:solidFill>
                        </a:defRPr>
                      </a:pPr>
                      <a:r>
                        <a:t>臨時休業 (改装の可能性)</a:t>
                      </a:r>
                    </a:p>
                  </a:txBody>
                  <a:tcPr>
                    <a:solidFill>
                      <a:srgbClr val="F5F5F5"/>
                    </a:solidFill>
                  </a:tcPr>
                </a:tc>
                <a:tc>
                  <a:txBody>
                    <a:bodyPr/>
                    <a:lstStyle/>
                    <a:p>
                      <a:pPr>
                        <a:defRPr sz="950">
                          <a:solidFill>
                            <a:srgbClr val="1E1E1E"/>
                          </a:solidFill>
                        </a:defRPr>
                      </a:pPr>
                      <a:r>
                        <a:t>JR大阪店</a:t>
                      </a:r>
                    </a:p>
                  </a:txBody>
                  <a:tcPr>
                    <a:solidFill>
                      <a:srgbClr val="F5F5F5"/>
                    </a:solidFill>
                  </a:tcPr>
                </a:tc>
                <a:tc>
                  <a:txBody>
                    <a:bodyPr/>
                    <a:lstStyle/>
                    <a:p>
                      <a:pPr>
                        <a:defRPr sz="950">
                          <a:solidFill>
                            <a:srgbClr val="1E1E1E"/>
                          </a:solidFill>
                        </a:defRPr>
                      </a:pPr>
                      <a:r>
                        <a:t>低〜中程度</a:t>
                      </a:r>
                    </a:p>
                  </a:txBody>
                  <a:tcPr>
                    <a:solidFill>
                      <a:srgbClr val="F5F5F5"/>
                    </a:solidFill>
                  </a:tcPr>
                </a:tc>
                <a:tc>
                  <a:txBody>
                    <a:bodyPr/>
                    <a:lstStyle/>
                    <a:p>
                      <a:pPr>
                        <a:defRPr sz="950">
                          <a:solidFill>
                            <a:srgbClr val="1E1E1E"/>
                          </a:solidFill>
                        </a:defRPr>
                      </a:pPr>
                      <a:r>
                        <a:t>関西スーパー蒲生店が臨時休業する旨が発表されました。詳細は不明ですが、改装や一時的な運営変更である可能性があり、今後のサービス強化に繋がる可能性があります。</a:t>
                      </a:r>
                    </a:p>
                  </a:txBody>
                  <a:tcPr>
                    <a:solidFill>
                      <a:srgbClr val="F5F5F5"/>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本日リニューアルオープンした阪急オアシスデイリーマート服部西店は、いかり豊中店・豊中緑丘店から比較的近い豊中市服部豊町に位置しており、特に豊中エリアでの競争が強化されることが予測されます。オーケー高槻赤大路店は、いかり高槻店から約1km圏内に位置し、主要幹線道路沿いであることから、車での来店者を中心に価格競争が激化する可能性があります。オーケー長吉店は大阪市平野区に位置し、いかり南海なんば店やJR大阪店からはやや距離があるものの、広範なエリアからの集客を目指すディスカウントスーパーとして、広域的な顧客層に影響を与える可能性があります。兵庫県川辺郡猪名川町に新設予定のフレッシュバザール猪名川店は、いかり宝塚店、阪急逆瀬川店、箕面店、有野店などの北摂・阪神間北部の店舗網に広域的に影響を与える可能性があります。関西スーパー蒲生店（大阪市城東区と推定）の臨時休業はいかりJR大阪店への直接的な影響は小さいと見られますが、改装後のサービス強化によっては周辺の顧客流動に変化が生じる可能性があり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阪急オアシスデイリーマート服部西店の価格訴求型への業態転換は、いかりスーパーの高級路線とは異なるものの、豊中エリアの顧客が価格帯の異なる店舗を使い分ける動きが加速する可能性があります。特に、日々の買い物をより手頃な価格で済ませたい顧客層がデイリーマートに流れることで、いかりスーパーは高品質・高付加価値戦略を一層明確にし、客層の維持・強化を図る必要が生じます。</a:t>
            </a:r>
            <a:br/>
            <a:r>
              <a:t>オーケーの高槻赤大路店、長吉店という大阪府内での連続出店は、関西全体でディスカウントスーパーの存在感を高める動きと捉えられます。いかりスーパーは高品質な商品とサービスで差別化を図っていますが、オーケーの「高品質・Everyday Low Price」戦略は、一部の顧客層にとって魅力的な選択肢となり得るため、いかりスーパーの周辺店舗は、顧客ロイヤリティの強化や、品揃えの独自性をさらに際立たせる戦略が重要となります。</a:t>
            </a:r>
            <a:br/>
            <a:r>
              <a:t>さとうのフレッシュバザール猪名川店の新設は、兵庫県北部の郊外エリアでの競争を活発化させます。この地域では広域からの集客も予想されるため、いかりスーパーの既存店舗は、特定の顧客層に強く訴求するプロモーションや、地域に根ざしたイベントの実施などを通じて、顧客との関係性を深める必要があるでしょう。</a:t>
            </a:r>
            <a:br/>
            <a:r>
              <a:t>関西スーパー蒲生店の臨時休業後の改装が実施されれば、同店は競争力を高めて再開する可能性があります。いかりスーパーとしては、周辺地域の競合店の動向を継続的に監視し、必要に応じて自社の店舗戦略を柔軟に調整していくことが求められます。</a:t>
            </a:r>
            <a:br/>
            <a:r>
              <a:t>全体として、関西エリアのスーパーマーケット市場は、価格訴求型店舗の拡大や新規出店、既存店の改装により競争が激化しています。いかりスーパーは、その強みである高品質な商品、きめ細やかなサービス、そして独自のブランドイメージを一層強化し、顧客体験価値を高めることで、競合との差別化を図る必要があり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阪急オアシス: HANKYU OASIS</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関西フードマーケットnews｜阪急オアシスデイリーマート服部西店7/17改装</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7/17（金）「阪急オアシスデイリーマート服部西店」 リニューアルオープンのお知らせ</a:t>
            </a:r>
          </a:p>
          <a:p>
            <a:pPr>
              <a:spcAft>
                <a:spcPts val="800"/>
              </a:spcAft>
            </a:pPr>
            <a:r>
              <a:rPr sz="1200">
                <a:solidFill>
                  <a:srgbClr val="1E1E1E"/>
                </a:solidFill>
              </a:rPr>
              <a:t>・ </a:t>
            </a:r>
            <a:r>
              <a:rPr sz="1200">
                <a:solidFill>
                  <a:srgbClr val="1E1E1E"/>
                </a:solidFill>
              </a:rPr>
              <a:t>  </a:t>
            </a:r>
            <a:r>
              <a:rPr sz="1200" u="sng">
                <a:solidFill>
                  <a:srgbClr val="0066CC"/>
                </a:solidFill>
                <a:hlinkClick r:id="rId5"/>
              </a:rPr>
              <a:t>関西に続々とオープン！ ディスカウント・スーパー「オーケー」 大阪府7店舗目、9月に「高槻赤大路店」を出店 ～2026年度は大阪府内に計7店舗を出店、今秋には平野区へも進出！</a:t>
            </a:r>
          </a:p>
          <a:p>
            <a:pPr>
              <a:spcAft>
                <a:spcPts val="800"/>
              </a:spcAft>
            </a:pPr>
            <a:r>
              <a:rPr sz="1200">
                <a:solidFill>
                  <a:srgbClr val="1E1E1E"/>
                </a:solidFill>
              </a:rPr>
              <a:t>・ </a:t>
            </a:r>
            <a:r>
              <a:rPr sz="1200">
                <a:solidFill>
                  <a:srgbClr val="1E1E1E"/>
                </a:solidFill>
              </a:rPr>
              <a:t>  </a:t>
            </a:r>
            <a:r>
              <a:rPr sz="1200" u="sng">
                <a:solidFill>
                  <a:srgbClr val="0066CC"/>
                </a:solidFill>
                <a:hlinkClick r:id="rId6"/>
              </a:rPr>
              <a:t>服部豊町にある「阪急オアシス服部西店」がしばらく休業するみたい Yahoo! JAPAN</a:t>
            </a:r>
          </a:p>
          <a:p>
            <a:pPr>
              <a:spcAft>
                <a:spcPts val="800"/>
              </a:spcAft>
            </a:pPr>
            <a:r>
              <a:rPr sz="1200">
                <a:solidFill>
                  <a:srgbClr val="1E1E1E"/>
                </a:solidFill>
              </a:rPr>
              <a:t>・ </a:t>
            </a:r>
            <a:r>
              <a:rPr sz="1200">
                <a:solidFill>
                  <a:srgbClr val="1E1E1E"/>
                </a:solidFill>
              </a:rPr>
              <a:t>  </a:t>
            </a:r>
            <a:r>
              <a:rPr sz="1200" u="sng">
                <a:solidFill>
                  <a:srgbClr val="0066CC"/>
                </a:solidFill>
                <a:hlinkClick r:id="rId7"/>
              </a:rPr>
              <a:t>ディスカウント・スーパーマーケット「オーケー」 大阪府での展開を加速！5月に「大東新田西町店」「豊中穂積店」を連続出店 ～2026年度は大阪府内に計7店舗の出店を予定</a:t>
            </a:r>
          </a:p>
          <a:p>
            <a:pPr>
              <a:spcAft>
                <a:spcPts val="800"/>
              </a:spcAft>
            </a:pPr>
            <a:r>
              <a:rPr sz="1200">
                <a:solidFill>
                  <a:srgbClr val="1E1E1E"/>
                </a:solidFill>
              </a:rPr>
              <a:t>・ </a:t>
            </a:r>
            <a:r>
              <a:rPr sz="1200">
                <a:solidFill>
                  <a:srgbClr val="1E1E1E"/>
                </a:solidFill>
              </a:rPr>
              <a:t>  </a:t>
            </a:r>
            <a:r>
              <a:rPr sz="1200" u="sng">
                <a:solidFill>
                  <a:srgbClr val="0066CC"/>
                </a:solidFill>
                <a:hlinkClick r:id="rId8"/>
              </a:rPr>
              <a:t>お知らせ｜関西スーパー～いつも暮らしの近くにいます～​</a:t>
            </a:r>
          </a:p>
          <a:p>
            <a:pPr>
              <a:spcAft>
                <a:spcPts val="800"/>
              </a:spcAft>
            </a:pPr>
            <a:r>
              <a:rPr sz="1200">
                <a:solidFill>
                  <a:srgbClr val="1E1E1E"/>
                </a:solidFill>
              </a:rPr>
              <a:t>・ </a:t>
            </a:r>
            <a:r>
              <a:rPr sz="1200">
                <a:solidFill>
                  <a:srgbClr val="1E1E1E"/>
                </a:solidFill>
              </a:rPr>
              <a:t>  </a:t>
            </a:r>
            <a:r>
              <a:rPr sz="1200" u="sng">
                <a:solidFill>
                  <a:srgbClr val="0066CC"/>
                </a:solidFill>
                <a:hlinkClick r:id="rId9"/>
              </a:rPr>
              <a:t>さとう／兵庫県川辺郡猪名川町に「（仮称）フレッシュバザール猪名川店」27年1月28日新設</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5BAC"/>
                </a:solidFill>
              </a:defRPr>
            </a:pPr>
            <a:r>
              <a:t>f) 【ビジュアルマップ】</a:t>
            </a:r>
          </a:p>
        </p:txBody>
      </p:sp>
      <p:pic>
        <p:nvPicPr>
          <p:cNvPr id="3" name="Picture 2" descr="2026_07_17_competitive_map_no_limit.png"/>
          <p:cNvPicPr>
            <a:picLocks noChangeAspect="1"/>
          </p:cNvPicPr>
          <p:nvPr/>
        </p:nvPicPr>
        <p:blipFill>
          <a:blip r:embed="rId2"/>
          <a:stretch>
            <a:fillRect/>
          </a:stretch>
        </p:blipFill>
        <p:spPr>
          <a:xfrm>
            <a:off x="3483864" y="1188720"/>
            <a:ext cx="521208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